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  <p:sldMasterId id="2147483672" r:id="rId4"/>
  </p:sldMasterIdLst>
  <p:notesMasterIdLst>
    <p:notesMasterId r:id="rId5"/>
  </p:notesMasterIdLst>
  <p:sldIdLst>
    <p:sldId id="256" r:id="rId6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65" r:id="rId15"/>
  </p:sldIdLst>
  <p:sldSz cy="9720250" cx="17279925"/>
  <p:notesSz cx="6858000" cy="9144000"/>
  <p:embeddedFontLst>
    <p:embeddedFont>
      <p:font typeface="Roboto Thin"/>
      <p:regular r:id="rId16"/>
      <p:bold r:id="rId17"/>
      <p:italic r:id="rId18"/>
      <p:boldItalic r:id="rId19"/>
    </p:embeddedFont>
    <p:embeddedFont>
      <p:font typeface="Geologica"/>
      <p:regular r:id="rId20"/>
      <p:bold r:id="rId21"/>
    </p:embeddedFont>
    <p:embeddedFont>
      <p:font typeface="Roboto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16" Type="http://schemas.openxmlformats.org/officeDocument/2006/relationships/font" Target="fonts/RobotoThin-regular.fntdata"/><Relationship Id="rId17" Type="http://schemas.openxmlformats.org/officeDocument/2006/relationships/font" Target="fonts/RobotoThin-bold.fntdata"/><Relationship Id="rId18" Type="http://schemas.openxmlformats.org/officeDocument/2006/relationships/font" Target="fonts/RobotoThin-italic.fntdata"/><Relationship Id="rId19" Type="http://schemas.openxmlformats.org/officeDocument/2006/relationships/font" Target="fonts/RobotoThin-boldItalic.fntdata"/><Relationship Id="rId20" Type="http://schemas.openxmlformats.org/officeDocument/2006/relationships/font" Target="fonts/Geologica-regular.fntdata"/><Relationship Id="rId21" Type="http://schemas.openxmlformats.org/officeDocument/2006/relationships/font" Target="fonts/Geologica-bold.fntdata"/><Relationship Id="rId22" Type="http://schemas.openxmlformats.org/officeDocument/2006/relationships/font" Target="fonts/RobotoLight-regular.fntdata"/><Relationship Id="rId23" Type="http://schemas.openxmlformats.org/officeDocument/2006/relationships/font" Target="fonts/RobotoLight-bold.fntdata"/><Relationship Id="rId24" Type="http://schemas.openxmlformats.org/officeDocument/2006/relationships/font" Target="fonts/RobotoLight-italic.fntdata"/><Relationship Id="rId25" Type="http://schemas.openxmlformats.org/officeDocument/2006/relationships/font" Target="fonts/RobotoLight-boldItalic.fntdata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вопрос «умный ли ИИ» бесполезен; полезный вопрос — «что ему дали и как его проверяют».</a:t>
            </a:r>
          </a:p>
          <a:p/>
          <a:p>
            <a:r>
              <a:t>Пример: новый сотрудник в первый день без доступа к документам и регламентам тоже «глуповат». Через месяц с наставником, доступами и чек-листами — уже нет. Человек тот же.</a:t>
            </a:r>
          </a:p>
          <a:p/>
          <a:p>
            <a:r>
              <a:t>Фраза-переход: «Чтобы понять, как запрягают, сначала разберёмся, чем агент отличается от чата».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агент — это модель, которая не только отвечает текстом, но и сама выполняет действия в цикле, пока задача не решена.</a:t>
            </a:r>
          </a:p>
          <a:p/>
          <a:p>
            <a:r>
              <a:t>Пример: просим «найди, почему отчёт считает неправильно». Чат-бот выдаст общие советы. Агент откроет нужные файлы, найдёт формулу, предложит правку, прогонит проверку и покажет результат.</a:t>
            </a:r>
          </a:p>
          <a:p/>
          <a:p>
            <a:r>
              <a:t>Фраза-переход: «Раз агент сам выполняет действия, важно, какому агенту и с какими данными мы это разрешаем. Поговорим о наших правилах».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у модели ограниченная «рабочая память» — контекстное окно; всё, что в него не попало или вытеснено, для модели не существует.</a:t>
            </a:r>
          </a:p>
          <a:p/>
          <a:p>
            <a:r>
              <a:t>Пример: длинное совещание без протокола: к концу второго часа никто не помнит, что решили в начале.</a:t>
            </a:r>
          </a:p>
          <a:p/>
          <a:p>
            <a:r>
              <a:t>Фраза-переход: вернуться к слайду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сильнейшая модель не всегда лучший выбор; выбирают по задаче, качеству, скорости, цене и политике данных.</a:t>
            </a:r>
          </a:p>
          <a:p/>
          <a:p>
            <a:r>
              <a:t>Пример: главного архитектора не зовут переименовывать файлы, а стажёру не поручают проектировать систему.</a:t>
            </a:r>
          </a:p>
          <a:p/>
          <a:p>
            <a:r>
              <a:t>Фраза-переход: вернуться к слайду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пользуемся только одобренными инструментами в разрешённом режиме; оплата сервиса сама по себе ничего не гарантирует.</a:t>
            </a:r>
          </a:p>
          <a:p/>
          <a:p>
            <a:r>
              <a:t>Пример: личный бесплатный аккаунт в чат-боте и корпоративный аккаунт того же сервиса могут иметь разные условия хранения и обучения.</a:t>
            </a:r>
          </a:p>
          <a:p/>
          <a:p>
            <a:r>
              <a:t>Фраза-переход: «Раз наши запросы всё равно уходят наружу, сразу договоримся, что в них класть нельзя».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без разрешения не передаём ИИ ничего, по чему можно опознать человека, клиента, сотрудника или систему, — даже «тестовое».</a:t>
            </a:r>
          </a:p>
          <a:p/>
          <a:p>
            <a:r>
              <a:t>Пример: «посмотри, почему не грузится заказ 7f3a…-…» — вместе с ID уже ушла ниточка к реальному клиенту. Лучше: описать проблему и дать обезличенный пример.</a:t>
            </a:r>
          </a:p>
          <a:p/>
          <a:p>
            <a:r>
              <a:t>Фраза-переход: «Правила понятны. Теперь — как мы делаем агента полезным в этих рамках».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правила работы агента хранятся в обычных текстовых файлах рядом с проектом — и их можно версионировать, как код.</a:t>
            </a:r>
          </a:p>
          <a:p/>
          <a:p>
            <a:r>
              <a:t>Пример: в общем файле локальных инструкций написано «никогда не коммить в основную ветку», в проектном — «тесты запускаются вот этой командой». Агент в проекте получает оба правила.</a:t>
            </a:r>
          </a:p>
          <a:p/>
          <a:p>
            <a:r>
              <a:t>Фраза-переход: «Файлы есть. Но когда агент их реально читает — и читает ли вообще?»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инструкции — это совет, который модель старается выполнить; гарантию даёт только автоматика (хуки и настройки прав).</a:t>
            </a:r>
          </a:p>
          <a:p/>
          <a:p>
            <a:r>
              <a:t>Пример: в файле локальных инструкций написано «не удаляй файлы». Скорее всего, агент послушается. Хук, блокирующий удаление, сработает всегда.</a:t>
            </a:r>
          </a:p>
          <a:p/>
          <a:p>
            <a:r>
              <a:t>Фраза-переход: «Инструкции, навыки, хуки, права, проверки — у всего этого вместе есть имя: harness».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MCP — открытый стандарт подключения инструментов к ИИ, «универсальный разъём»; плагин — готовый набор навыков, хуков и подключений.</a:t>
            </a:r>
          </a:p>
          <a:p/>
          <a:p>
            <a:r>
              <a:t>Пример: подключили MCP-сервер трекера задач — агент сам читает описание задачи вместо того, чтобы вы его копировали.</a:t>
            </a:r>
          </a:p>
          <a:p/>
          <a:p>
            <a:r>
              <a:t>Фраза-переход: вернуться к слайду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агент = модель + harness. Harness — это окружение, правила и механизмы, которые превращают модель в работника реального процесса.</a:t>
            </a:r>
          </a:p>
          <a:p/>
          <a:p>
            <a:r>
              <a:t>Пример: та же модель без тестов «чинит» баг и уверенно рапортует об успехе. С хуком, который запускает тесты после каждой правки, — видит, что сломала, и исправляет.</a:t>
            </a:r>
          </a:p>
          <a:p/>
          <a:p>
            <a:r>
              <a:t>Фраза-переход: «Даже хорошо запряжённый агент упирается в потолок: один контекст, одна пара рук. Поэтому агенты научились звать помощников».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чем больше агент может сделать сам, тем важнее ограничить, где и что он может делать.</a:t>
            </a:r>
          </a:p>
          <a:p/>
          <a:p>
            <a:r>
              <a:t>Пример: стажёру дают доступ к тестовому стенду, а не к боевой базе. С агентом — так же.</a:t>
            </a:r>
          </a:p>
          <a:p/>
          <a:p>
            <a:r>
              <a:t>Фраза-переход: вернуться к слайду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главный агент может поручать части работы сабагентам с собственным контекстом — это разгружает его, но стоит токенов и требует координации.</a:t>
            </a:r>
          </a:p>
          <a:p/>
          <a:p>
            <a:r>
              <a:t>Пример: 1. Исследователь изучает, где в коде живёт нужная логика.</a:t>
            </a:r>
          </a:p>
          <a:p>
            <a:r>
              <a:t>2. Главный агент формирует решение.</a:t>
            </a:r>
          </a:p>
          <a:p>
            <a:r>
              <a:t>3. Исполнитель вносит изменения.</a:t>
            </a:r>
          </a:p>
          <a:p>
            <a:r>
              <a:t>4. Проверяющий независимо оценивает результат.</a:t>
            </a:r>
          </a:p>
          <a:p/>
          <a:p>
            <a:r>
              <a:t>Встроенный механизм агентной среды здесь — сам запуск сабагентов. Распределение ролей — наша организация работы.</a:t>
            </a:r>
          </a:p>
          <a:p/>
          <a:p>
            <a:r>
              <a:t>Фраза-переход: «Из этих ролей мы собрали свой процесс для сложных задач — ПЛАНЫ».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чтобы агент надёжно сделал многошаговую задачу сам, разделяем работу: разведка → план → проверка плана → исполнение → проверка результата.</a:t>
            </a:r>
          </a:p>
          <a:p/>
          <a:p>
            <a:r>
              <a:t>Пример: «добавить новое поле в отчёт». Разведчик находит три места, где формируется отчёт, и одно неочевидное — выгрузку. Проверяльщик замечает, что в плане нет обновления выгрузки. Без этих двух шагов поле появилось бы в отчёте, а выгрузка сломалась бы.</a:t>
            </a:r>
          </a:p>
          <a:p/>
          <a:p>
            <a:r>
              <a:t>Фраза-переход: «Это наша кухня. Выглянем наружу: что вообще есть в мире ИИ за пределами нашего репо?»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агент сам проходит по плану, а человек вмешивается только в контрольных точках.</a:t>
            </a:r>
          </a:p>
          <a:p/>
          <a:p>
            <a:r>
              <a:t>Пример: небольшая учебная задача на обезличенном проекте.</a:t>
            </a:r>
          </a:p>
          <a:p/>
          <a:p>
            <a:r>
              <a:t>Фраза-переход: вернуться к слайду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между вами и моделью всегда есть несколько слоёв — и в каждом свои возможности и свои условия для данных.</a:t>
            </a:r>
          </a:p>
          <a:p/>
          <a:p>
            <a:r>
              <a:t>Пример: «Алиса, закажи такси» — работает отлично. «Алиса, загляни в наш репозиторий и почини отчёт» — не её сценарий: к нашей среде её не подключить.</a:t>
            </a:r>
          </a:p>
          <a:p/>
          <a:p>
            <a:r>
              <a:t>Фраза-переход: «Над этими слоями люди строят надстройки — чтобы управлять агентами, планировать и автоматизировать. Вот где начинается путаница терминов».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режим определяет, что ИИ видит и что может сделать; выбирайте режим под задачу.</a:t>
            </a:r>
          </a:p>
          <a:p/>
          <a:p>
            <a:r>
              <a:t>Пример: одна задача «разобраться в чужом отчёте» в чате превращается в копипаст, в агентном режиме с доступом к репо — в самостоятельное исследование.</a:t>
            </a:r>
          </a:p>
          <a:p/>
          <a:p>
            <a:r>
              <a:t>Фраза-переход: вернуться к слайду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агрегатор упрощает доступ и сравнение моделей, но не снимает вопрос, кто и как обрабатывает данные.</a:t>
            </a:r>
          </a:p>
          <a:p/>
          <a:p>
            <a:r>
              <a:t>Пример: сравнить три модели на одной задаче, не заводя три аккаунта и три договора.</a:t>
            </a:r>
          </a:p>
          <a:p/>
          <a:p>
            <a:r>
              <a:t>Фраза-переход: вернуться к слайду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«закрытая» система может быть мощной внутри своей экосистемы, но вы не встроите её в свой процесс так, как агентную среду.</a:t>
            </a:r>
          </a:p>
          <a:p/>
          <a:p>
            <a:r>
              <a:t>Пример: умная колонка отлично управляет «умным домом» своего бренда и плохо — чужим.</a:t>
            </a:r>
          </a:p>
          <a:p/>
          <a:p>
            <a:r>
              <a:t>Фраза-переход: вернуться к слайду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оркестратор, система спецификаций, автоматический цикл улучшений и панель управления решают разные задачи — смотрите на задачу, а не на ярлык.</a:t>
            </a:r>
          </a:p>
          <a:p/>
          <a:p>
            <a:r>
              <a:t>Пример: OpenSpec — договориться о дизайне тёмной темы; оркестратор — запустить три агента на три задачи; AutoResearch — 25 попыток поднять покрытие тестов с 72% до 90% с автооткатом неудачных; Zerus — видеть всех этих агентов на одном экране и на телефоне.</a:t>
            </a:r>
          </a:p>
          <a:p/>
          <a:p>
            <a:r>
              <a:t>Фраза-переход: «Последний вопрос, который всегда задают: а можно всё это держать у себя, без облаков?»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автономность работает, когда есть цель, измеримая метрика и автоматический откат неудачных попыток.</a:t>
            </a:r>
          </a:p>
          <a:p/>
          <a:p>
            <a:r>
              <a:t>Пример: «ускорить ответ API до 100 мс, не сломав тесты»: метрика — время ответа, защитная проверка — тесты.</a:t>
            </a:r>
          </a:p>
          <a:p/>
          <a:p>
            <a:r>
              <a:t>Фраза-переход: вернуться к слайду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обе идеи про одно — сначала договориться, потом делать; отличаются акцентом.</a:t>
            </a:r>
          </a:p>
          <a:p/>
          <a:p>
            <a:r>
              <a:t>Пример: OpenSpec — «тёмная тема должна следовать системной настройке»; ПЛАН — «шаг 1: найти переменные стилей; шаг 2… проверка: скриншоты обеих тем».</a:t>
            </a:r>
          </a:p>
          <a:p/>
          <a:p>
            <a:r>
              <a:t>Фраза-переход: вернуться к слайду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когда агентов много, узким местом становится внимание человека, и для этого появляются пульты управления.</a:t>
            </a:r>
          </a:p>
          <a:p/>
          <a:p>
            <a:r>
              <a:t>Пример: Codex реализует изменение, Claude проверяет, а вы получаете уведомление на телефон.</a:t>
            </a:r>
          </a:p>
          <a:p/>
          <a:p>
            <a:r>
              <a:t>Фраза-переход: вернуться к слайду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то, что не измеряется, незаметно дорожает: смотрите на токены, время и логи.</a:t>
            </a:r>
          </a:p>
          <a:p/>
          <a:p>
            <a:r>
              <a:t>Пример: ночной автоцикл на 100 итераций без лимита — хороший способ узнать цену подписки.</a:t>
            </a:r>
          </a:p>
          <a:p/>
          <a:p>
            <a:r>
              <a:t>Фраза-переход: вернуться к слайду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локальный запуск даёт контроль над данными, но не делает систему автоматически безопасной, бесплатной или такой же умной.</a:t>
            </a:r>
          </a:p>
          <a:p/>
          <a:p>
            <a:r>
              <a:t>Пример: локальная модель отлично подходит для черновой обработки обезличенных текстов или автодополнения, но планирование сложной доработки лучше доверить сильной модели — если политика это разрешает.</a:t>
            </a:r>
          </a:p>
          <a:p/>
          <a:p>
            <a:r>
              <a:t>Фраза-переход: «Прежде чем подвести итог — словарь того, что прозвучало».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у агента три источника «памяти»: текущий разговор, постоянные инструкции и внешнее хранилище, из которого нужное подтягивается поиском.</a:t>
            </a:r>
          </a:p>
          <a:p/>
          <a:p>
            <a:r>
              <a:t>Пример: вопрос «как у нас считают отпускные» — без доступа к регламенту ИИ ответит «как обычно в мире», с поиском по регламенту — по-нашему.</a:t>
            </a:r>
          </a:p>
          <a:p/>
          <a:p>
            <a:r>
              <a:t>Фраза-переход: вернуться к слайду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Фраза-переход: «Подведём итог: что делать с этим завтра утром».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Фраза-переход: вернуться к слайду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ИИ-инструменты будут меняться каждые полгода; навык проектировать среду для агента останется с вами.</a:t>
            </a:r>
          </a:p>
          <a:p/>
          <a:p>
            <a:r>
              <a:t>Пример: через месяц у вас пять правил, два навыка и один хук — и агент перестал повторять ваши любимые ошибки. Это уже ваш harness.</a:t>
            </a:r>
          </a:p>
          <a:p/>
          <a:p>
            <a:r>
              <a:t>Фраза-переход: «И напоследок — зачем всё это тому, кто работает с данными».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тезис: агент берёт на себя рутину анализа данных, а проверка и выводы остаются за аналитиком.</a:t>
            </a:r>
          </a:p>
          <a:p/>
          <a:p>
            <a:r>
              <a:t>Пример: «почему выручка за октябрь в двух отчётах расходится». Агент находит оба запроса, сравнивает фильтры, находит разницу в учёте возвратов и пишет сверочный запрос.</a:t>
            </a:r>
          </a:p>
          <a:p/>
          <a:p>
            <a:r>
              <a:t>Фраза-переход: «Спасибо! Вопросы — и если хотите, покажу, как это выглядит у нас вживую».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2159992" y="1590794"/>
            <a:ext cx="12959954" cy="3384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Calibri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159992" y="5105389"/>
            <a:ext cx="12959954" cy="234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sz="3402"/>
            </a:lvl1pPr>
            <a:lvl2pPr lvl="1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/>
            </a:lvl2pPr>
            <a:lvl3pPr lvl="2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sz="2551"/>
            </a:lvl3pPr>
            <a:lvl4pPr lvl="3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4pPr>
            <a:lvl5pPr lvl="4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5pPr>
            <a:lvl6pPr lvl="5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6pPr>
            <a:lvl7pPr lvl="6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7pPr>
            <a:lvl8pPr lvl="7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8pPr>
            <a:lvl9pPr lvl="8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18799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187996" y="2587570"/>
            <a:ext cx="14903947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1178996" y="2423317"/>
            <a:ext cx="14903947" cy="40433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Calibri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1178996" y="6504927"/>
            <a:ext cx="14903947" cy="2126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3402"/>
              <a:buNone/>
              <a:defRPr sz="3402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835"/>
              <a:buNone/>
              <a:defRPr sz="283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551"/>
              <a:buNone/>
              <a:defRPr sz="2551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118799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1187996" y="2587570"/>
            <a:ext cx="7343974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8747968" y="2587570"/>
            <a:ext cx="7343974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119024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190247" y="2382815"/>
            <a:ext cx="7310223" cy="1167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b="1" sz="3402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b="1" sz="2835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b="1" sz="255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1190247" y="3550596"/>
            <a:ext cx="7310223" cy="52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8747969" y="2382815"/>
            <a:ext cx="7346224" cy="1167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b="1" sz="3402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b="1" sz="2835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b="1" sz="255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8747969" y="3550596"/>
            <a:ext cx="7346224" cy="52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118799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1190247" y="648018"/>
            <a:ext cx="5573229" cy="226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5"/>
              <a:buFont typeface="Calibri"/>
              <a:buNone/>
              <a:defRPr sz="453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7346224" y="1399539"/>
            <a:ext cx="8747969" cy="690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573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4535"/>
              <a:buChar char="•"/>
              <a:defRPr sz="4535"/>
            </a:lvl1pPr>
            <a:lvl2pPr indent="-480568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968"/>
              <a:buChar char="•"/>
              <a:defRPr sz="3968"/>
            </a:lvl2pPr>
            <a:lvl3pPr indent="-444627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Char char="•"/>
              <a:defRPr sz="3402"/>
            </a:lvl3pPr>
            <a:lvl4pPr indent="-408623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4pPr>
            <a:lvl5pPr indent="-408623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5pPr>
            <a:lvl6pPr indent="-408623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6pPr>
            <a:lvl7pPr indent="-408623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7pPr>
            <a:lvl8pPr indent="-408623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8pPr>
            <a:lvl9pPr indent="-408622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1190247" y="2916079"/>
            <a:ext cx="5573229" cy="5402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190247" y="648018"/>
            <a:ext cx="5573229" cy="226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5"/>
              <a:buFont typeface="Calibri"/>
              <a:buNone/>
              <a:defRPr sz="453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7346224" y="1399539"/>
            <a:ext cx="8747969" cy="690768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190247" y="2916079"/>
            <a:ext cx="5573229" cy="5402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118799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5556260" y="-1780694"/>
            <a:ext cx="6167418" cy="14903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0110212" y="2773258"/>
            <a:ext cx="8237474" cy="372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2550240" y="-844729"/>
            <a:ext cx="8237474" cy="10961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1187997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1187997" y="2587570"/>
            <a:ext cx="14903947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2159992" y="1590794"/>
            <a:ext cx="12959954" cy="3384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Calibri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2159992" y="5105390"/>
            <a:ext cx="12959954" cy="234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sz="3402"/>
            </a:lvl1pPr>
            <a:lvl2pPr lvl="1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sz="2835"/>
            </a:lvl2pPr>
            <a:lvl3pPr lvl="2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sz="2551"/>
            </a:lvl3pPr>
            <a:lvl4pPr lvl="3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4pPr>
            <a:lvl5pPr lvl="4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5pPr>
            <a:lvl6pPr lvl="5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6pPr>
            <a:lvl7pPr lvl="6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7pPr>
            <a:lvl8pPr lvl="7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8pPr>
            <a:lvl9pPr lvl="8" algn="ctr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1178997" y="2423318"/>
            <a:ext cx="14903947" cy="40433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4"/>
              <a:buFont typeface="Calibri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1178997" y="6504929"/>
            <a:ext cx="14903947" cy="2126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888888"/>
              </a:buClr>
              <a:buSzPts val="3402"/>
              <a:buNone/>
              <a:defRPr sz="3402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835"/>
              <a:buNone/>
              <a:defRPr sz="283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551"/>
              <a:buNone/>
              <a:defRPr sz="2551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rgbClr val="888888"/>
              </a:buClr>
              <a:buSzPts val="2268"/>
              <a:buNone/>
              <a:defRPr sz="22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1187997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1187996" y="2587570"/>
            <a:ext cx="7343974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8747968" y="2587570"/>
            <a:ext cx="7343974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119024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1190249" y="2382815"/>
            <a:ext cx="7310223" cy="1167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b="1" sz="3402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b="1" sz="2835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b="1" sz="255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1190249" y="3550596"/>
            <a:ext cx="7310223" cy="52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3" type="body"/>
          </p:nvPr>
        </p:nvSpPr>
        <p:spPr>
          <a:xfrm>
            <a:off x="8747969" y="2382815"/>
            <a:ext cx="7346224" cy="1167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402"/>
              <a:buNone/>
              <a:defRPr b="1" sz="3402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None/>
              <a:defRPr b="1" sz="2835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None/>
              <a:defRPr b="1" sz="255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b="1" sz="2268"/>
            </a:lvl9pPr>
          </a:lstStyle>
          <a:p/>
        </p:txBody>
      </p:sp>
      <p:sp>
        <p:nvSpPr>
          <p:cNvPr id="120" name="Google Shape;120;p18"/>
          <p:cNvSpPr txBox="1"/>
          <p:nvPr>
            <p:ph idx="4" type="body"/>
          </p:nvPr>
        </p:nvSpPr>
        <p:spPr>
          <a:xfrm>
            <a:off x="8747969" y="3550596"/>
            <a:ext cx="7346224" cy="52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1187997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190249" y="648019"/>
            <a:ext cx="5573229" cy="226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4"/>
              <a:buFont typeface="Calibri"/>
              <a:buNone/>
              <a:defRPr sz="453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346224" y="1399540"/>
            <a:ext cx="8747969" cy="690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509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4534"/>
              <a:buChar char="•"/>
              <a:defRPr sz="4534"/>
            </a:lvl1pPr>
            <a:lvl2pPr indent="-480505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967"/>
              <a:buChar char="•"/>
              <a:defRPr sz="3967"/>
            </a:lvl2pPr>
            <a:lvl3pPr indent="-444627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Char char="•"/>
              <a:defRPr sz="3402"/>
            </a:lvl3pPr>
            <a:lvl4pPr indent="-408623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4pPr>
            <a:lvl5pPr indent="-408623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5pPr>
            <a:lvl6pPr indent="-408623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6pPr>
            <a:lvl7pPr indent="-408623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7pPr>
            <a:lvl8pPr indent="-408623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8pPr>
            <a:lvl9pPr indent="-408622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Char char="•"/>
              <a:defRPr sz="2835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1190249" y="2916079"/>
            <a:ext cx="5573229" cy="5402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1190249" y="648019"/>
            <a:ext cx="5573229" cy="226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34"/>
              <a:buFont typeface="Calibri"/>
              <a:buNone/>
              <a:defRPr sz="453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7346224" y="1399540"/>
            <a:ext cx="8747969" cy="6907687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1190249" y="2916079"/>
            <a:ext cx="5573229" cy="5402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268"/>
              <a:buNone/>
              <a:defRPr sz="2268"/>
            </a:lvl1pPr>
            <a:lvl2pPr indent="-2286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2pPr>
            <a:lvl3pPr indent="-2286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3pPr>
            <a:lvl4pPr indent="-2286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4pPr>
            <a:lvl5pPr indent="-2286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5pPr>
            <a:lvl6pPr indent="-2286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6pPr>
            <a:lvl7pPr indent="-2286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7pPr>
            <a:lvl8pPr indent="-2286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8pPr>
            <a:lvl9pPr indent="-2286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1187997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5556262" y="-1780694"/>
            <a:ext cx="6167418" cy="14903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10110212" y="2773258"/>
            <a:ext cx="8237474" cy="372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2550240" y="-844729"/>
            <a:ext cx="8237474" cy="10961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ctrTitle"/>
          </p:nvPr>
        </p:nvSpPr>
        <p:spPr>
          <a:xfrm>
            <a:off x="2940611" y="3160481"/>
            <a:ext cx="11398716" cy="830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98"/>
              <a:buFont typeface="Roboto Thin"/>
              <a:buNone/>
              <a:defRPr b="0" i="0" sz="5998">
                <a:solidFill>
                  <a:schemeClr val="lt1"/>
                </a:solidFill>
                <a:latin typeface="Roboto Thin"/>
                <a:ea typeface="Roboto Thin"/>
                <a:cs typeface="Roboto Thin"/>
                <a:sym typeface="Roboto Th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" type="subTitle"/>
          </p:nvPr>
        </p:nvSpPr>
        <p:spPr>
          <a:xfrm>
            <a:off x="722913" y="5417569"/>
            <a:ext cx="15834109" cy="415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lt1"/>
              </a:buClr>
              <a:buSzPts val="2999"/>
              <a:buChar char="•"/>
              <a:defRPr b="0" i="0" sz="2999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70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187996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6"/>
              <a:buFont typeface="Calibri"/>
              <a:buNone/>
              <a:defRPr b="0" i="0" sz="62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187996" y="2587570"/>
            <a:ext cx="14903947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568" lvl="0" marL="4572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968"/>
              <a:buFont typeface="Arial"/>
              <a:buChar char="•"/>
              <a:defRPr b="0" i="0" sz="396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44627" lvl="1" marL="9144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Font typeface="Arial"/>
              <a:buChar char="•"/>
              <a:defRPr b="0" i="0" sz="340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8623" lvl="2" marL="13716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Font typeface="Arial"/>
              <a:buChar char="•"/>
              <a:defRPr b="0" i="0" sz="28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0588" lvl="3" marL="18288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0589" lvl="4" marL="22860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0589" lvl="5" marL="27432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0589" lvl="6" marL="32004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0589" lvl="7" marL="36576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0589" lvl="8" marL="41148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1187997" y="517514"/>
            <a:ext cx="14903947" cy="18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5"/>
              <a:buFont typeface="Calibri"/>
              <a:buNone/>
              <a:defRPr b="0" i="0" sz="62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1187997" y="2587570"/>
            <a:ext cx="14903947" cy="6167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505" lvl="0" marL="4572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3967"/>
              <a:buFont typeface="Arial"/>
              <a:buChar char="•"/>
              <a:defRPr b="0" i="0" sz="39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44627" lvl="1" marL="9144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3402"/>
              <a:buFont typeface="Arial"/>
              <a:buChar char="•"/>
              <a:defRPr b="0" i="0" sz="340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8623" lvl="2" marL="13716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835"/>
              <a:buFont typeface="Arial"/>
              <a:buChar char="•"/>
              <a:defRPr b="0" i="0" sz="28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0588" lvl="3" marL="18288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0589" lvl="4" marL="22860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0589" lvl="5" marL="27432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0589" lvl="6" marL="32004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0589" lvl="7" marL="36576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0589" lvl="8" marL="4114800" marR="0" rtl="0" algn="l">
              <a:lnSpc>
                <a:spcPct val="90000"/>
              </a:lnSpc>
              <a:spcBef>
                <a:spcPts val="709"/>
              </a:spcBef>
              <a:spcAft>
                <a:spcPts val="0"/>
              </a:spcAft>
              <a:buClr>
                <a:schemeClr val="dk1"/>
              </a:buClr>
              <a:buSzPts val="2551"/>
              <a:buFont typeface="Arial"/>
              <a:buChar char="•"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5723981" y="9009244"/>
            <a:ext cx="5831979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70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1.png"/><Relationship Id="rId4" Type="http://schemas.openxmlformats.org/officeDocument/2006/relationships/hyperlink" Target="http://global-system.ru/" TargetMode="External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45.png"/><Relationship Id="rId5" Type="http://schemas.openxmlformats.org/officeDocument/2006/relationships/image" Target="../media/image42.png"/><Relationship Id="rId6" Type="http://schemas.openxmlformats.org/officeDocument/2006/relationships/image" Target="../media/image46.png"/><Relationship Id="rId7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35.png"/><Relationship Id="rId7" Type="http://schemas.openxmlformats.org/officeDocument/2006/relationships/image" Target="../media/image34.png"/><Relationship Id="rId8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3.xml"/><Relationship Id="rId6" Type="http://schemas.openxmlformats.org/officeDocument/2006/relationships/image" Target="../media/image38.png"/><Relationship Id="rId7" Type="http://schemas.openxmlformats.org/officeDocument/2006/relationships/image" Target="../media/image47.png"/><Relationship Id="rId8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4.xml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48.png"/><Relationship Id="rId9" Type="http://schemas.openxmlformats.org/officeDocument/2006/relationships/image" Target="../media/image4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5.xml"/><Relationship Id="rId6" Type="http://schemas.openxmlformats.org/officeDocument/2006/relationships/image" Target="../media/image43.png"/><Relationship Id="rId7" Type="http://schemas.openxmlformats.org/officeDocument/2006/relationships/image" Target="../media/image19.png"/><Relationship Id="rId8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6.xml"/><Relationship Id="rId6" Type="http://schemas.openxmlformats.org/officeDocument/2006/relationships/image" Target="../media/image26.png"/><Relationship Id="rId7" Type="http://schemas.openxmlformats.org/officeDocument/2006/relationships/image" Target="../media/image40.png"/><Relationship Id="rId8" Type="http://schemas.openxmlformats.org/officeDocument/2006/relationships/image" Target="../media/image7.png"/><Relationship Id="rId9" Type="http://schemas.openxmlformats.org/officeDocument/2006/relationships/image" Target="../media/image35.png"/><Relationship Id="rId10" Type="http://schemas.openxmlformats.org/officeDocument/2006/relationships/image" Target="../media/image34.png"/><Relationship Id="rId11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7.xml"/><Relationship Id="rId6" Type="http://schemas.openxmlformats.org/officeDocument/2006/relationships/image" Target="../media/image38.png"/><Relationship Id="rId7" Type="http://schemas.openxmlformats.org/officeDocument/2006/relationships/image" Target="../media/image47.png"/><Relationship Id="rId8" Type="http://schemas.openxmlformats.org/officeDocument/2006/relationships/image" Target="../media/image41.png"/><Relationship Id="rId9" Type="http://schemas.openxmlformats.org/officeDocument/2006/relationships/image" Target="../media/image27.png"/><Relationship Id="rId10" Type="http://schemas.openxmlformats.org/officeDocument/2006/relationships/image" Target="../media/image22.png"/><Relationship Id="rId11" Type="http://schemas.openxmlformats.org/officeDocument/2006/relationships/image" Target="../media/image4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8.xml"/><Relationship Id="rId6" Type="http://schemas.openxmlformats.org/officeDocument/2006/relationships/image" Target="../media/image44.png"/><Relationship Id="rId7" Type="http://schemas.openxmlformats.org/officeDocument/2006/relationships/image" Target="../media/image43.png"/><Relationship Id="rId8" Type="http://schemas.openxmlformats.org/officeDocument/2006/relationships/image" Target="../media/image19.png"/><Relationship Id="rId9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9.xml"/><Relationship Id="rId6" Type="http://schemas.openxmlformats.org/officeDocument/2006/relationships/image" Target="../media/image26.png"/><Relationship Id="rId7" Type="http://schemas.openxmlformats.org/officeDocument/2006/relationships/image" Target="../media/image40.png"/><Relationship Id="rId8" Type="http://schemas.openxmlformats.org/officeDocument/2006/relationships/image" Target="../media/image7.png"/><Relationship Id="rId9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1.xml"/><Relationship Id="rId6" Type="http://schemas.openxmlformats.org/officeDocument/2006/relationships/image" Target="../media/image34.png"/><Relationship Id="rId7" Type="http://schemas.openxmlformats.org/officeDocument/2006/relationships/image" Target="../media/image31.png"/><Relationship Id="rId8" Type="http://schemas.openxmlformats.org/officeDocument/2006/relationships/image" Target="../media/image38.png"/><Relationship Id="rId9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2.xml"/><Relationship Id="rId6" Type="http://schemas.openxmlformats.org/officeDocument/2006/relationships/image" Target="../media/image41.png"/><Relationship Id="rId7" Type="http://schemas.openxmlformats.org/officeDocument/2006/relationships/image" Target="../media/image27.png"/><Relationship Id="rId8" Type="http://schemas.openxmlformats.org/officeDocument/2006/relationships/image" Target="../media/image22.png"/><Relationship Id="rId9" Type="http://schemas.openxmlformats.org/officeDocument/2006/relationships/image" Target="../media/image48.png"/><Relationship Id="rId10" Type="http://schemas.openxmlformats.org/officeDocument/2006/relationships/image" Target="../media/image44.png"/><Relationship Id="rId11" Type="http://schemas.openxmlformats.org/officeDocument/2006/relationships/image" Target="../media/image4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5.xml"/><Relationship Id="rId6" Type="http://schemas.openxmlformats.org/officeDocument/2006/relationships/image" Target="../media/image19.png"/><Relationship Id="rId7" Type="http://schemas.openxmlformats.org/officeDocument/2006/relationships/image" Target="../media/image37.png"/><Relationship Id="rId8" Type="http://schemas.openxmlformats.org/officeDocument/2006/relationships/image" Target="../media/image26.png"/><Relationship Id="rId9" Type="http://schemas.openxmlformats.org/officeDocument/2006/relationships/image" Target="../media/image4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6.xml"/><Relationship Id="rId6" Type="http://schemas.openxmlformats.org/officeDocument/2006/relationships/image" Target="../media/image7.png"/><Relationship Id="rId7" Type="http://schemas.openxmlformats.org/officeDocument/2006/relationships/image" Target="../media/image35.png"/><Relationship Id="rId8" Type="http://schemas.openxmlformats.org/officeDocument/2006/relationships/image" Target="../media/image34.png"/><Relationship Id="rId9" Type="http://schemas.openxmlformats.org/officeDocument/2006/relationships/image" Target="../media/image31.png"/><Relationship Id="rId10" Type="http://schemas.openxmlformats.org/officeDocument/2006/relationships/image" Target="../media/image38.png"/><Relationship Id="rId11" Type="http://schemas.openxmlformats.org/officeDocument/2006/relationships/image" Target="../media/image47.png"/><Relationship Id="rId12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7.xml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48.png"/><Relationship Id="rId9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8.xml"/><Relationship Id="rId6" Type="http://schemas.openxmlformats.org/officeDocument/2006/relationships/image" Target="../media/image43.png"/><Relationship Id="rId7" Type="http://schemas.openxmlformats.org/officeDocument/2006/relationships/image" Target="../media/image19.png"/><Relationship Id="rId8" Type="http://schemas.openxmlformats.org/officeDocument/2006/relationships/image" Target="../media/image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9.xml"/><Relationship Id="rId6" Type="http://schemas.openxmlformats.org/officeDocument/2006/relationships/image" Target="../media/image26.png"/><Relationship Id="rId7" Type="http://schemas.openxmlformats.org/officeDocument/2006/relationships/image" Target="../media/image40.png"/><Relationship Id="rId8" Type="http://schemas.openxmlformats.org/officeDocument/2006/relationships/image" Target="../media/image7.png"/><Relationship Id="rId9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1.xml"/><Relationship Id="rId6" Type="http://schemas.openxmlformats.org/officeDocument/2006/relationships/image" Target="../media/image34.png"/><Relationship Id="rId7" Type="http://schemas.openxmlformats.org/officeDocument/2006/relationships/image" Target="../media/image31.png"/><Relationship Id="rId8" Type="http://schemas.openxmlformats.org/officeDocument/2006/relationships/image" Target="../media/image38.png"/><Relationship Id="rId9" Type="http://schemas.openxmlformats.org/officeDocument/2006/relationships/image" Target="../media/image4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2.xml"/><Relationship Id="rId6" Type="http://schemas.openxmlformats.org/officeDocument/2006/relationships/image" Target="../media/image41.png"/><Relationship Id="rId7" Type="http://schemas.openxmlformats.org/officeDocument/2006/relationships/image" Target="../media/image27.png"/><Relationship Id="rId8" Type="http://schemas.openxmlformats.org/officeDocument/2006/relationships/image" Target="../media/image22.png"/><Relationship Id="rId9" Type="http://schemas.openxmlformats.org/officeDocument/2006/relationships/image" Target="../media/image4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3.xml"/><Relationship Id="rId6" Type="http://schemas.openxmlformats.org/officeDocument/2006/relationships/image" Target="../media/image44.png"/><Relationship Id="rId7" Type="http://schemas.openxmlformats.org/officeDocument/2006/relationships/image" Target="../media/image43.png"/><Relationship Id="rId8" Type="http://schemas.openxmlformats.org/officeDocument/2006/relationships/image" Target="../media/image1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4.xml"/><Relationship Id="rId6" Type="http://schemas.openxmlformats.org/officeDocument/2006/relationships/image" Target="../media/image37.png"/><Relationship Id="rId7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5.xml"/><Relationship Id="rId6" Type="http://schemas.openxmlformats.org/officeDocument/2006/relationships/image" Target="../media/image40.png"/><Relationship Id="rId7" Type="http://schemas.openxmlformats.org/officeDocument/2006/relationships/image" Target="../media/image7.png"/><Relationship Id="rId8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9.xml"/><Relationship Id="rId6" Type="http://schemas.openxmlformats.org/officeDocument/2006/relationships/image" Target="../media/image34.png"/><Relationship Id="rId7" Type="http://schemas.openxmlformats.org/officeDocument/2006/relationships/image" Target="../media/image31.png"/><Relationship Id="rId8" Type="http://schemas.openxmlformats.org/officeDocument/2006/relationships/image" Target="../media/image38.png"/><Relationship Id="rId9" Type="http://schemas.openxmlformats.org/officeDocument/2006/relationships/image" Target="../media/image47.png"/><Relationship Id="rId10" Type="http://schemas.openxmlformats.org/officeDocument/2006/relationships/image" Target="../media/image41.png"/><Relationship Id="rId11" Type="http://schemas.openxmlformats.org/officeDocument/2006/relationships/image" Target="../media/image27.png"/><Relationship Id="rId12" Type="http://schemas.openxmlformats.org/officeDocument/2006/relationships/image" Target="../media/image22.png"/><Relationship Id="rId1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/>
          <p:nvPr/>
        </p:nvSpPr>
        <p:spPr>
          <a:xfrm>
            <a:off x="0" y="0"/>
            <a:ext cx="17279938" cy="9720263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5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0686" y="-684485"/>
            <a:ext cx="18181310" cy="108732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26"/>
          <p:cNvGrpSpPr/>
          <p:nvPr/>
        </p:nvGrpSpPr>
        <p:grpSpPr>
          <a:xfrm>
            <a:off x="2159249" y="8031012"/>
            <a:ext cx="8964621" cy="900209"/>
            <a:chOff x="2323810" y="8031012"/>
            <a:chExt cx="8964621" cy="900209"/>
          </a:xfrm>
        </p:grpSpPr>
        <p:sp>
          <p:nvSpPr>
            <p:cNvPr id="172" name="Google Shape;172;p26"/>
            <p:cNvSpPr/>
            <p:nvPr/>
          </p:nvSpPr>
          <p:spPr>
            <a:xfrm>
              <a:off x="2323810" y="8031248"/>
              <a:ext cx="899973" cy="899973"/>
            </a:xfrm>
            <a:prstGeom prst="roundRect">
              <a:avLst>
                <a:gd fmla="val 7847" name="adj"/>
              </a:avLst>
            </a:prstGeom>
            <a:solidFill>
              <a:srgbClr val="0080FF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ERP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3331891" y="8031012"/>
              <a:ext cx="899973" cy="899973"/>
            </a:xfrm>
            <a:prstGeom prst="roundRect">
              <a:avLst>
                <a:gd fmla="val 8906" name="adj"/>
              </a:avLst>
            </a:prstGeom>
            <a:solidFill>
              <a:srgbClr val="96BE00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MES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4339973" y="8031012"/>
              <a:ext cx="899973" cy="899973"/>
            </a:xfrm>
            <a:prstGeom prst="roundRect">
              <a:avLst>
                <a:gd fmla="val 8200" name="adj"/>
              </a:avLst>
            </a:prstGeom>
            <a:solidFill>
              <a:srgbClr val="AA0080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EAM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5348053" y="8031248"/>
              <a:ext cx="899973" cy="899973"/>
            </a:xfrm>
            <a:prstGeom prst="roundRect">
              <a:avLst>
                <a:gd fmla="val 7142" name="adj"/>
              </a:avLst>
            </a:prstGeom>
            <a:solidFill>
              <a:srgbClr val="F0B400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HRM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6356134" y="8031248"/>
              <a:ext cx="899973" cy="899973"/>
            </a:xfrm>
            <a:prstGeom prst="roundRect">
              <a:avLst>
                <a:gd fmla="val 11728" name="adj"/>
              </a:avLst>
            </a:prstGeom>
            <a:solidFill>
              <a:srgbClr val="0050C8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FM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7364216" y="8031248"/>
              <a:ext cx="899973" cy="899973"/>
            </a:xfrm>
            <a:prstGeom prst="roundRect">
              <a:avLst>
                <a:gd fmla="val 9611" name="adj"/>
              </a:avLst>
            </a:prstGeom>
            <a:solidFill>
              <a:srgbClr val="FF6400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SCM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8372297" y="8031248"/>
              <a:ext cx="899973" cy="899973"/>
            </a:xfrm>
            <a:prstGeom prst="roundRect">
              <a:avLst>
                <a:gd fmla="val 6789" name="adj"/>
              </a:avLst>
            </a:prstGeom>
            <a:solidFill>
              <a:srgbClr val="C81E1E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WMS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9380378" y="8031248"/>
              <a:ext cx="899973" cy="899973"/>
            </a:xfrm>
            <a:prstGeom prst="roundRect">
              <a:avLst>
                <a:gd fmla="val 8200" name="adj"/>
              </a:avLst>
            </a:prstGeom>
            <a:solidFill>
              <a:srgbClr val="008C32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PDM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10388458" y="8031248"/>
              <a:ext cx="899973" cy="899973"/>
            </a:xfrm>
            <a:prstGeom prst="roundRect">
              <a:avLst>
                <a:gd fmla="val 7847" name="adj"/>
              </a:avLst>
            </a:prstGeom>
            <a:solidFill>
              <a:srgbClr val="641496"/>
            </a:solidFill>
            <a:ln>
              <a:noFill/>
            </a:ln>
            <a:effectLst>
              <a:outerShdw blurRad="139700" sx="102000" rotWithShape="0" algn="ctr" sy="102000">
                <a:srgbClr val="000000">
                  <a:alpha val="27843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2399" u="none" cap="none" strike="noStrike">
                  <a:solidFill>
                    <a:schemeClr val="lt1"/>
                  </a:solidFill>
                  <a:latin typeface="Geologica"/>
                  <a:ea typeface="Geologica"/>
                  <a:cs typeface="Geologica"/>
                  <a:sym typeface="Geologica"/>
                </a:rPr>
                <a:t>MDM</a:t>
              </a:r>
              <a:endParaRPr b="0" i="0" sz="2399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endParaRPr>
            </a:p>
          </p:txBody>
        </p:sp>
      </p:grpSp>
      <p:sp>
        <p:nvSpPr>
          <p:cNvPr id="181" name="Google Shape;181;p26"/>
          <p:cNvSpPr txBox="1"/>
          <p:nvPr/>
        </p:nvSpPr>
        <p:spPr>
          <a:xfrm>
            <a:off x="2159249" y="3404270"/>
            <a:ext cx="12652861" cy="1476262"/>
          </a:xfrm>
          <a:prstGeom prst="rect">
            <a:avLst/>
          </a:prstGeom>
          <a:noFill/>
          <a:ln>
            <a:noFill/>
          </a:ln>
          <a:effectLst>
            <a:outerShdw blurRad="63500" rotWithShape="0" algn="ctr">
              <a:srgbClr val="000000">
                <a:alpha val="2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Он же глуповат. Чё все так на взводе?</a:t>
            </a:r>
            <a:endParaRPr sz="4000">
              <a:solidFill>
                <a:srgbClr val="FFFFFF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ИЛИ</a:t>
            </a:r>
            <a:endParaRPr sz="4000">
              <a:solidFill>
                <a:srgbClr val="FFFFFF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ИИ для чайников</a:t>
            </a:r>
            <a:endParaRPr sz="4000">
              <a:solidFill>
                <a:srgbClr val="FFFFF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82" name="Google Shape;182;p26">
            <a:hlinkClick r:id="rId4"/>
          </p:cNvPr>
          <p:cNvSpPr txBox="1"/>
          <p:nvPr/>
        </p:nvSpPr>
        <p:spPr>
          <a:xfrm>
            <a:off x="2159249" y="7380411"/>
            <a:ext cx="4896544" cy="56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global-system.ru</a:t>
            </a:r>
            <a:endParaRPr b="0" i="0" sz="2400" u="none" cap="none" strike="noStrike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183" name="Google Shape;18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9249" y="2094932"/>
            <a:ext cx="6676199" cy="10150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26"/>
          <p:cNvCxnSpPr/>
          <p:nvPr/>
        </p:nvCxnSpPr>
        <p:spPr>
          <a:xfrm>
            <a:off x="2162709" y="6968764"/>
            <a:ext cx="4771587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5"/>
          <p:cNvSpPr/>
          <p:nvPr/>
        </p:nvSpPr>
        <p:spPr>
          <a:xfrm>
            <a:off x="0" y="-1"/>
            <a:ext cx="17279938" cy="9720263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1" name="Google Shape;63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0686" y="-684485"/>
            <a:ext cx="18181310" cy="10873208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5"/>
          <p:cNvSpPr/>
          <p:nvPr/>
        </p:nvSpPr>
        <p:spPr>
          <a:xfrm>
            <a:off x="720125" y="4572099"/>
            <a:ext cx="15839690" cy="4320480"/>
          </a:xfrm>
          <a:prstGeom prst="roundRect">
            <a:avLst>
              <a:gd fmla="val 3995" name="adj"/>
            </a:avLst>
          </a:prstGeom>
          <a:solidFill>
            <a:schemeClr val="lt1"/>
          </a:solidFill>
          <a:ln>
            <a:noFill/>
          </a:ln>
          <a:effectLst>
            <a:outerShdw blurRad="25400" rotWithShape="0" algn="t" dir="5400000" dist="25400">
              <a:schemeClr val="dk1">
                <a:alpha val="10196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1"/>
              <a:buFont typeface="Calibri"/>
              <a:buNone/>
            </a:pPr>
            <a:r>
              <a:t/>
            </a:r>
            <a:endParaRPr b="0" i="0" spc="0" sz="255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5"/>
          <p:cNvSpPr/>
          <p:nvPr/>
        </p:nvSpPr>
        <p:spPr>
          <a:xfrm>
            <a:off x="11304178" y="6154766"/>
            <a:ext cx="5255636" cy="2521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global@global-system.ru</a:t>
            </a:r>
            <a:endParaRPr sz="2800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по вопросам приобретения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 </a:t>
            </a:r>
            <a:endParaRPr sz="2399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support@global-system.ru</a:t>
            </a:r>
            <a:endParaRPr sz="2800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по вопросам поддержки</a:t>
            </a:r>
            <a:endParaRPr/>
          </a:p>
        </p:txBody>
      </p:sp>
      <p:cxnSp>
        <p:nvCxnSpPr>
          <p:cNvPr id="634" name="Google Shape;634;p35"/>
          <p:cNvCxnSpPr/>
          <p:nvPr/>
        </p:nvCxnSpPr>
        <p:spPr>
          <a:xfrm>
            <a:off x="5975755" y="4572099"/>
            <a:ext cx="0" cy="4320480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35" name="Google Shape;635;p35"/>
          <p:cNvCxnSpPr/>
          <p:nvPr/>
        </p:nvCxnSpPr>
        <p:spPr>
          <a:xfrm>
            <a:off x="11304183" y="4572099"/>
            <a:ext cx="0" cy="4320480"/>
          </a:xfrm>
          <a:prstGeom prst="straightConnector1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36" name="Google Shape;636;p35"/>
          <p:cNvSpPr/>
          <p:nvPr/>
        </p:nvSpPr>
        <p:spPr>
          <a:xfrm>
            <a:off x="5975752" y="6154766"/>
            <a:ext cx="5328426" cy="2521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8(800) 505-08-35</a:t>
            </a:r>
            <a:endParaRPr sz="2800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бесплатный звонок из России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 </a:t>
            </a:r>
            <a:endParaRPr sz="2399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+7(812) 633-07-33</a:t>
            </a:r>
            <a:endParaRPr sz="2800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город Санкт-Петербург</a:t>
            </a:r>
            <a:endParaRPr/>
          </a:p>
        </p:txBody>
      </p:sp>
      <p:pic>
        <p:nvPicPr>
          <p:cNvPr id="637" name="Google Shape;63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9973" y="5148144"/>
            <a:ext cx="539984" cy="53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62004" y="5304140"/>
            <a:ext cx="539984" cy="38398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5"/>
          <p:cNvSpPr/>
          <p:nvPr/>
        </p:nvSpPr>
        <p:spPr>
          <a:xfrm>
            <a:off x="720124" y="6154766"/>
            <a:ext cx="5255628" cy="2521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global-system.ru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о Системе Global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99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 </a:t>
            </a:r>
            <a:endParaRPr sz="2399">
              <a:solidFill>
                <a:srgbClr val="0080B4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0080B4"/>
                </a:solidFill>
                <a:latin typeface="Geologica"/>
                <a:ea typeface="Geologica"/>
                <a:cs typeface="Geologica"/>
                <a:sym typeface="Geologica"/>
              </a:rPr>
              <a:t>global-eam.ru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о Системе Global-EAM</a:t>
            </a:r>
            <a:br>
              <a:rPr lang="ru-RU" sz="2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</a:br>
            <a:r>
              <a:rPr lang="ru-RU" sz="2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для ТОиР</a:t>
            </a:r>
            <a:endParaRPr/>
          </a:p>
        </p:txBody>
      </p:sp>
      <p:pic>
        <p:nvPicPr>
          <p:cNvPr id="640" name="Google Shape;640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77946" y="5200824"/>
            <a:ext cx="539984" cy="487304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35"/>
          <p:cNvSpPr txBox="1"/>
          <p:nvPr/>
        </p:nvSpPr>
        <p:spPr>
          <a:xfrm>
            <a:off x="720124" y="2476332"/>
            <a:ext cx="1583968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Российская ERP-система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FFFFFF"/>
                </a:solidFill>
                <a:latin typeface="Geologica"/>
                <a:ea typeface="Geologica"/>
                <a:cs typeface="Geologica"/>
                <a:sym typeface="Geologica"/>
              </a:rPr>
              <a:t>и бизнес-приложения для цифровизации бизнеса</a:t>
            </a:r>
            <a:endParaRPr/>
          </a:p>
        </p:txBody>
      </p:sp>
      <p:pic>
        <p:nvPicPr>
          <p:cNvPr id="642" name="Google Shape;642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3860" y="1306582"/>
            <a:ext cx="4532218" cy="689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«Он же глуповат. Чё все так на взводе?»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2070847"/>
            <a:ext cx="1188720" cy="978945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1088136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Все слышали оба лагеря: «ИИ заменит всех» и «он путает простые вещи». Оба правы — в разных условиях.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6108192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1965960"/>
            <a:ext cx="1188720" cy="118872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6473952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Одна и та же модель в чате без контекста и в настроенной рабочей среде — это два разных «сотрудника».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1494008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91848" y="1965960"/>
            <a:ext cx="924560" cy="118872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11859768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Сегодня не лекция про нейросети, а экскурсия: что такое агент, как мы с ним работаем, что есть вокруг.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Чат vs агент: как работает агент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9692640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TextBox 244"/>
          <p:cNvSpPr txBox="1"/>
          <p:nvPr/>
        </p:nvSpPr>
        <p:spPr>
          <a:xfrm>
            <a:off x="1133856" y="2011680"/>
            <a:ext cx="8869680" cy="6355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Большинство современных ИИ-агентов построены на LLM — больших языковых моделях. Модель умеет одно: по тексту продолжать текст. Всё остальное ей «пристраивают».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Чат:</a:t>
            </a: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 вы спросили — модель ответила. Дальше действуете вы: копируете, проверяете, вставляете.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Агент:</a:t>
            </a: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 модели дают инструменты (прочитать файл, выполнить команду, поискать в интернете, отправить запрос и т.д.). Модель сама решает, какой инструмент вызвать, видит результат и решает, что делать дальше.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Агентный цикл:</a:t>
            </a: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 получить задачу → изучить контекст → выбрать действие → вызвать инструмент → оценить результат → продолжить или завершить.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Почему результат агента скачет от блестящего до нелепого: он видит только то, что ему показали, и опирается на вероятности, а не на понимание. Не дали нужный файл — он уверенно додумает. Не дали способ проверить — не узнает, что ошибся.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Значит, результат определяет не только модель, но и контекст, инструменты, инструкции, права, проверки и т.д.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10744200" y="1600200"/>
            <a:ext cx="5815583" cy="7178040"/>
          </a:xfrm>
          <a:prstGeom prst="roundRect">
            <a:avLst>
              <a:gd name="adj" fmla="val 6000"/>
            </a:avLst>
          </a:prstGeom>
          <a:solidFill>
            <a:srgbClr val="EE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Oval 246"/>
          <p:cNvSpPr/>
          <p:nvPr/>
        </p:nvSpPr>
        <p:spPr>
          <a:xfrm>
            <a:off x="11183112" y="2720339"/>
            <a:ext cx="4937760" cy="4937760"/>
          </a:xfrm>
          <a:prstGeom prst="ellipse">
            <a:avLst/>
          </a:prstGeom>
          <a:noFill/>
          <a:ln w="38100">
            <a:solidFill>
              <a:srgbClr val="008FC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12280392" y="2240279"/>
            <a:ext cx="2743200" cy="9601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9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Получить задачу</a:t>
            </a:r>
          </a:p>
        </p:txBody>
      </p:sp>
      <p:sp>
        <p:nvSpPr>
          <p:cNvPr id="249" name="Oval 248"/>
          <p:cNvSpPr/>
          <p:nvPr/>
        </p:nvSpPr>
        <p:spPr>
          <a:xfrm>
            <a:off x="12051792" y="2011679"/>
            <a:ext cx="548640" cy="54864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1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4418504" y="3474719"/>
            <a:ext cx="2743200" cy="9601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9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Изучить контекст</a:t>
            </a:r>
          </a:p>
        </p:txBody>
      </p:sp>
      <p:sp>
        <p:nvSpPr>
          <p:cNvPr id="251" name="Oval 250"/>
          <p:cNvSpPr/>
          <p:nvPr/>
        </p:nvSpPr>
        <p:spPr>
          <a:xfrm>
            <a:off x="14189904" y="3246119"/>
            <a:ext cx="548640" cy="54864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2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14418504" y="5943599"/>
            <a:ext cx="2743200" cy="9601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9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Выбрать действие</a:t>
            </a:r>
          </a:p>
        </p:txBody>
      </p:sp>
      <p:sp>
        <p:nvSpPr>
          <p:cNvPr id="253" name="Oval 252"/>
          <p:cNvSpPr/>
          <p:nvPr/>
        </p:nvSpPr>
        <p:spPr>
          <a:xfrm>
            <a:off x="14189904" y="5714999"/>
            <a:ext cx="548640" cy="54864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3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12280392" y="7178040"/>
            <a:ext cx="2743200" cy="9601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9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Вызвать инструмент</a:t>
            </a:r>
          </a:p>
        </p:txBody>
      </p:sp>
      <p:sp>
        <p:nvSpPr>
          <p:cNvPr id="255" name="Oval 254"/>
          <p:cNvSpPr/>
          <p:nvPr/>
        </p:nvSpPr>
        <p:spPr>
          <a:xfrm>
            <a:off x="12051792" y="6949440"/>
            <a:ext cx="548640" cy="54864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4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10142279" y="5943600"/>
            <a:ext cx="2743200" cy="9601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9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Оценить результат</a:t>
            </a:r>
          </a:p>
        </p:txBody>
      </p:sp>
      <p:sp>
        <p:nvSpPr>
          <p:cNvPr id="257" name="Oval 256"/>
          <p:cNvSpPr/>
          <p:nvPr/>
        </p:nvSpPr>
        <p:spPr>
          <a:xfrm>
            <a:off x="9913679" y="5715000"/>
            <a:ext cx="548640" cy="54864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5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10142279" y="3474719"/>
            <a:ext cx="2743200" cy="9601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9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Продолжить или завершить</a:t>
            </a:r>
          </a:p>
        </p:txBody>
      </p:sp>
      <p:sp>
        <p:nvSpPr>
          <p:cNvPr id="259" name="Oval 258"/>
          <p:cNvSpPr/>
          <p:nvPr/>
        </p:nvSpPr>
        <p:spPr>
          <a:xfrm>
            <a:off x="9913679" y="3246119"/>
            <a:ext cx="548640" cy="54864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Контекстное окно: почему агент «забывает»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2110534"/>
            <a:ext cx="1188720" cy="899571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1088136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Каждая сессия начинается с чистого листа: модель не помнит прошлые разговоры, если ей их не подложили.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6108192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1974215"/>
            <a:ext cx="1188720" cy="117221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6473952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Всё, что агент прочитал, вывел или обсудил, занимает место в контекстном окне. Когда окно переполняется, старое сжимается или теряется.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1494008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59768" y="1982469"/>
            <a:ext cx="1188720" cy="115570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11859768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Поэтому важные правила хранят в файлах, которые подгружаются каждый раз, а большие задачи делят на части.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Модели поумнее и поглупее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1965960"/>
            <a:ext cx="822960" cy="82296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2185415" y="196596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У каждого разработчика есть семейства моделей: быстрые и дешёвые, сбалансированные, тяжёлые для сложных задач. Плюс поколения: новые версии выходят каждые несколько месяцев.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8801100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474" y="1965960"/>
            <a:ext cx="677731" cy="82296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10264140" y="196596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У многих моделей есть режим «подумать подольше» (режим рассуждения): точнее, но медленнее и дороже.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722376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856" y="5715000"/>
            <a:ext cx="731520" cy="82296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2185415" y="571500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Быстрая модель хороша для простых массовых действий (поиск по файлам, черновики и т.д.), тяжёлая — для планирования и сложных решений.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8801100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5832565"/>
            <a:ext cx="822960" cy="587828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10264140" y="571500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В агентной работе их часто смешивают: главный агент на сильной модели, помощники — на быстрых.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Какие ИИ используем мы</a:t>
            </a:r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722376" y="1600200"/>
            <a:ext cx="15837408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20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У нас есть список одобренных ИИ-инструментов, и основной инструмент разработки — Claude Code.</a:t>
            </a:r>
          </a:p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20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Различаем три разные вещи: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22376" y="7757159"/>
            <a:ext cx="15837408" cy="1112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Платная подписка не означает автоматически, что данные не используются для обучения и не хранятся. Это определяют условия конкретного тарифа и договора.</a:t>
            </a:r>
          </a:p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Строгое правило: не уверен, разрешён ли инструмент для этих данных, — не используй, спроси.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722376" y="2636520"/>
            <a:ext cx="5065776" cy="48463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7" name="Picture 24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2819399"/>
            <a:ext cx="822960" cy="822960"/>
          </a:xfrm>
          <a:prstGeom prst="rect">
            <a:avLst/>
          </a:prstGeom>
        </p:spPr>
      </p:pic>
      <p:sp>
        <p:nvSpPr>
          <p:cNvPr id="248" name="TextBox 247"/>
          <p:cNvSpPr txBox="1"/>
          <p:nvPr/>
        </p:nvSpPr>
        <p:spPr>
          <a:xfrm>
            <a:off x="2002536" y="2910840"/>
            <a:ext cx="351129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Оплата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96696" y="3688080"/>
            <a:ext cx="4517136" cy="3566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Мы платим за сервис.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108192" y="2636520"/>
            <a:ext cx="5065776" cy="48463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015342"/>
            <a:ext cx="822960" cy="431074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7388352" y="2910840"/>
            <a:ext cx="35112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Обучение на данных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382512" y="3688080"/>
            <a:ext cx="4517136" cy="3566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Используются ли наши диалоги для обучения моделей.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11494008" y="2636520"/>
            <a:ext cx="5065776" cy="48463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5" name="Picture 25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68328" y="2819399"/>
            <a:ext cx="822960" cy="822960"/>
          </a:xfrm>
          <a:prstGeom prst="rect">
            <a:avLst/>
          </a:prstGeom>
        </p:spPr>
      </p:pic>
      <p:sp>
        <p:nvSpPr>
          <p:cNvPr id="256" name="TextBox 255"/>
          <p:cNvSpPr txBox="1"/>
          <p:nvPr/>
        </p:nvSpPr>
        <p:spPr>
          <a:xfrm>
            <a:off x="12774168" y="2910840"/>
            <a:ext cx="35112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Обработка данных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1768328" y="3688080"/>
            <a:ext cx="4517136" cy="3566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Сколько хранятся запросы, кто у провайдера имеет к ним доступ, где они физически лежат.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Безопасность: что нельзя давать ИИ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1965960"/>
            <a:ext cx="822960" cy="82296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2185415" y="196596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Нельзя: имена и фамилии, почты, телефоны, идентификаторы, GUID/UUID и другие ID объектов, токены, ключи, пароли, реальные данные клиентов, чувствительные данные и т.д.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6108192" y="160020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1965960"/>
            <a:ext cx="640080" cy="82296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7571232" y="196596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Тестовые данные — тоже под запретом, если они скопированы из реальных или по ним можно восстановить человека.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1494008" y="160020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59768" y="2035225"/>
            <a:ext cx="822960" cy="684428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12957048" y="196596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Даже выдуманные «наугад» данные могут случайно совпасть с реальными: имя, телефон или номер договора окажутся чьими-то настоящими.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722376" y="534924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136" y="5787614"/>
            <a:ext cx="822960" cy="677731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2185415" y="571500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Не каждый GUID — персональные данные. Но ID связывает запись с конкретным человеком или объектом, поэтому безопасным по умолчанию его считать нельзя.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6108192" y="534924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7" name="Picture 25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952" y="5715000"/>
            <a:ext cx="822960" cy="822960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7571232" y="571500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Что делать: синтетические или обезличенные данные, замена на заглушки («Клиент_1», «user@example.com»), проверка, разрешён ли инструмент для данного типа информации.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11494008" y="534924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0" name="Picture 25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51208" y="5715000"/>
            <a:ext cx="640080" cy="822960"/>
          </a:xfrm>
          <a:prstGeom prst="rect">
            <a:avLst/>
          </a:prstGeom>
        </p:spPr>
      </p:pic>
      <p:sp>
        <p:nvSpPr>
          <p:cNvPr id="261" name="TextBox 260"/>
          <p:cNvSpPr txBox="1"/>
          <p:nvPr/>
        </p:nvSpPr>
        <p:spPr>
          <a:xfrm>
            <a:off x="12957048" y="571500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Контекст: в 2025–2026 годах ИИ-агенты стали отдельной целью атак — через подмешанные в данные инструкции, вредоносные плагины и цепочки поставок. Подробно — в отдельном докладе.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Общее ИИ-репо и системные документы</a:t>
            </a:r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722376" y="1600200"/>
            <a:ext cx="15837408" cy="115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20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У нас есть общее ИИ-репо; рабочие проекты клонируются в его папку projects. Наверху — общие правила для всех, внутри проекта — правила конкретного проекта.</a:t>
            </a:r>
          </a:p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20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Что лежит в проекте: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22376" y="8412480"/>
            <a:ext cx="15837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Общие инструкции отвечают на вопрос «как мы работаем всегда», проектные — «как устроен именно этот проект».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722376" y="2941320"/>
            <a:ext cx="5065776" cy="2438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7" name="Picture 24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3285249"/>
            <a:ext cx="822960" cy="622780"/>
          </a:xfrm>
          <a:prstGeom prst="rect">
            <a:avLst/>
          </a:prstGeom>
        </p:spPr>
      </p:pic>
      <p:sp>
        <p:nvSpPr>
          <p:cNvPr id="248" name="TextBox 247"/>
          <p:cNvSpPr txBox="1"/>
          <p:nvPr/>
        </p:nvSpPr>
        <p:spPr>
          <a:xfrm>
            <a:off x="2002536" y="3215640"/>
            <a:ext cx="3511296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Файл локальных инструкций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96696" y="4114800"/>
            <a:ext cx="4517136" cy="1036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(CLAUDE.md, AGENTS.md и т.д.) — «памятка» для агента: как устроен проект, как собирать и проверять, что делать нельзя.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108192" y="2941320"/>
            <a:ext cx="5065776" cy="2438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190875"/>
            <a:ext cx="822960" cy="81153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7388352" y="3215640"/>
            <a:ext cx="3511295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Rules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382512" y="4114800"/>
            <a:ext cx="4517136" cy="1036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Правила по темам; можно привязать к типам файлов, тогда они подгружаются только при работе с ними.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11494008" y="2941320"/>
            <a:ext cx="5065776" cy="2438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5" name="Picture 25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68328" y="3196590"/>
            <a:ext cx="822960" cy="800100"/>
          </a:xfrm>
          <a:prstGeom prst="rect">
            <a:avLst/>
          </a:prstGeom>
        </p:spPr>
      </p:pic>
      <p:sp>
        <p:nvSpPr>
          <p:cNvPr id="256" name="TextBox 255"/>
          <p:cNvSpPr txBox="1"/>
          <p:nvPr/>
        </p:nvSpPr>
        <p:spPr>
          <a:xfrm>
            <a:off x="12774168" y="3215640"/>
            <a:ext cx="3511295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Skills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1768328" y="4114800"/>
            <a:ext cx="4517136" cy="1036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«инструкции по ремеслу»: папка с описанием, как делать конкретный тип задач (например, «как писать миграцию»), плюс шаблоны и скрипты.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722376" y="5699759"/>
            <a:ext cx="5065776" cy="2438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9" name="Picture 25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696" y="5943599"/>
            <a:ext cx="822960" cy="822960"/>
          </a:xfrm>
          <a:prstGeom prst="rect">
            <a:avLst/>
          </a:prstGeom>
        </p:spPr>
      </p:pic>
      <p:sp>
        <p:nvSpPr>
          <p:cNvPr id="260" name="TextBox 259"/>
          <p:cNvSpPr txBox="1"/>
          <p:nvPr/>
        </p:nvSpPr>
        <p:spPr>
          <a:xfrm>
            <a:off x="2002536" y="5974079"/>
            <a:ext cx="3511296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Hooks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996696" y="6873239"/>
            <a:ext cx="4517136" cy="1036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Автоматические действия на событиях: перед запуском команды, после правки файла, в конце работы и т.д.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6108192" y="5699759"/>
            <a:ext cx="5065776" cy="2438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3" name="Picture 26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5126" y="5943599"/>
            <a:ext cx="677731" cy="822960"/>
          </a:xfrm>
          <a:prstGeom prst="rect">
            <a:avLst/>
          </a:prstGeom>
        </p:spPr>
      </p:pic>
      <p:sp>
        <p:nvSpPr>
          <p:cNvPr id="264" name="TextBox 263"/>
          <p:cNvSpPr txBox="1"/>
          <p:nvPr/>
        </p:nvSpPr>
        <p:spPr>
          <a:xfrm>
            <a:off x="7388352" y="5974079"/>
            <a:ext cx="3511295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Templates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6382512" y="6873239"/>
            <a:ext cx="4517136" cy="1036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Шаблоны документов (план, отчёт, описание задачи и т.д.). Это наша договорённость, а не отдельный механизм агентных сред.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11494008" y="5699759"/>
            <a:ext cx="5065776" cy="2438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7" name="Picture 26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14048" y="5943599"/>
            <a:ext cx="731520" cy="822960"/>
          </a:xfrm>
          <a:prstGeom prst="rect">
            <a:avLst/>
          </a:prstGeom>
        </p:spPr>
      </p:pic>
      <p:sp>
        <p:nvSpPr>
          <p:cNvPr id="268" name="TextBox 267"/>
          <p:cNvSpPr txBox="1"/>
          <p:nvPr/>
        </p:nvSpPr>
        <p:spPr>
          <a:xfrm>
            <a:off x="12774168" y="5974079"/>
            <a:ext cx="3511295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Sources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1768328" y="6873239"/>
            <a:ext cx="4517136" cy="1036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Справочная информация: таблицы, каталоги, источники, принятые обоснования и т.д.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Что и когда срабатывает</a:t>
            </a:r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722376" y="1600200"/>
            <a:ext cx="15837408" cy="472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20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Четыре способа «срабатывания» в агентных средах (на примере Claude Code):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22376" y="7101840"/>
            <a:ext cx="15837408" cy="1767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Подвох: разные агенты ищут разные имена файла (CLAUDE.md, AGENTS.md, GEMINI.md и т.д.). Не нашёл свой — инструкций для него нет, их подключают импортом.</a:t>
            </a:r>
          </a:p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Длинные и противоречивые инструкции выполняются хуже. Документация рекомендует держать файл локальных инструкций до ~200 строк и писать проверяемо: не «пиши аккуратно», а «отступ — 2 пробела».</a:t>
            </a:r>
          </a:p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Как проверить: в Claude Code команды /context и /memory показывают, какие файлы реально загружены.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722376" y="2255520"/>
            <a:ext cx="3719322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7" name="Picture 24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2952205"/>
            <a:ext cx="822960" cy="587828"/>
          </a:xfrm>
          <a:prstGeom prst="rect">
            <a:avLst/>
          </a:prstGeom>
        </p:spPr>
      </p:pic>
      <p:sp>
        <p:nvSpPr>
          <p:cNvPr id="248" name="TextBox 247"/>
          <p:cNvSpPr txBox="1"/>
          <p:nvPr/>
        </p:nvSpPr>
        <p:spPr>
          <a:xfrm>
            <a:off x="2002536" y="2529840"/>
            <a:ext cx="2164841" cy="1432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Всегда, в начале сессии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96696" y="4099560"/>
            <a:ext cx="3170682" cy="2499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Файлы локальных инструкций из текущей папки и выше, правила без привязки к файлам.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4761738" y="2255520"/>
            <a:ext cx="3719322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6057" y="2834640"/>
            <a:ext cx="822960" cy="82296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6041898" y="2529840"/>
            <a:ext cx="2164841" cy="1432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Когда агент трогает определённые файлы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036057" y="4099560"/>
            <a:ext cx="3170682" cy="2499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Файлы локальных инструкций во вложенных папках, правила с привязкой к путям.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8801100" y="2255520"/>
            <a:ext cx="3719322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5" name="Picture 25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5420" y="3030582"/>
            <a:ext cx="822960" cy="431074"/>
          </a:xfrm>
          <a:prstGeom prst="rect">
            <a:avLst/>
          </a:prstGeom>
        </p:spPr>
      </p:pic>
      <p:sp>
        <p:nvSpPr>
          <p:cNvPr id="256" name="TextBox 255"/>
          <p:cNvSpPr txBox="1"/>
          <p:nvPr/>
        </p:nvSpPr>
        <p:spPr>
          <a:xfrm>
            <a:off x="10081260" y="2529840"/>
            <a:ext cx="2164841" cy="1432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Когда задача похожа на описание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9075420" y="4099560"/>
            <a:ext cx="3170682" cy="2499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Skill. Агент всегда видит только название и краткое описание навыка, а полный текст подгружает, когда решит, что он нужен. Плохое описание — навык не сработает.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12840461" y="2255520"/>
            <a:ext cx="3719322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9" name="Picture 25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14781" y="2834640"/>
            <a:ext cx="822960" cy="822960"/>
          </a:xfrm>
          <a:prstGeom prst="rect">
            <a:avLst/>
          </a:prstGeom>
        </p:spPr>
      </p:pic>
      <p:sp>
        <p:nvSpPr>
          <p:cNvPr id="260" name="TextBox 259"/>
          <p:cNvSpPr txBox="1"/>
          <p:nvPr/>
        </p:nvSpPr>
        <p:spPr>
          <a:xfrm>
            <a:off x="14120621" y="2529840"/>
            <a:ext cx="2164841" cy="1432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На событие, всегда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3114781" y="4099560"/>
            <a:ext cx="3170682" cy="2499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Hook. Это программа, а не просьба к модели: может, например, запретить опасную команду.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MCP и плагины: как агенту дают новые инструменты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1965960"/>
            <a:ext cx="822960" cy="82296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2185415" y="196596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Без инструментов модель только пишет текст. Каждый инструмент — новое действие: прочитать задачу из трекера, сделать запрос к базе, открыть страницу и т.д.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8801100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0" y="1965960"/>
            <a:ext cx="640080" cy="82296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10264140" y="196596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MCP позволяет подключить такой инструмент один раз — и им смогут пользоваться разные агенты и приложения.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722376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6" y="5784265"/>
            <a:ext cx="822960" cy="684428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2185415" y="571500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Плагин упаковывает в одну установку навыки, команды, хуки и MCP-подключения.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8801100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5787614"/>
            <a:ext cx="822960" cy="677731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10264140" y="571500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Каждое подключение — это ещё и новая дверь: подключать только из проверенных источников.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Harness — упряжь для модели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9692640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TextBox 244"/>
          <p:cNvSpPr txBox="1"/>
          <p:nvPr/>
        </p:nvSpPr>
        <p:spPr>
          <a:xfrm>
            <a:off x="1133856" y="2011680"/>
            <a:ext cx="8869680" cy="6355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Harness (англ. «упряжь») — образ точный: сила у лошади, но куда и как она тянет, определяет упряжь.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Что входит в наш harness: инструкции, контекст проекта, инструменты, Skills, Hooks, Rules, Templates, ограничения и разрешения, рабочие процессы, планирование, критерии готовности, проверки результата и т.д.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Формула «Agent = Model + Harness» широко используется в отрасли (например, у LangChain), но единого стандартного определения нет. Наша модель — практическая, а не официальная.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Почему это важно: модель меняется раз в несколько месяцев и выбирается из готового. Harness — это то, что мы строим сами, и он часто даёт больший прирост, чем переход на более дорогую модель.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Anthropic в инженерных статьях про долгие задачи описывает тот же принцип: агенту нужны файл прогресса, разбиение на шаги и самопроверка, иначе каждая новая сессия начинает с нуля.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10744200" y="1600200"/>
            <a:ext cx="5815583" cy="7178040"/>
          </a:xfrm>
          <a:prstGeom prst="roundRect">
            <a:avLst>
              <a:gd name="adj" fmla="val 6000"/>
            </a:avLst>
          </a:prstGeom>
          <a:solidFill>
            <a:srgbClr val="EE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7" name="Connector 246"/>
          <p:cNvCxnSpPr/>
          <p:nvPr/>
        </p:nvCxnSpPr>
        <p:spPr>
          <a:xfrm flipV="1">
            <a:off x="13651992" y="2674620"/>
            <a:ext cx="0" cy="2514600"/>
          </a:xfrm>
          <a:prstGeom prst="line">
            <a:avLst/>
          </a:prstGeom>
          <a:ln w="25400">
            <a:solidFill>
              <a:srgbClr val="008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13651992" y="3931920"/>
            <a:ext cx="2177707" cy="1257300"/>
          </a:xfrm>
          <a:prstGeom prst="line">
            <a:avLst/>
          </a:prstGeom>
          <a:ln w="25400">
            <a:solidFill>
              <a:srgbClr val="008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3651992" y="5189220"/>
            <a:ext cx="2177707" cy="1257299"/>
          </a:xfrm>
          <a:prstGeom prst="line">
            <a:avLst/>
          </a:prstGeom>
          <a:ln w="25400">
            <a:solidFill>
              <a:srgbClr val="008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3651992" y="5189220"/>
            <a:ext cx="0" cy="2514600"/>
          </a:xfrm>
          <a:prstGeom prst="line">
            <a:avLst/>
          </a:prstGeom>
          <a:ln w="25400">
            <a:solidFill>
              <a:srgbClr val="008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H="1">
            <a:off x="11474284" y="5189220"/>
            <a:ext cx="2177708" cy="1257300"/>
          </a:xfrm>
          <a:prstGeom prst="line">
            <a:avLst/>
          </a:prstGeom>
          <a:ln w="25400">
            <a:solidFill>
              <a:srgbClr val="008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 flipV="1">
            <a:off x="11474284" y="3931920"/>
            <a:ext cx="2177708" cy="1257300"/>
          </a:xfrm>
          <a:prstGeom prst="line">
            <a:avLst/>
          </a:prstGeom>
          <a:ln w="25400">
            <a:solidFill>
              <a:srgbClr val="008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Oval 252"/>
          <p:cNvSpPr/>
          <p:nvPr/>
        </p:nvSpPr>
        <p:spPr>
          <a:xfrm>
            <a:off x="12646152" y="4183379"/>
            <a:ext cx="2011680" cy="2011680"/>
          </a:xfrm>
          <a:prstGeom prst="ellipse">
            <a:avLst/>
          </a:prstGeom>
          <a:solidFill>
            <a:srgbClr val="002147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Модель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12417552" y="2240279"/>
            <a:ext cx="246888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Контекст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14595259" y="3497579"/>
            <a:ext cx="246888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Инструкции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14595259" y="6012179"/>
            <a:ext cx="246888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Инструменты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12417552" y="7269480"/>
            <a:ext cx="246888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Ограничения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10239844" y="6012180"/>
            <a:ext cx="246888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Процессы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10239844" y="3497579"/>
            <a:ext cx="246888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Проверки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Песочница и права доступа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1965960"/>
            <a:ext cx="822960" cy="82296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2185415" y="196596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У агентных сред есть режимы разрешений: спрашивать перед каждым действием, разрешать безопасное, запрещать опасное.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8801100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0" y="1965960"/>
            <a:ext cx="640080" cy="82296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10264140" y="196596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Песочница — изолированное окружение, где агент не дотянется до лишних файлов и сети.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722376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6" y="5815089"/>
            <a:ext cx="822960" cy="62278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2185415" y="571500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Рискованные действия (удаление, отправка, публикация, изменение продакшена и т.д.) — только после подтверждения человеком.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8801100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5720715"/>
            <a:ext cx="822960" cy="811530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10264140" y="571500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Обратная сторона: если агент спрашивает разрешения на каждый чих, люди начинают всё одобрять не читая. Права надо настраивать, а не просто включать.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Сабагенты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1977390"/>
            <a:ext cx="822960" cy="80010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2185415" y="196596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Сабагент — отдельный экземпляр агента со своим контекстным окном, своими инструкциями и набором инструментов. Он делает поручение и возвращает главному только итог.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6108192" y="160020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1965960"/>
            <a:ext cx="822960" cy="82296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7571232" y="196596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Сабагенты есть в большинстве агентных сред: готовые (например, для поиска по коду и для планирования) и свои.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1494008" y="160020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2382" y="1965960"/>
            <a:ext cx="677731" cy="82296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12957048" y="196596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Агенты разных компаний могут запускать друг друга как сабагентов: один агент поручает проверку агенту другого разработчика.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722376" y="534924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856" y="5715000"/>
            <a:ext cx="731520" cy="822960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2185415" y="571500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Что можно параллелить: независимые исследования, проверку разных частей и т.д. Что нельзя: шаги, где следующий зависит от результата предыдущего.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6108192" y="534924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7" name="Picture 25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952" y="5832565"/>
            <a:ext cx="822960" cy="587828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7571232" y="571500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Цена: больше токенов и времени, риск противоречивых или дублирующихся результатов, часть контекста теряется при передаче.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11494008" y="534924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0" name="Picture 25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59768" y="5715000"/>
            <a:ext cx="822960" cy="822960"/>
          </a:xfrm>
          <a:prstGeom prst="rect">
            <a:avLst/>
          </a:prstGeom>
        </p:spPr>
      </p:pic>
      <p:sp>
        <p:nvSpPr>
          <p:cNvPr id="261" name="TextBox 260"/>
          <p:cNvSpPr txBox="1"/>
          <p:nvPr/>
        </p:nvSpPr>
        <p:spPr>
          <a:xfrm>
            <a:off x="12957048" y="5715000"/>
            <a:ext cx="323697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Больше агентов — не всегда лучше. Для простой задачи один агент быстрее и дешевле.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Наш подход: ПЛАНЫ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2838297" cy="504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Oval 244"/>
          <p:cNvSpPr/>
          <p:nvPr/>
        </p:nvSpPr>
        <p:spPr>
          <a:xfrm>
            <a:off x="950976" y="1828800"/>
            <a:ext cx="457200" cy="45720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545336" y="1828800"/>
            <a:ext cx="1786737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Разведчик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50976" y="2667000"/>
            <a:ext cx="2381097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0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Изучает репозиторий, существующий код, ограничения и материалы. Без разведки план строится на догадках.</a:t>
            </a:r>
          </a:p>
        </p:txBody>
      </p:sp>
      <p:sp>
        <p:nvSpPr>
          <p:cNvPr id="248" name="Right Arrow 247"/>
          <p:cNvSpPr/>
          <p:nvPr/>
        </p:nvSpPr>
        <p:spPr>
          <a:xfrm>
            <a:off x="3624681" y="3957828"/>
            <a:ext cx="283464" cy="329184"/>
          </a:xfrm>
          <a:prstGeom prst="rightArrow">
            <a:avLst/>
          </a:prstGeom>
          <a:solidFill>
            <a:srgbClr val="F10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3972153" y="1600200"/>
            <a:ext cx="2838297" cy="504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Oval 249"/>
          <p:cNvSpPr/>
          <p:nvPr/>
        </p:nvSpPr>
        <p:spPr>
          <a:xfrm>
            <a:off x="4200753" y="1828800"/>
            <a:ext cx="457200" cy="45720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2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4795113" y="1828800"/>
            <a:ext cx="1786737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План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200753" y="2667000"/>
            <a:ext cx="2381097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0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Проектный документ: что делаем, по шагам, какие файлы трогаем, как проверяем, где остановиться и спросить человека.</a:t>
            </a:r>
          </a:p>
        </p:txBody>
      </p:sp>
      <p:sp>
        <p:nvSpPr>
          <p:cNvPr id="253" name="Right Arrow 252"/>
          <p:cNvSpPr/>
          <p:nvPr/>
        </p:nvSpPr>
        <p:spPr>
          <a:xfrm>
            <a:off x="6874459" y="3957828"/>
            <a:ext cx="283464" cy="329184"/>
          </a:xfrm>
          <a:prstGeom prst="rightArrow">
            <a:avLst/>
          </a:prstGeom>
          <a:solidFill>
            <a:srgbClr val="F10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7221931" y="1600200"/>
            <a:ext cx="2838297" cy="504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Oval 254"/>
          <p:cNvSpPr/>
          <p:nvPr/>
        </p:nvSpPr>
        <p:spPr>
          <a:xfrm>
            <a:off x="7450531" y="1828800"/>
            <a:ext cx="457200" cy="45720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3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8044891" y="1828800"/>
            <a:ext cx="1786737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Проверяльщик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450531" y="2667000"/>
            <a:ext cx="2381097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0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Отдельный агент со свежим взглядом — ищет в плане пропущенные ограничения и противоречия. Автор плана свои ошибки видит хуже.</a:t>
            </a:r>
          </a:p>
        </p:txBody>
      </p:sp>
      <p:sp>
        <p:nvSpPr>
          <p:cNvPr id="258" name="Right Arrow 257"/>
          <p:cNvSpPr/>
          <p:nvPr/>
        </p:nvSpPr>
        <p:spPr>
          <a:xfrm>
            <a:off x="10124236" y="3957828"/>
            <a:ext cx="283464" cy="329184"/>
          </a:xfrm>
          <a:prstGeom prst="rightArrow">
            <a:avLst/>
          </a:prstGeom>
          <a:solidFill>
            <a:srgbClr val="F10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ounded Rectangle 258"/>
          <p:cNvSpPr/>
          <p:nvPr/>
        </p:nvSpPr>
        <p:spPr>
          <a:xfrm>
            <a:off x="10471708" y="1600200"/>
            <a:ext cx="2838297" cy="504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Oval 259"/>
          <p:cNvSpPr/>
          <p:nvPr/>
        </p:nvSpPr>
        <p:spPr>
          <a:xfrm>
            <a:off x="10700308" y="1828800"/>
            <a:ext cx="457200" cy="45720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294668" y="1828800"/>
            <a:ext cx="1786737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Исполнитель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700308" y="2667000"/>
            <a:ext cx="2381097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0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Идёт по плану и отмечает выполненные шаги в документе — следующая сессия знает, где продолжить.</a:t>
            </a:r>
          </a:p>
        </p:txBody>
      </p:sp>
      <p:sp>
        <p:nvSpPr>
          <p:cNvPr id="263" name="Right Arrow 262"/>
          <p:cNvSpPr/>
          <p:nvPr/>
        </p:nvSpPr>
        <p:spPr>
          <a:xfrm>
            <a:off x="13374014" y="3957828"/>
            <a:ext cx="283464" cy="329184"/>
          </a:xfrm>
          <a:prstGeom prst="rightArrow">
            <a:avLst/>
          </a:prstGeom>
          <a:solidFill>
            <a:srgbClr val="F10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ounded Rectangle 263"/>
          <p:cNvSpPr/>
          <p:nvPr/>
        </p:nvSpPr>
        <p:spPr>
          <a:xfrm>
            <a:off x="13721486" y="1600200"/>
            <a:ext cx="2838297" cy="504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Oval 264"/>
          <p:cNvSpPr/>
          <p:nvPr/>
        </p:nvSpPr>
        <p:spPr>
          <a:xfrm>
            <a:off x="13950086" y="1828800"/>
            <a:ext cx="457200" cy="45720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5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4544446" y="1828800"/>
            <a:ext cx="1786737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Проверка результата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3950086" y="2667000"/>
            <a:ext cx="2381097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0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 заранее заданным критериям готовности: тесты прошли, проверочный запрос вернул ожидаемое, пункты чек-листа закрыты.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722376" y="6918960"/>
            <a:ext cx="15837408" cy="1767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Предохранители: лимит итераций; правило «план не переписывать без новой информации»; обязательная остановка и вопрос человеку перед рискованными изменениями.</a:t>
            </a:r>
          </a:p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Это не гарантия корректности и не полная автономность. Это способ сделать ошибки видимыми раньше.</a:t>
            </a:r>
          </a:p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Подход созвучен отраслевым практикам: у Anthropic описана схема «планировщик — исполнитель — оценщик», есть методологии spec-driven development. Наш вариант — внутренняя договорённость, а не стандарт.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Живая демонстрация ПЛАНА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9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Внешний мир: модели, агрегаторы, режимы, закрытые системы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1979022"/>
            <a:ext cx="822960" cy="431074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2002536" y="1874519"/>
            <a:ext cx="620420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Модели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96696" y="2651760"/>
            <a:ext cx="7210044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Бывают быстрые и тяжёлые, разных поколений и с режимами рассуждения; выбор — компромисс качества, скорости, цены и политики данных.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8801100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9" name="Picture 2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5420" y="1783079"/>
            <a:ext cx="822960" cy="822960"/>
          </a:xfrm>
          <a:prstGeom prst="rect">
            <a:avLst/>
          </a:prstGeom>
        </p:spPr>
      </p:pic>
      <p:sp>
        <p:nvSpPr>
          <p:cNvPr id="250" name="TextBox 249"/>
          <p:cNvSpPr txBox="1"/>
          <p:nvPr/>
        </p:nvSpPr>
        <p:spPr>
          <a:xfrm>
            <a:off x="10081260" y="1874519"/>
            <a:ext cx="620420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Агрегаторы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9075420" y="2651760"/>
            <a:ext cx="7210044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(например, OpenRouter) дают один вход и один счёт к сотням моделей разных компаний и умеют переключаться на запасную модель, если основная недоступна. Но запрос всё равно обрабатывает конкретный провайдер модели, поэтому агрегатор — не «самый безопасный способ», а ещё одно звено, условия которого надо проверить.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722376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3" name="Picture 25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" y="5532120"/>
            <a:ext cx="822960" cy="822960"/>
          </a:xfrm>
          <a:prstGeom prst="rect">
            <a:avLst/>
          </a:prstGeom>
        </p:spPr>
      </p:pic>
      <p:sp>
        <p:nvSpPr>
          <p:cNvPr id="254" name="TextBox 253"/>
          <p:cNvSpPr txBox="1"/>
          <p:nvPr/>
        </p:nvSpPr>
        <p:spPr>
          <a:xfrm>
            <a:off x="2002536" y="5623559"/>
            <a:ext cx="620420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Режимы работы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96696" y="6400800"/>
            <a:ext cx="7210044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Обычный чат, проекты с долговременным контекстом, артефакты и документы, работа с кодом и репозиторием, агентный режим с инструментами, подключение плагинов и интеграций, фоновые и запланированные задачи и т.д. Режимы пересекаются: один продукт часто умеет почти всё.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8801100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7" name="Picture 25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5532120"/>
            <a:ext cx="640080" cy="822960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10081260" y="5623559"/>
            <a:ext cx="620420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Закрытые системы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9075420" y="6400800"/>
            <a:ext cx="7210044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Например Алиса AI от Яндекса, хорошо работают внутри своей экосистемы: в 2026 году Яндекс запустил платформу агентов, начав со своих сервисов (Такси, Лавка). Расширение идёт через платформу компании и её партнёров, а не через подключение ваших собственных инструментов, как в агентных средах для разработки.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Режимы работы с ИИ подробно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1913305"/>
            <a:ext cx="822960" cy="684428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2002536" y="1874519"/>
            <a:ext cx="2164841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Чат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96696" y="2773679"/>
            <a:ext cx="3170682" cy="2026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Разовый вопрос-ответ; контекст живёт, пока открыт диалог.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4761738" y="160020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9" name="Picture 2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6057" y="1916654"/>
            <a:ext cx="822960" cy="677731"/>
          </a:xfrm>
          <a:prstGeom prst="rect">
            <a:avLst/>
          </a:prstGeom>
        </p:spPr>
      </p:pic>
      <p:sp>
        <p:nvSpPr>
          <p:cNvPr id="250" name="TextBox 249"/>
          <p:cNvSpPr txBox="1"/>
          <p:nvPr/>
        </p:nvSpPr>
        <p:spPr>
          <a:xfrm>
            <a:off x="6041898" y="1874519"/>
            <a:ext cx="2164841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Проекты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5036057" y="2773679"/>
            <a:ext cx="3170682" cy="2026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Постоянные инструкции и файлы, доступные во всех диалогах проекта.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8801100" y="160020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3" name="Picture 25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5420" y="1844040"/>
            <a:ext cx="822960" cy="822960"/>
          </a:xfrm>
          <a:prstGeom prst="rect">
            <a:avLst/>
          </a:prstGeom>
        </p:spPr>
      </p:pic>
      <p:sp>
        <p:nvSpPr>
          <p:cNvPr id="254" name="TextBox 253"/>
          <p:cNvSpPr txBox="1"/>
          <p:nvPr/>
        </p:nvSpPr>
        <p:spPr>
          <a:xfrm>
            <a:off x="10081260" y="1874519"/>
            <a:ext cx="2164841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Артефакты и документы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075420" y="2773679"/>
            <a:ext cx="3170682" cy="2026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Результат, который можно сохранить, править и делиться, а не просто прочитать в ленте.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12840461" y="160020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7" name="Picture 25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06221" y="1844040"/>
            <a:ext cx="640080" cy="822960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14120621" y="1874519"/>
            <a:ext cx="2164841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Работа с кодом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3114781" y="2773679"/>
            <a:ext cx="3170682" cy="2026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ИИ видит репозиторий, а не вставленный кусок.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722376" y="534924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1" name="Picture 26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696" y="5693169"/>
            <a:ext cx="822960" cy="622780"/>
          </a:xfrm>
          <a:prstGeom prst="rect">
            <a:avLst/>
          </a:prstGeom>
        </p:spPr>
      </p:pic>
      <p:sp>
        <p:nvSpPr>
          <p:cNvPr id="262" name="TextBox 261"/>
          <p:cNvSpPr txBox="1"/>
          <p:nvPr/>
        </p:nvSpPr>
        <p:spPr>
          <a:xfrm>
            <a:off x="2002536" y="5623559"/>
            <a:ext cx="2164841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Агентный режим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96696" y="6522720"/>
            <a:ext cx="3170682" cy="2026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Сам вызывает инструменты и выполняет многошаговую работу.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4761738" y="534924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5" name="Picture 26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6057" y="5598794"/>
            <a:ext cx="822960" cy="811530"/>
          </a:xfrm>
          <a:prstGeom prst="rect">
            <a:avLst/>
          </a:prstGeom>
        </p:spPr>
      </p:pic>
      <p:sp>
        <p:nvSpPr>
          <p:cNvPr id="266" name="TextBox 265"/>
          <p:cNvSpPr txBox="1"/>
          <p:nvPr/>
        </p:nvSpPr>
        <p:spPr>
          <a:xfrm>
            <a:off x="6041898" y="5623559"/>
            <a:ext cx="2164841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Плагины и интеграции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5036057" y="6522720"/>
            <a:ext cx="3170682" cy="2026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Подключение почты, трекеров, документов и т.д.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8801100" y="534924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9" name="Picture 26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5420" y="5604510"/>
            <a:ext cx="822960" cy="800100"/>
          </a:xfrm>
          <a:prstGeom prst="rect">
            <a:avLst/>
          </a:prstGeom>
        </p:spPr>
      </p:pic>
      <p:sp>
        <p:nvSpPr>
          <p:cNvPr id="270" name="TextBox 269"/>
          <p:cNvSpPr txBox="1"/>
          <p:nvPr/>
        </p:nvSpPr>
        <p:spPr>
          <a:xfrm>
            <a:off x="10081260" y="5623559"/>
            <a:ext cx="2164841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Фон и расписание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075420" y="6522720"/>
            <a:ext cx="3170682" cy="2026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Задача выполняется, пока вас нет, или регулярно.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Агрегаторы на примере OpenRouter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1965960"/>
            <a:ext cx="822960" cy="82296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2185415" y="196596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Один API и один ключ к сотням моделей от десятков провайдеров; совместимость с распространённым форматом запросов.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8801100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474" y="1965960"/>
            <a:ext cx="677731" cy="82296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10264140" y="196596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Маршрутизация: выбор провайдера по цене, скорости, доступности; автоматический переход на запасную модель.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722376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856" y="5715000"/>
            <a:ext cx="731520" cy="82296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2185415" y="571500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Настройки данных: можно запретить провайдеров, собирающих данные, и потребовать режим нулевого хранения (Zero Data Retention), но гарантия в итоге зависит от конечного провайдера.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8801100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5832565"/>
            <a:ext cx="822960" cy="587828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10264140" y="571500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Для организации это ещё один поставщик, которого нужно согласовать.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Закрытые ИИ на примере Алисы AI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1965960"/>
            <a:ext cx="1188720" cy="118872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1088136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Различаем четыре вещи: закрытость платформы, наличие API, подключение инструментов, возможность расширить своими силами.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6108192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2248988"/>
            <a:ext cx="1188720" cy="622662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6473952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У Яндекса модели доступны разработчикам через API Yandex Cloud — это отдельный от чата Алисы AI путь.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1494008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59768" y="1965960"/>
            <a:ext cx="1188720" cy="118872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11859768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Агенты внутри Алисы AI пока создаёт сам Яндекс; внешним компаниям доступ обещан до конца 2026 года.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9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Надстройки: оркестраторы, спецификации, автоциклы, панели</a:t>
            </a:r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722376" y="8122920"/>
            <a:ext cx="1583740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Где ещё живут агенты: терминал, редакторы кода и IDE, веб-интерфейсы, Obsidian и другие инструменты для Markdown-заметок (через плагины) и т.д.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722376" y="1600200"/>
            <a:ext cx="7758683" cy="29641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6" name="Picture 2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1783079"/>
            <a:ext cx="822960" cy="822960"/>
          </a:xfrm>
          <a:prstGeom prst="rect">
            <a:avLst/>
          </a:prstGeom>
        </p:spPr>
      </p:pic>
      <p:sp>
        <p:nvSpPr>
          <p:cNvPr id="247" name="TextBox 246"/>
          <p:cNvSpPr txBox="1"/>
          <p:nvPr/>
        </p:nvSpPr>
        <p:spPr>
          <a:xfrm>
            <a:off x="2002536" y="1874519"/>
            <a:ext cx="620420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Оркестраторы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96696" y="2651760"/>
            <a:ext cx="7210044" cy="1684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Запускают много агентов параллельно, изолируют их работу друг от друга и следят за ходом. Примеры: агентные команды в самом Claude Code, Claude Squad, Conductor и т.д. Рынок нестабилен: например, автор популярного Vibe Kanban в 2026 году прекратил его поддержку.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8801100" y="1600200"/>
            <a:ext cx="7758683" cy="29641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0" name="Picture 2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6860" y="1783079"/>
            <a:ext cx="640080" cy="822960"/>
          </a:xfrm>
          <a:prstGeom prst="rect">
            <a:avLst/>
          </a:prstGeom>
        </p:spPr>
      </p:pic>
      <p:sp>
        <p:nvSpPr>
          <p:cNvPr id="251" name="TextBox 250"/>
          <p:cNvSpPr txBox="1"/>
          <p:nvPr/>
        </p:nvSpPr>
        <p:spPr>
          <a:xfrm>
            <a:off x="10081260" y="1874519"/>
            <a:ext cx="620420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Системы спецификаций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075420" y="2651760"/>
            <a:ext cx="7210044" cy="1684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Договориться с ИИ, что строим, до написания кода. Пример — OpenSpec: на каждое изменение создаётся папка с предложением, требованиями, дизайном и списком задач. Это не оркестратор: он ничего не запускает параллельно, он структурирует договорённость.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722376" y="4884420"/>
            <a:ext cx="7758683" cy="29641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" y="5136565"/>
            <a:ext cx="822960" cy="684428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2002536" y="5158740"/>
            <a:ext cx="620420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Автоматические циклы улучшений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996696" y="5935980"/>
            <a:ext cx="7210044" cy="1684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AutoResearch: навык для агентов по мотивам идеи Андрея Карпатого. Цикл: одно изменение → проверка метрикой → оставить или откатить → повторить. В последних версиях сам себя называет оркестратором своих подкоманд, но по сути это инструмент итеративного улучшения по измеримой цели, а не оркестратор агентов. Близкий по духу — ralphex: проходит готовый план задача за задачей, каждую — в свежей сессии агента.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8801100" y="4884420"/>
            <a:ext cx="7758683" cy="29641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8" name="Picture 25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5420" y="5139914"/>
            <a:ext cx="822960" cy="677731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10081260" y="5158740"/>
            <a:ext cx="620420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Панели управления агентами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9075420" y="5935980"/>
            <a:ext cx="7210044" cy="1684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Zerus и подобные называют себя Agent Development Environment (ADE): один интерфейс для агентов разных компаний (Claude Code, Codex, OpenCode и др.) на нескольких компьютерах, с уведомлениями, голосовым вводом и приложением для Android. Сами агенты продолжают работать в своих средах — панель управления их объединяет, а не заменяет. А ещё они могут общаться между собой и управляться даже с телефона. Основная суть — визуально подсказывать и направлять оператора.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AutoResearch подробно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9692640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TextBox 244"/>
          <p:cNvSpPr txBox="1"/>
          <p:nvPr/>
        </p:nvSpPr>
        <p:spPr>
          <a:xfrm>
            <a:off x="1133856" y="2011680"/>
            <a:ext cx="8869680" cy="6355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Перед циклом: цель, область изменений, метрика, команда проверки, исходный замер.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Цикл: изменение → фиксация в git → проверка → улучшилось — оставить, ухудшилось — откатить → записать результат.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 умолчанию число итераций ограничено; бесконечный режим включается явно.</a:t>
            </a:r>
          </a:p>
          <a:p>
            <a:pPr algn="l" marL="274320" indent="-274320">
              <a:spcAft>
                <a:spcPts val="1000"/>
              </a:spcAft>
              <a:buClr>
                <a:srgbClr val="7F7F7F"/>
              </a:buClr>
              <a:buFont typeface="Arial"/>
              <a:buChar char="•"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Хуки-предохранители блокируют опасные команды и чтение секретов (только в Claude Code).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10744200" y="1600200"/>
            <a:ext cx="5815583" cy="7178040"/>
          </a:xfrm>
          <a:prstGeom prst="roundRect">
            <a:avLst>
              <a:gd name="adj" fmla="val 6000"/>
            </a:avLst>
          </a:prstGeom>
          <a:solidFill>
            <a:srgbClr val="EE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Oval 246"/>
          <p:cNvSpPr/>
          <p:nvPr/>
        </p:nvSpPr>
        <p:spPr>
          <a:xfrm>
            <a:off x="11183112" y="2720339"/>
            <a:ext cx="4937760" cy="4937760"/>
          </a:xfrm>
          <a:prstGeom prst="ellipse">
            <a:avLst/>
          </a:prstGeom>
          <a:noFill/>
          <a:ln w="38100">
            <a:solidFill>
              <a:srgbClr val="008FC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12280392" y="2240279"/>
            <a:ext cx="2743200" cy="9601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9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Изменение</a:t>
            </a:r>
          </a:p>
        </p:txBody>
      </p:sp>
      <p:sp>
        <p:nvSpPr>
          <p:cNvPr id="249" name="Oval 248"/>
          <p:cNvSpPr/>
          <p:nvPr/>
        </p:nvSpPr>
        <p:spPr>
          <a:xfrm>
            <a:off x="12051792" y="2011679"/>
            <a:ext cx="548640" cy="54864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1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4628436" y="3946234"/>
            <a:ext cx="2743200" cy="9601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9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Фиксация в git</a:t>
            </a:r>
          </a:p>
        </p:txBody>
      </p:sp>
      <p:sp>
        <p:nvSpPr>
          <p:cNvPr id="251" name="Oval 250"/>
          <p:cNvSpPr/>
          <p:nvPr/>
        </p:nvSpPr>
        <p:spPr>
          <a:xfrm>
            <a:off x="14399836" y="3717634"/>
            <a:ext cx="548640" cy="54864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2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13731563" y="6706525"/>
            <a:ext cx="2743200" cy="9601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9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Проверка</a:t>
            </a:r>
          </a:p>
        </p:txBody>
      </p:sp>
      <p:sp>
        <p:nvSpPr>
          <p:cNvPr id="253" name="Oval 252"/>
          <p:cNvSpPr/>
          <p:nvPr/>
        </p:nvSpPr>
        <p:spPr>
          <a:xfrm>
            <a:off x="13502963" y="6477925"/>
            <a:ext cx="548640" cy="54864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3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10829220" y="6706525"/>
            <a:ext cx="2743200" cy="9601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9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Оставить или откатить</a:t>
            </a:r>
          </a:p>
        </p:txBody>
      </p:sp>
      <p:sp>
        <p:nvSpPr>
          <p:cNvPr id="255" name="Oval 254"/>
          <p:cNvSpPr/>
          <p:nvPr/>
        </p:nvSpPr>
        <p:spPr>
          <a:xfrm>
            <a:off x="10600620" y="6477925"/>
            <a:ext cx="548640" cy="54864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4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9932347" y="3946234"/>
            <a:ext cx="2743200" cy="9601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8FCE"/>
            </a:solidFill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900" b="0">
                <a:solidFill>
                  <a:srgbClr val="002147"/>
                </a:solidFill>
                <a:latin typeface="Geologica"/>
                <a:ea typeface="Geologica"/>
                <a:cs typeface="Geologica"/>
              </a:rPr>
              <a:t>Записать результат</a:t>
            </a:r>
          </a:p>
        </p:txBody>
      </p:sp>
      <p:sp>
        <p:nvSpPr>
          <p:cNvPr id="257" name="Oval 256"/>
          <p:cNvSpPr/>
          <p:nvPr/>
        </p:nvSpPr>
        <p:spPr>
          <a:xfrm>
            <a:off x="9703747" y="3717634"/>
            <a:ext cx="548640" cy="54864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OpenSpec и наши ПЛАНЫ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1965960"/>
            <a:ext cx="822960" cy="82296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2185415" y="196596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OpenSpec фиксирует </a:t>
            </a:r>
            <a:r>
              <a:rPr sz="2600" b="1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что</a:t>
            </a: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 строим: требования со сценариями, дизайн, задачи; после выполнения изменение архивируется, спецификации обновляются.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8801100" y="160020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0" y="1965960"/>
            <a:ext cx="640080" cy="82296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10264140" y="196596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Наши ПЛАНЫ фиксируют </a:t>
            </a:r>
            <a:r>
              <a:rPr sz="2600" b="1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как</a:t>
            </a: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 агент выполнит задачу: разведка, шаги, проверки, точки остановки.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722376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6" y="5815089"/>
            <a:ext cx="822960" cy="62278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2185415" y="571500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Их можно сочетать: спецификация как вход, ПЛАН как маршрут исполнения.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8801100" y="5349240"/>
            <a:ext cx="7758683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5720715"/>
            <a:ext cx="822960" cy="811530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10264140" y="5715000"/>
            <a:ext cx="5929883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OpenSpec работает с 30+ ИИ-инструментами через команды вида /opsx:propose.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Zerus и панели управления агентами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3719322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1977390"/>
            <a:ext cx="822960" cy="80010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1088136" y="3017520"/>
            <a:ext cx="2987802" cy="539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Обзор всех сессий на всех машинах, уведомления «агент закончил / задал вопрос / ждёт подтверждения».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4761738" y="1600200"/>
            <a:ext cx="3719322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498" y="1965960"/>
            <a:ext cx="822960" cy="82296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5127498" y="3017520"/>
            <a:ext cx="2987802" cy="539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Агенты разных компаний могут обмениваться сообщениями (например, один пишет код, другой проверяет).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8801100" y="1600200"/>
            <a:ext cx="3719322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474" y="1965960"/>
            <a:ext cx="677731" cy="82296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9166860" y="3017520"/>
            <a:ext cx="2987802" cy="539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Голосовые задачи, в том числе локальное распознавание русской речи; Android-приложение.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12840461" y="1600200"/>
            <a:ext cx="3719322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1941" y="1965960"/>
            <a:ext cx="731520" cy="822960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13206221" y="3017520"/>
            <a:ext cx="2987802" cy="539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Сессии живут в tmux: закрыли ноутбук — агент на сервере продолжает работать.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Стоимость и наблюдаемость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2135777"/>
            <a:ext cx="1188720" cy="849085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1088136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Каждый круг агентного цикла и каждый сабагент тратят токены; мультиагентные схемы могут стоить в разы дороже одного агента.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6108192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1965960"/>
            <a:ext cx="1188720" cy="118872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6473952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Логи и трассировки показывают, что агент делал и почему ошибся.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1494008" y="1600200"/>
            <a:ext cx="5065776" cy="7178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59768" y="2248988"/>
            <a:ext cx="1188720" cy="622662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11859768" y="3383280"/>
            <a:ext cx="4334256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8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Лимиты и бюджеты задаются заранее, а не после счёта.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Локальные модели</a:t>
            </a:r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722376" y="1600200"/>
            <a:ext cx="15837408" cy="472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20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Три варианта: на своём компьютере; на сервере организации; облачная модель провайдера.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22376" y="7757159"/>
            <a:ext cx="15837408" cy="1112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Безопасность всё равно зависит от настройки: кто имеет доступ, где логи, обновляется ли софт, что агент может делать в окружении и т.д.</a:t>
            </a:r>
          </a:p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Популярный способ попробовать на своём компьютере — Ollama; агентные среды умеют подключаться к таким моделям.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722376" y="2255520"/>
            <a:ext cx="7758683" cy="52273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7" name="Picture 24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2438400"/>
            <a:ext cx="822960" cy="822960"/>
          </a:xfrm>
          <a:prstGeom prst="rect">
            <a:avLst/>
          </a:prstGeom>
        </p:spPr>
      </p:pic>
      <p:sp>
        <p:nvSpPr>
          <p:cNvPr id="248" name="TextBox 247"/>
          <p:cNvSpPr txBox="1"/>
          <p:nvPr/>
        </p:nvSpPr>
        <p:spPr>
          <a:xfrm>
            <a:off x="2002536" y="2529840"/>
            <a:ext cx="620420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Плюсы своего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96696" y="3307080"/>
            <a:ext cx="7210044" cy="394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Данные не уходят к внешнему провайдеру, работает без интернета, нет оплаты за каждый запрос.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8801100" y="2255520"/>
            <a:ext cx="7758683" cy="52273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5420" y="2438400"/>
            <a:ext cx="822960" cy="82296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10081260" y="2529840"/>
            <a:ext cx="620420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Минусы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9075420" y="3307080"/>
            <a:ext cx="7210044" cy="394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Нужно мощное железо (особенно видеопамять), открытые модели, которые помещаются локально, обычно уступают топовым облачным на сложных задачах, а сопровождение, обновления и мониторинг — на вас.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Память и RAG: откуда агент берёт знания</a:t>
            </a:r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722376" y="8412480"/>
            <a:ext cx="15837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7F7F7F"/>
              </a:buClr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Чем точнее источник, тем меньше агент додумывает.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722376" y="1600200"/>
            <a:ext cx="5065776" cy="65379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6" name="Picture 2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1844040"/>
            <a:ext cx="640080" cy="822960"/>
          </a:xfrm>
          <a:prstGeom prst="rect">
            <a:avLst/>
          </a:prstGeom>
        </p:spPr>
      </p:pic>
      <p:sp>
        <p:nvSpPr>
          <p:cNvPr id="247" name="TextBox 246"/>
          <p:cNvSpPr txBox="1"/>
          <p:nvPr/>
        </p:nvSpPr>
        <p:spPr>
          <a:xfrm>
            <a:off x="2002536" y="1874519"/>
            <a:ext cx="3511296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История чата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96696" y="2773679"/>
            <a:ext cx="4517136" cy="513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Живёт только в текущей сессии.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6108192" y="1600200"/>
            <a:ext cx="5065776" cy="65379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0" name="Picture 2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1913305"/>
            <a:ext cx="822960" cy="684428"/>
          </a:xfrm>
          <a:prstGeom prst="rect">
            <a:avLst/>
          </a:prstGeom>
        </p:spPr>
      </p:pic>
      <p:sp>
        <p:nvSpPr>
          <p:cNvPr id="251" name="TextBox 250"/>
          <p:cNvSpPr txBox="1"/>
          <p:nvPr/>
        </p:nvSpPr>
        <p:spPr>
          <a:xfrm>
            <a:off x="7388352" y="1874519"/>
            <a:ext cx="3511295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Инструкции и автопамять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382512" y="2773679"/>
            <a:ext cx="4517136" cy="513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(файл локальных инструкций, заметки, которые агент сохраняет сам) загружаются в каждую сессию.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11494008" y="1600200"/>
            <a:ext cx="5065776" cy="65379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68328" y="1916654"/>
            <a:ext cx="822960" cy="677731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12774168" y="1874519"/>
            <a:ext cx="3511295" cy="76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RAG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1768328" y="2773679"/>
            <a:ext cx="4517136" cy="513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6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Поиск по базе знаний: агент находит релевантные фрагменты документов и подкладывает их в контекст, не загружая всё подряд.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Словарь терминов</a:t>
            </a:r>
            <a:endParaRPr/>
          </a:p>
        </p:txBody>
      </p:sp>
      <p:graphicFrame>
        <p:nvGraphicFramePr>
          <p:cNvPr id="244" name="Table 243"/>
          <p:cNvGraphicFramePr>
            <a:graphicFrameLocks noGrp="1"/>
          </p:cNvGraphicFramePr>
          <p:nvPr/>
        </p:nvGraphicFramePr>
        <p:xfrm>
          <a:off x="722376" y="1600200"/>
          <a:ext cx="15837408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6949440"/>
                <a:gridCol w="614476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Geologica"/>
                          <a:ea typeface="Geologica"/>
                          <a:cs typeface="Geologica"/>
                        </a:rPr>
                        <a:t>Термин</a:t>
                      </a:r>
                    </a:p>
                  </a:txBody>
                  <a:tcPr marL="109728" marR="109728" marT="54864" marB="54864">
                    <a:solidFill>
                      <a:srgbClr val="0021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Geologica"/>
                          <a:ea typeface="Geologica"/>
                          <a:cs typeface="Geologica"/>
                        </a:rPr>
                        <a:t>Простое объяснение</a:t>
                      </a:r>
                    </a:p>
                  </a:txBody>
                  <a:tcPr marL="109728" marR="109728" marT="54864" marB="54864">
                    <a:solidFill>
                      <a:srgbClr val="0021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Geologica"/>
                          <a:ea typeface="Geologica"/>
                          <a:cs typeface="Geologica"/>
                        </a:rPr>
                        <a:t>Чем отличается от похожего</a:t>
                      </a:r>
                    </a:p>
                  </a:txBody>
                  <a:tcPr marL="109728" marR="109728" marT="54864" marB="54864">
                    <a:solidFill>
                      <a:srgbClr val="00214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LLM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Большая языковая модель: программа, которая по тексту продолжает текст. Основа большинства современных ИИ-ассистентов.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LLM — «двигатель», а не готовый продукт; чат и агент построены поверх неё.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Агент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Модель, которая сама выбирает и выполняет действия через инструменты, пока не решит задачу.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Чат отвечает один раз; агент работает в цикле и действует.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Инструмент (tool)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Действие, которое агенту разрешено вызвать: прочитать файл, выполнить команду, сделать запрос и т.д.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Модель без инструментов может только писать текст.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Контекстное окно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Объём текста, который модель «держит в голове» в одной сессии.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Это не долговременная память: после сессии всё исчезает, если не сохранено в файлы.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System prompt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Базовые инструкции, которые задаёт разработчик продукта до вашего первого сообщения.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Файл локальных инструкций подаётся после системного промпта, как часть контекста, а не вместо него.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Harness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Всё вокруг модели, что делает её работником: инструкции, инструменты, права, процессы, проверки. Единого стандартного определения нет.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Фреймворк — набор деталей для сборки агентов; harness — уже собранная и настроенная среда.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Файл локальных инструкций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Файл с постоянными инструкциями агента для папки: CLAUDE.md, AGENTS.md, GEMINI.md и т.д. Подгружается в каждую сессию.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Это совет модели, а не жёсткое правило. Разные агенты ищут разные имена файла.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Rules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Тематические файлы правил; можно привязать к типам файлов.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В отличие от файла локальных инструкций, могут грузиться только при работе с нужными файлами.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Skills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Папка с инструкциями, шаблонами и скриптами для определённого типа задач; подгружается, когда задача похожа на описание навыка.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Rules действуют постоянно или по файлам; Skill — по смыслу задачи.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Hooks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Автоматические действия на событиях: перед командой, после правки, в конце сессии и т.д. Выполняются всегда.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Инструкции модель может проигнорировать; хук — нет.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Словарь терминов</a:t>
            </a:r>
            <a:endParaRPr/>
          </a:p>
        </p:txBody>
      </p:sp>
      <p:graphicFrame>
        <p:nvGraphicFramePr>
          <p:cNvPr id="244" name="Table 243"/>
          <p:cNvGraphicFramePr>
            <a:graphicFrameLocks noGrp="1"/>
          </p:cNvGraphicFramePr>
          <p:nvPr/>
        </p:nvGraphicFramePr>
        <p:xfrm>
          <a:off x="722376" y="1600200"/>
          <a:ext cx="15837408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6949440"/>
                <a:gridCol w="614476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Geologica"/>
                          <a:ea typeface="Geologica"/>
                          <a:cs typeface="Geologica"/>
                        </a:rPr>
                        <a:t>Термин</a:t>
                      </a:r>
                    </a:p>
                  </a:txBody>
                  <a:tcPr marL="109728" marR="109728" marT="54864" marB="54864">
                    <a:solidFill>
                      <a:srgbClr val="0021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Geologica"/>
                          <a:ea typeface="Geologica"/>
                          <a:cs typeface="Geologica"/>
                        </a:rPr>
                        <a:t>Простое объяснение</a:t>
                      </a:r>
                    </a:p>
                  </a:txBody>
                  <a:tcPr marL="109728" marR="109728" marT="54864" marB="54864">
                    <a:solidFill>
                      <a:srgbClr val="0021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Geologica"/>
                          <a:ea typeface="Geologica"/>
                          <a:cs typeface="Geologica"/>
                        </a:rPr>
                        <a:t>Чем отличается от похожего</a:t>
                      </a:r>
                    </a:p>
                  </a:txBody>
                  <a:tcPr marL="109728" marR="109728" marT="54864" marB="54864">
                    <a:solidFill>
                      <a:srgbClr val="00214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Templates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Шаблоны повторяющихся документов: план, отчёт, описание задачи и т.д.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Наша договорённость, а не отдельный механизм агентных сред.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Sources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Справочная информация: таблицы, каталоги, источники, принятые обоснования и т.д.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Templates показывают, как выглядит документ; Sources — откуда брать данные.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Subagent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Помощник со своим контекстом и инструментами, которому главный агент поручает часть работы.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Возвращает только итог, а не всю переписку.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Оркестрация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Управление многими агентами: запуск, изоляция, распределение задач, контроль хода.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Не путать с планированием (что делать) и спецификацией (что строим).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Спецификация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Описание того, что должно получиться: требования, сценарии, ограничения.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План описывает путь, спецификация — цель.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MCP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Открытый стандарт подключения внешних инструментов и данных к ИИ, «универсальный разъём».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Плагин — упаковка, которая может включать MCP-подключения, навыки и хуки.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RAG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Поиск по базе знаний с подкладыванием найденных фрагментов в контекст модели.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Не обучает модель: знания подтягиваются на время ответа.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OpenRouter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Агрегатор: один API и один счёт ко многим моделям разных провайдеров.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Не модель и не провайдер: запросы всё равно обрабатывают конечные провайдеры.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Локальная модель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Модель, запущенная на своём компьютере или сервере организации.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Контроль над данными выше, но безопасность и качество зависят от настройки и железа.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Human-in-the-loop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Человек подтверждает критичные действия агента.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Не «агент спрашивает обо всём», а контрольные точки там, где ошибка дорогая.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Карта экосистемы</a:t>
            </a:r>
            <a:endParaRPr/>
          </a:p>
        </p:txBody>
      </p:sp>
      <p:graphicFrame>
        <p:nvGraphicFramePr>
          <p:cNvPr id="244" name="Table 243"/>
          <p:cNvGraphicFramePr>
            <a:graphicFrameLocks noGrp="1"/>
          </p:cNvGraphicFramePr>
          <p:nvPr/>
        </p:nvGraphicFramePr>
        <p:xfrm>
          <a:off x="722376" y="1600200"/>
          <a:ext cx="15837407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5120640"/>
                <a:gridCol w="7424927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Geologica"/>
                          <a:ea typeface="Geologica"/>
                          <a:cs typeface="Geologica"/>
                        </a:rPr>
                        <a:t>Слой</a:t>
                      </a:r>
                    </a:p>
                  </a:txBody>
                  <a:tcPr marL="109728" marR="109728" marT="54864" marB="54864">
                    <a:solidFill>
                      <a:srgbClr val="0021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Geologica"/>
                          <a:ea typeface="Geologica"/>
                          <a:cs typeface="Geologica"/>
                        </a:rPr>
                        <a:t>Что решает</a:t>
                      </a:r>
                    </a:p>
                  </a:txBody>
                  <a:tcPr marL="109728" marR="109728" marT="54864" marB="54864">
                    <a:solidFill>
                      <a:srgbClr val="0021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Geologica"/>
                          <a:ea typeface="Geologica"/>
                          <a:cs typeface="Geologica"/>
                        </a:rPr>
                        <a:t>Примеры</a:t>
                      </a:r>
                    </a:p>
                  </a:txBody>
                  <a:tcPr marL="109728" marR="109728" marT="54864" marB="54864">
                    <a:solidFill>
                      <a:srgbClr val="00214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Модели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Понимают и генерируют текст, код, изображения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Семейства моделей Anthropic, OpenAI, Google, DeepSeek, Яндекса (Alice AI LLM); открытые модели для локального запуска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Провайдеры и агрегаторы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Дают доступ к моделям, считают деньги, маршрутизируют запросы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API разработчиков моделей; Yandex Cloud; OpenRouter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Интерфейсы работы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Где человек общается с ИИ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Веб-чат и приложения; терминал (CLI); IDE и редакторы кода; Obsidian и Markdown-заметки; голос и телефон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Агентные среды (основа harness)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Превращают модель в агента: инструменты, цикл, права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Claude Code, Codex, OpenCode, Kimi Code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Инструменты и интеграции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Дают агенту доступ к внешним системам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MCP-серверы, плагины, коннекторы к трекерам и документам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Контекст и знания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Что агент знает о проекте и организации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Файлы локальных инструкций, Rules, Skills, автопамять, RAG по базе знаний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Планирование и спецификации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Договориться, что строим и как идём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OpenSpec, Spec Kit (GitHub), Kiro (AWS); наши ПЛАНЫ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Сабагенты и оркестрация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Делегировать и запускать много агентов параллельно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Сабагенты и агентные команды Claude Code; Claude Squad; Conductor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Автоциклы и панели управления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Автономные итерации к цели; один пульт для парка агентов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AutoResearch; ralphex; Zerus (ADE)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Проверки и наблюдаемость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Убедиться, что результат верен, и видеть, что происходит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Тесты и линтеры, хуки-проверки, независимый агент-проверяющий, логи и учёт токенов</a:t>
                      </a:r>
                    </a:p>
                  </a:txBody>
                  <a:tcPr marL="109728" marR="109728" marT="54864" marB="54864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2147"/>
                          </a:solidFill>
                          <a:latin typeface="Geologica"/>
                          <a:ea typeface="Geologica"/>
                          <a:cs typeface="Geologica"/>
                        </a:rPr>
                        <a:t>Локальная и корпоративная инфраструктура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Запуск моделей и агентов у себя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Geologica"/>
                          <a:ea typeface="Geologica"/>
                          <a:cs typeface="Geologica"/>
                        </a:rPr>
                        <a:t>Ollama на рабочей машине; серверы организации; песочницы и изолированные окружения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Финал: строй свой harness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Oval 244"/>
          <p:cNvSpPr/>
          <p:nvPr/>
        </p:nvSpPr>
        <p:spPr>
          <a:xfrm>
            <a:off x="996696" y="2103120"/>
            <a:ext cx="640080" cy="64008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865376" y="1874519"/>
            <a:ext cx="3648456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Начните с реальной задачи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96696" y="3108960"/>
            <a:ext cx="4517136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В разрешённом инструменте — не с игрушечной.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6108192" y="160020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Oval 248"/>
          <p:cNvSpPr/>
          <p:nvPr/>
        </p:nvSpPr>
        <p:spPr>
          <a:xfrm>
            <a:off x="6382512" y="2103120"/>
            <a:ext cx="640080" cy="64008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2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7251192" y="1874519"/>
            <a:ext cx="364845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Давайте контекст и проверяйте результат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6382512" y="3108960"/>
            <a:ext cx="4517136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Что должно получиться, где искать, как понять, что готово.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11494008" y="160020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Oval 252"/>
          <p:cNvSpPr/>
          <p:nvPr/>
        </p:nvSpPr>
        <p:spPr>
          <a:xfrm>
            <a:off x="11768328" y="2103120"/>
            <a:ext cx="640080" cy="64008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3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2637008" y="1874519"/>
            <a:ext cx="364845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Записывайте то, что повторяете.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768328" y="3108960"/>
            <a:ext cx="4517136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Объяснили агенту одно и то же дважды — это строчка в файле локальных инструкций, навык или шаблон.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722376" y="534924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Oval 256"/>
          <p:cNvSpPr/>
          <p:nvPr/>
        </p:nvSpPr>
        <p:spPr>
          <a:xfrm>
            <a:off x="996696" y="5852159"/>
            <a:ext cx="640080" cy="64008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4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865376" y="5623559"/>
            <a:ext cx="3648456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Растите свой harness постепенно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996696" y="6858000"/>
            <a:ext cx="4517136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Правило → навык → хук → процесс. Каждый шаг — по реальной боли, а не «потому что модно».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6108192" y="534924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Oval 260"/>
          <p:cNvSpPr/>
          <p:nvPr/>
        </p:nvSpPr>
        <p:spPr>
          <a:xfrm>
            <a:off x="6382512" y="5852159"/>
            <a:ext cx="640080" cy="64008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5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7251192" y="5623559"/>
            <a:ext cx="364845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Учитесь проектировать процесс, а не только писать промпты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6382512" y="6858000"/>
            <a:ext cx="4517136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Кто разведывает, кто проверяет, где остановиться.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11494008" y="5349240"/>
            <a:ext cx="5065776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Oval 264"/>
          <p:cNvSpPr/>
          <p:nvPr/>
        </p:nvSpPr>
        <p:spPr>
          <a:xfrm>
            <a:off x="11768328" y="5852159"/>
            <a:ext cx="640080" cy="640080"/>
          </a:xfrm>
          <a:prstGeom prst="ellipse">
            <a:avLst/>
          </a:prstGeom>
          <a:solidFill>
            <a:srgbClr val="F10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logica"/>
                <a:ea typeface="Geologica"/>
                <a:cs typeface="Geologica"/>
              </a:rPr>
              <a:t>6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2637008" y="5623559"/>
            <a:ext cx="364845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8FCE"/>
                </a:solidFill>
                <a:latin typeface="Geologica"/>
                <a:ea typeface="Geologica"/>
                <a:cs typeface="Geologica"/>
              </a:rPr>
              <a:t>Помните о рамках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1768328" y="6858000"/>
            <a:ext cx="4517136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22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Одобренные инструменты, никаких идентифицирующих данных, человек подтверждает рискованное.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28"/>
          <p:cNvSpPr txBox="1"/>
          <p:nvPr/>
        </p:nvSpPr>
        <p:spPr>
          <a:xfrm>
            <a:off x="13170514" y="8998836"/>
            <a:ext cx="3887986" cy="51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Geologica"/>
              <a:buNone/>
            </a:pPr>
            <a:fld id="{00000000-1234-1234-1234-123412341234}" type="slidenum">
              <a:rPr b="0" i="0" lang="ru-RU" spc="0" sz="2800" u="none" cap="none" strike="noStrike">
                <a:solidFill>
                  <a:srgbClr val="7F7F7F"/>
                </a:solidFill>
                <a:latin typeface="Geologica"/>
                <a:ea typeface="Geologica"/>
                <a:cs typeface="Geologica"/>
                <a:sym typeface="Geologica"/>
              </a:rPr>
              <a:t>‹#›</a:t>
            </a:fld>
            <a:endParaRPr b="0" i="0" spc="0" sz="2800" u="none" cap="none" strike="noStrike">
              <a:solidFill>
                <a:srgbClr val="7F7F7F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13680025" y="307294"/>
            <a:ext cx="0" cy="634921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38" name="Google Shape;238;p28"/>
          <p:cNvGrpSpPr/>
          <p:nvPr/>
        </p:nvGrpSpPr>
        <p:grpSpPr>
          <a:xfrm>
            <a:off x="-149983" y="-178562"/>
            <a:ext cx="17574927" cy="1450213"/>
            <a:chOff x="-149983" y="-178562"/>
            <a:chExt cx="17574927" cy="1450213"/>
          </a:xfrm>
        </p:grpSpPr>
        <p:sp>
          <p:nvSpPr>
            <p:cNvPr id="239" name="Google Shape;239;p28"/>
            <p:cNvSpPr/>
            <p:nvPr/>
          </p:nvSpPr>
          <p:spPr>
            <a:xfrm>
              <a:off x="0" y="-13837"/>
              <a:ext cx="17279937" cy="1285488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0" name="Google Shape;2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852660" y="-178562"/>
              <a:ext cx="4572284" cy="14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3">
              <a:alphaModFix/>
            </a:blip>
            <a:srcRect b="21423" l="0" r="0" t="0"/>
            <a:stretch/>
          </p:blipFill>
          <p:spPr>
            <a:xfrm>
              <a:off x="-149983" y="203802"/>
              <a:ext cx="6571840" cy="10678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571" y="461291"/>
            <a:ext cx="2509647" cy="38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1439170" y="-11473"/>
            <a:ext cx="12240853" cy="12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Зачем это аналитику данных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722376" y="160020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1965960"/>
            <a:ext cx="822960" cy="82296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1088136" y="3017520"/>
            <a:ext cx="298780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SQL-запросы по описанию задачи и разбор чужих запросов.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4761738" y="160020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8938" y="1965960"/>
            <a:ext cx="640080" cy="82296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5127498" y="3017520"/>
            <a:ext cx="298780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Скрипты для чистки, сверки и объединения выгрузок.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8801100" y="160020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6860" y="2066049"/>
            <a:ext cx="822960" cy="62278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9166860" y="3017520"/>
            <a:ext cx="298780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Автоматизация регулярных отчётов: агент собирает, проверяет и присылает.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12840461" y="160020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06221" y="1971675"/>
            <a:ext cx="822960" cy="811530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13206221" y="3017520"/>
            <a:ext cx="298780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Дашборды и визуализации по описанию.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722376" y="534924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7" name="Picture 25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136" y="5726430"/>
            <a:ext cx="822960" cy="800100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1088136" y="6766560"/>
            <a:ext cx="298780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Документация витрин и метрик: что считает поле и откуда оно берётся.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4761738" y="534924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0" name="Picture 25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7498" y="5715000"/>
            <a:ext cx="822960" cy="822960"/>
          </a:xfrm>
          <a:prstGeom prst="rect">
            <a:avLst/>
          </a:prstGeom>
        </p:spPr>
      </p:pic>
      <p:sp>
        <p:nvSpPr>
          <p:cNvPr id="261" name="TextBox 260"/>
          <p:cNvSpPr txBox="1"/>
          <p:nvPr/>
        </p:nvSpPr>
        <p:spPr>
          <a:xfrm>
            <a:off x="5127498" y="6766560"/>
            <a:ext cx="298780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Поиск причин аномалий: агент сам проверяет гипотезы по данным.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8801100" y="534924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3" name="Picture 26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474" y="5715000"/>
            <a:ext cx="677731" cy="822960"/>
          </a:xfrm>
          <a:prstGeom prst="rect">
            <a:avLst/>
          </a:prstGeom>
        </p:spPr>
      </p:pic>
      <p:sp>
        <p:nvSpPr>
          <p:cNvPr id="264" name="TextBox 263"/>
          <p:cNvSpPr txBox="1"/>
          <p:nvPr/>
        </p:nvSpPr>
        <p:spPr>
          <a:xfrm>
            <a:off x="9166860" y="6766560"/>
            <a:ext cx="298780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Сравнение двух выгрузок и поиск расхождений и т.д.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12840461" y="5349240"/>
            <a:ext cx="371932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6" name="Picture 26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51941" y="5715000"/>
            <a:ext cx="731520" cy="822960"/>
          </a:xfrm>
          <a:prstGeom prst="rect">
            <a:avLst/>
          </a:prstGeom>
        </p:spPr>
      </p:pic>
      <p:sp>
        <p:nvSpPr>
          <p:cNvPr id="267" name="TextBox 266"/>
          <p:cNvSpPr txBox="1"/>
          <p:nvPr/>
        </p:nvSpPr>
        <p:spPr>
          <a:xfrm>
            <a:off x="13206221" y="6766560"/>
            <a:ext cx="298780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900" b="0">
                <a:solidFill>
                  <a:srgbClr val="000000"/>
                </a:solidFill>
                <a:latin typeface="Geologica"/>
                <a:ea typeface="Geologica"/>
                <a:cs typeface="Geologica"/>
              </a:rPr>
              <a:t>Рамки те же: только обезличенные данные или разрешённый контур, результат сверяется с эталоном.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