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720250" cx="17279925"/>
  <p:notesSz cx="6858000" cy="9144000"/>
  <p:embeddedFontLst>
    <p:embeddedFont>
      <p:font typeface="Roboto Thin"/>
      <p:regular r:id="rId16"/>
      <p:bold r:id="rId17"/>
      <p:italic r:id="rId18"/>
      <p:boldItalic r:id="rId19"/>
    </p:embeddedFont>
    <p:embeddedFont>
      <p:font typeface="Geologica"/>
      <p:regular r:id="rId20"/>
      <p:bold r:id="rId21"/>
    </p:embeddedFont>
    <p:embeddedFont>
      <p:font typeface="Roboto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ologica-regular.fntdata"/><Relationship Id="rId22" Type="http://schemas.openxmlformats.org/officeDocument/2006/relationships/font" Target="fonts/RobotoLight-regular.fntdata"/><Relationship Id="rId21" Type="http://schemas.openxmlformats.org/officeDocument/2006/relationships/font" Target="fonts/Geologica-bold.fntdata"/><Relationship Id="rId24" Type="http://schemas.openxmlformats.org/officeDocument/2006/relationships/font" Target="fonts/RobotoLight-italic.fntdata"/><Relationship Id="rId23" Type="http://schemas.openxmlformats.org/officeDocument/2006/relationships/font" Target="fonts/Roboto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schemas.openxmlformats.org/officeDocument/2006/relationships/font" Target="fonts/Roboto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Thin-bold.fntdata"/><Relationship Id="rId16" Type="http://schemas.openxmlformats.org/officeDocument/2006/relationships/font" Target="fonts/RobotoThin-regular.fntdata"/><Relationship Id="rId19" Type="http://schemas.openxmlformats.org/officeDocument/2006/relationships/font" Target="fonts/RobotoThin-boldItalic.fntdata"/><Relationship Id="rId18" Type="http://schemas.openxmlformats.org/officeDocument/2006/relationships/font" Target="fonts/RobotoTh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159992" y="1590794"/>
            <a:ext cx="12959954" cy="338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159992" y="5105389"/>
            <a:ext cx="12959954" cy="234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87996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1178996" y="2423317"/>
            <a:ext cx="14903947" cy="4043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178996" y="6504927"/>
            <a:ext cx="14903947" cy="212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3402"/>
              <a:buNone/>
              <a:defRPr sz="3402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835"/>
              <a:buNone/>
              <a:defRPr sz="283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551"/>
              <a:buNone/>
              <a:defRPr sz="255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187996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8747968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19024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190247" y="2382815"/>
            <a:ext cx="7310223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190247" y="3550596"/>
            <a:ext cx="7310223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8747969" y="2382815"/>
            <a:ext cx="7346224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8747969" y="3550596"/>
            <a:ext cx="7346224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190247" y="648018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5"/>
              <a:buFont typeface="Calibri"/>
              <a:buNone/>
              <a:defRPr sz="4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346224" y="1399539"/>
            <a:ext cx="8747969" cy="690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573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5"/>
              <a:buChar char="•"/>
              <a:defRPr sz="4535"/>
            </a:lvl1pPr>
            <a:lvl2pPr indent="-480568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2pPr>
            <a:lvl3pPr indent="-444627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indent="-408623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indent="-408623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indent="-408623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indent="-408623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indent="-408623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indent="-408622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190247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190247" y="648018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5"/>
              <a:buFont typeface="Calibri"/>
              <a:buNone/>
              <a:defRPr sz="4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7346224" y="1399539"/>
            <a:ext cx="8747969" cy="690768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190247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556260" y="-1780694"/>
            <a:ext cx="6167418" cy="1490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0110212" y="2773258"/>
            <a:ext cx="8237474" cy="3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2550240" y="-844729"/>
            <a:ext cx="8237474" cy="10961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1187997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2159992" y="1590794"/>
            <a:ext cx="12959954" cy="338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159992" y="5105390"/>
            <a:ext cx="12959954" cy="234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178997" y="2423318"/>
            <a:ext cx="14903947" cy="4043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178997" y="6504929"/>
            <a:ext cx="14903947" cy="212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3402"/>
              <a:buNone/>
              <a:defRPr sz="3402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835"/>
              <a:buNone/>
              <a:defRPr sz="283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551"/>
              <a:buNone/>
              <a:defRPr sz="255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1187996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8747968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119024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1190249" y="2382815"/>
            <a:ext cx="7310223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1190249" y="3550596"/>
            <a:ext cx="7310223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8747969" y="2382815"/>
            <a:ext cx="7346224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8747969" y="3550596"/>
            <a:ext cx="7346224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190249" y="648019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4"/>
              <a:buFont typeface="Calibri"/>
              <a:buNone/>
              <a:defRPr sz="45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346224" y="1399540"/>
            <a:ext cx="8747969" cy="690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509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4"/>
              <a:buChar char="•"/>
              <a:defRPr sz="4534"/>
            </a:lvl1pPr>
            <a:lvl2pPr indent="-480505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7"/>
              <a:buChar char="•"/>
              <a:defRPr sz="3967"/>
            </a:lvl2pPr>
            <a:lvl3pPr indent="-444627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indent="-408623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indent="-408623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indent="-408623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indent="-408623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indent="-408623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indent="-408622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1190249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190249" y="648019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4"/>
              <a:buFont typeface="Calibri"/>
              <a:buNone/>
              <a:defRPr sz="45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7346224" y="1399540"/>
            <a:ext cx="8747969" cy="6907687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190249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5556262" y="-1780694"/>
            <a:ext cx="6167418" cy="1490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10110212" y="2773258"/>
            <a:ext cx="8237474" cy="3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2550240" y="-844729"/>
            <a:ext cx="8237474" cy="10961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ctrTitle"/>
          </p:nvPr>
        </p:nvSpPr>
        <p:spPr>
          <a:xfrm>
            <a:off x="2940611" y="3160481"/>
            <a:ext cx="11398716" cy="830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98"/>
              <a:buFont typeface="Roboto Thin"/>
              <a:buNone/>
              <a:defRPr b="0" i="0" sz="5998">
                <a:solidFill>
                  <a:schemeClr val="lt1"/>
                </a:solidFill>
                <a:latin typeface="Roboto Thin"/>
                <a:ea typeface="Roboto Thin"/>
                <a:cs typeface="Roboto Thin"/>
                <a:sym typeface="Roboto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" type="subTitle"/>
          </p:nvPr>
        </p:nvSpPr>
        <p:spPr>
          <a:xfrm>
            <a:off x="722913" y="5417569"/>
            <a:ext cx="15834109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lt1"/>
              </a:buClr>
              <a:buSzPts val="2999"/>
              <a:buChar char="•"/>
              <a:defRPr b="0" i="0" sz="2999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70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6"/>
              <a:buFont typeface="Calibri"/>
              <a:buNone/>
              <a:defRPr b="0" i="0" sz="62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87996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568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b="0" i="0" sz="396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44627" lvl="1" marL="914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b="0" i="0" sz="34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8623" lvl="2" marL="1371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b="0" i="0" sz="28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0588" lvl="3" marL="1828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0589" lvl="4" marL="22860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0589" lvl="5" marL="27432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0589" lvl="6" marL="3200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0589" lvl="7" marL="3657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0589" lvl="8" marL="4114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5"/>
              <a:buFont typeface="Calibri"/>
              <a:buNone/>
              <a:defRPr b="0" i="0" sz="62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1187997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505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7"/>
              <a:buFont typeface="Arial"/>
              <a:buChar char="•"/>
              <a:defRPr b="0" i="0" sz="39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44627" lvl="1" marL="914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b="0" i="0" sz="34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8623" lvl="2" marL="1371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b="0" i="0" sz="28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0588" lvl="3" marL="1828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0589" lvl="4" marL="22860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0589" lvl="5" marL="27432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0589" lvl="6" marL="3200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0589" lvl="7" marL="3657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0589" lvl="8" marL="4114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1.png"/><Relationship Id="rId4" Type="http://schemas.openxmlformats.org/officeDocument/2006/relationships/hyperlink" Target="http://global-system.ru/" TargetMode="External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22" Type="http://schemas.openxmlformats.org/officeDocument/2006/relationships/image" Target="../media/image21.png"/><Relationship Id="rId21" Type="http://schemas.openxmlformats.org/officeDocument/2006/relationships/image" Target="../media/image39.png"/><Relationship Id="rId24" Type="http://schemas.openxmlformats.org/officeDocument/2006/relationships/image" Target="../media/image5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Relationship Id="rId26" Type="http://schemas.openxmlformats.org/officeDocument/2006/relationships/image" Target="../media/image4.png"/><Relationship Id="rId25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29.png"/><Relationship Id="rId8" Type="http://schemas.openxmlformats.org/officeDocument/2006/relationships/image" Target="../media/image14.png"/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13" Type="http://schemas.openxmlformats.org/officeDocument/2006/relationships/image" Target="../media/image49.png"/><Relationship Id="rId12" Type="http://schemas.openxmlformats.org/officeDocument/2006/relationships/image" Target="../media/image11.png"/><Relationship Id="rId15" Type="http://schemas.openxmlformats.org/officeDocument/2006/relationships/image" Target="../media/image13.png"/><Relationship Id="rId14" Type="http://schemas.openxmlformats.org/officeDocument/2006/relationships/image" Target="../media/image16.png"/><Relationship Id="rId17" Type="http://schemas.openxmlformats.org/officeDocument/2006/relationships/image" Target="../media/image20.png"/><Relationship Id="rId16" Type="http://schemas.openxmlformats.org/officeDocument/2006/relationships/image" Target="../media/image30.png"/><Relationship Id="rId19" Type="http://schemas.openxmlformats.org/officeDocument/2006/relationships/image" Target="../media/image28.png"/><Relationship Id="rId1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44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48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Relationship Id="rId11" Type="http://schemas.openxmlformats.org/officeDocument/2006/relationships/image" Target="../media/image47.png"/><Relationship Id="rId10" Type="http://schemas.openxmlformats.org/officeDocument/2006/relationships/image" Target="../media/image37.png"/><Relationship Id="rId13" Type="http://schemas.openxmlformats.org/officeDocument/2006/relationships/image" Target="../media/image40.png"/><Relationship Id="rId12" Type="http://schemas.openxmlformats.org/officeDocument/2006/relationships/image" Target="../media/image41.png"/><Relationship Id="rId15" Type="http://schemas.openxmlformats.org/officeDocument/2006/relationships/image" Target="../media/image5.png"/><Relationship Id="rId14" Type="http://schemas.openxmlformats.org/officeDocument/2006/relationships/image" Target="../media/image35.png"/><Relationship Id="rId17" Type="http://schemas.openxmlformats.org/officeDocument/2006/relationships/image" Target="../media/image4.png"/><Relationship Id="rId1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0"/>
            <a:ext cx="17279938" cy="9720263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0686" y="-684485"/>
            <a:ext cx="18181310" cy="108732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6"/>
          <p:cNvGrpSpPr/>
          <p:nvPr/>
        </p:nvGrpSpPr>
        <p:grpSpPr>
          <a:xfrm>
            <a:off x="2159249" y="8031012"/>
            <a:ext cx="8964621" cy="900209"/>
            <a:chOff x="2323810" y="8031012"/>
            <a:chExt cx="8964621" cy="900209"/>
          </a:xfrm>
        </p:grpSpPr>
        <p:sp>
          <p:nvSpPr>
            <p:cNvPr id="172" name="Google Shape;172;p26"/>
            <p:cNvSpPr/>
            <p:nvPr/>
          </p:nvSpPr>
          <p:spPr>
            <a:xfrm>
              <a:off x="2323810" y="8031248"/>
              <a:ext cx="899973" cy="899973"/>
            </a:xfrm>
            <a:prstGeom prst="roundRect">
              <a:avLst>
                <a:gd fmla="val 7847" name="adj"/>
              </a:avLst>
            </a:prstGeom>
            <a:solidFill>
              <a:srgbClr val="0080FF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ERP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3331891" y="8031012"/>
              <a:ext cx="899973" cy="899973"/>
            </a:xfrm>
            <a:prstGeom prst="roundRect">
              <a:avLst>
                <a:gd fmla="val 8906" name="adj"/>
              </a:avLst>
            </a:prstGeom>
            <a:solidFill>
              <a:srgbClr val="96BE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MES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339973" y="8031012"/>
              <a:ext cx="899973" cy="899973"/>
            </a:xfrm>
            <a:prstGeom prst="roundRect">
              <a:avLst>
                <a:gd fmla="val 8200" name="adj"/>
              </a:avLst>
            </a:prstGeom>
            <a:solidFill>
              <a:srgbClr val="AA008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EAM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5348053" y="8031248"/>
              <a:ext cx="899973" cy="899973"/>
            </a:xfrm>
            <a:prstGeom prst="roundRect">
              <a:avLst>
                <a:gd fmla="val 7142" name="adj"/>
              </a:avLst>
            </a:prstGeom>
            <a:solidFill>
              <a:srgbClr val="F0B4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HRM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6356134" y="8031248"/>
              <a:ext cx="899973" cy="899973"/>
            </a:xfrm>
            <a:prstGeom prst="roundRect">
              <a:avLst>
                <a:gd fmla="val 11728" name="adj"/>
              </a:avLst>
            </a:prstGeom>
            <a:solidFill>
              <a:srgbClr val="0050C8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FM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7364216" y="8031248"/>
              <a:ext cx="899973" cy="899973"/>
            </a:xfrm>
            <a:prstGeom prst="roundRect">
              <a:avLst>
                <a:gd fmla="val 9611" name="adj"/>
              </a:avLst>
            </a:prstGeom>
            <a:solidFill>
              <a:srgbClr val="FF64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SCM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8372297" y="8031248"/>
              <a:ext cx="899973" cy="899973"/>
            </a:xfrm>
            <a:prstGeom prst="roundRect">
              <a:avLst>
                <a:gd fmla="val 6789" name="adj"/>
              </a:avLst>
            </a:prstGeom>
            <a:solidFill>
              <a:srgbClr val="C81E1E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WMS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9380378" y="8031248"/>
              <a:ext cx="899973" cy="899973"/>
            </a:xfrm>
            <a:prstGeom prst="roundRect">
              <a:avLst>
                <a:gd fmla="val 8200" name="adj"/>
              </a:avLst>
            </a:prstGeom>
            <a:solidFill>
              <a:srgbClr val="008C32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PDM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0388458" y="8031248"/>
              <a:ext cx="899973" cy="899973"/>
            </a:xfrm>
            <a:prstGeom prst="roundRect">
              <a:avLst>
                <a:gd fmla="val 7847" name="adj"/>
              </a:avLst>
            </a:prstGeom>
            <a:solidFill>
              <a:srgbClr val="641496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MDM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sp>
        <p:nvSpPr>
          <p:cNvPr id="181" name="Google Shape;181;p26"/>
          <p:cNvSpPr txBox="1"/>
          <p:nvPr/>
        </p:nvSpPr>
        <p:spPr>
          <a:xfrm>
            <a:off x="2159249" y="3404270"/>
            <a:ext cx="12652861" cy="1476262"/>
          </a:xfrm>
          <a:prstGeom prst="rect">
            <a:avLst/>
          </a:prstGeom>
          <a:noFill/>
          <a:ln>
            <a:noFill/>
          </a:ln>
          <a:effectLst>
            <a:outerShdw blurRad="63500" rotWithShape="0" algn="ctr">
              <a:srgbClr val="000000">
                <a:alpha val="2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Он же глуповат. Чё все так на взводе?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ИЛИ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ИИ для чайников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82" name="Google Shape;182;p26">
            <a:hlinkClick r:id="rId4"/>
          </p:cNvPr>
          <p:cNvSpPr txBox="1"/>
          <p:nvPr/>
        </p:nvSpPr>
        <p:spPr>
          <a:xfrm>
            <a:off x="2159249" y="7380411"/>
            <a:ext cx="4896544" cy="56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global-system.ru</a:t>
            </a:r>
            <a:endParaRPr b="0" i="0" sz="2400" u="none" cap="none" strike="noStrike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249" y="2094932"/>
            <a:ext cx="6676199" cy="1015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6"/>
          <p:cNvCxnSpPr/>
          <p:nvPr/>
        </p:nvCxnSpPr>
        <p:spPr>
          <a:xfrm>
            <a:off x="2162709" y="6968764"/>
            <a:ext cx="4771587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/>
          <p:nvPr/>
        </p:nvSpPr>
        <p:spPr>
          <a:xfrm>
            <a:off x="8672332" y="7023940"/>
            <a:ext cx="7872634" cy="1918520"/>
          </a:xfrm>
          <a:prstGeom prst="roundRect">
            <a:avLst>
              <a:gd fmla="val 5204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719332" y="5996762"/>
            <a:ext cx="7872634" cy="2945699"/>
          </a:xfrm>
          <a:prstGeom prst="roundRect">
            <a:avLst>
              <a:gd fmla="val 2782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719332" y="2437571"/>
            <a:ext cx="3888313" cy="1918520"/>
          </a:xfrm>
          <a:prstGeom prst="roundRect">
            <a:avLst>
              <a:gd fmla="val 4894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4703653" y="2437571"/>
            <a:ext cx="3888313" cy="1918520"/>
          </a:xfrm>
          <a:prstGeom prst="roundRect">
            <a:avLst>
              <a:gd fmla="val 427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8687974" y="2437571"/>
            <a:ext cx="3888313" cy="1918520"/>
          </a:xfrm>
          <a:prstGeom prst="roundRect">
            <a:avLst>
              <a:gd fmla="val 5204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12672294" y="2437571"/>
            <a:ext cx="3888313" cy="1918520"/>
          </a:xfrm>
          <a:prstGeom prst="roundRect">
            <a:avLst>
              <a:gd fmla="val 4584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12868973" y="2627951"/>
            <a:ext cx="3547623" cy="1530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094F"/>
              </a:buClr>
              <a:buSzPts val="2200"/>
              <a:buFont typeface="Calibri"/>
              <a:buNone/>
            </a:pPr>
            <a:r>
              <a:rPr b="1" i="0" lang="ru-RU" spc="0" sz="2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Офисы:</a:t>
            </a:r>
            <a:endParaRPr b="1" i="0" spc="0" sz="2200" u="none" cap="none" strike="noStrike">
              <a:solidFill>
                <a:srgbClr val="F109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778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ru-RU" spc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г. Санкт-Петербург (основной)</a:t>
            </a:r>
            <a:endParaRPr b="0" i="0" spc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778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ru-RU" spc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г. Вологда</a:t>
            </a:r>
            <a:endParaRPr b="0" i="0" spc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778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ru-RU" spc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г. Пермь</a:t>
            </a:r>
            <a:endParaRPr/>
          </a:p>
          <a:p>
            <a:pPr indent="0" lvl="0" marL="17778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ru-RU" spc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г. Нижний Новгород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pc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863343" y="3491336"/>
            <a:ext cx="3626309" cy="72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Calibri"/>
              <a:buNone/>
            </a:pPr>
            <a:r>
              <a:rPr b="0" i="0" lang="ru-RU" spc="0" sz="2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рынке ИТ-проектов и отраслевой экспертизы</a:t>
            </a: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863345" y="2685406"/>
            <a:ext cx="3641748" cy="94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1094F"/>
              </a:buClr>
              <a:buSzPts val="7200"/>
              <a:buFont typeface="Calibri"/>
              <a:buNone/>
            </a:pPr>
            <a:r>
              <a:rPr b="0" i="0" lang="ru-RU" spc="0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ru-RU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ru-RU" spc="0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 лет</a:t>
            </a:r>
            <a:endParaRPr b="0" i="0" spc="0" sz="7200" u="none" cap="none" strike="noStrike">
              <a:solidFill>
                <a:srgbClr val="F109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4826936" y="2685406"/>
            <a:ext cx="3641748" cy="94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1094F"/>
              </a:buClr>
              <a:buSzPts val="7200"/>
              <a:buFont typeface="Calibri"/>
              <a:buNone/>
            </a:pPr>
            <a:r>
              <a:rPr b="0" i="0" lang="ru-RU" spc="0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ru-RU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ru-RU" spc="0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-RU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года</a:t>
            </a:r>
            <a:endParaRPr b="0" i="0" spc="0" sz="7200" u="none" cap="none" strike="noStrike">
              <a:solidFill>
                <a:srgbClr val="F109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4901547" y="3491335"/>
            <a:ext cx="3492523" cy="46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Calibri"/>
              <a:buNone/>
            </a:pPr>
            <a:r>
              <a:rPr b="0" i="0" lang="ru-RU" spc="0" sz="2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разработка платформы и Системы Global ERP</a:t>
            </a:r>
            <a:endParaRPr b="0" i="0" spc="0" sz="23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719333" y="1547864"/>
            <a:ext cx="15841274" cy="79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ru-RU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Наши решения предназначены для цифровизации процессов управления производством, ремонтами, складами, финансами, торговли, персоналом, документооборотом.</a:t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8817136" y="2685406"/>
            <a:ext cx="3641748" cy="94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1094F"/>
              </a:buClr>
              <a:buSzPts val="7200"/>
              <a:buFont typeface="Calibri"/>
              <a:buNone/>
            </a:pPr>
            <a:r>
              <a:rPr b="0" i="0" lang="ru-RU" spc="0" sz="7200" u="none" cap="none" strike="noStrike">
                <a:solidFill>
                  <a:srgbClr val="F1094F"/>
                </a:solidFill>
                <a:latin typeface="Calibri"/>
                <a:ea typeface="Calibri"/>
                <a:cs typeface="Calibri"/>
                <a:sym typeface="Calibri"/>
              </a:rPr>
              <a:t>100 +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8851894" y="3491335"/>
            <a:ext cx="3532377" cy="46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Calibri"/>
              <a:buNone/>
            </a:pPr>
            <a:r>
              <a:rPr b="0" i="0" lang="ru-RU" spc="0" sz="2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внедрений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8885871" y="4644500"/>
            <a:ext cx="7674736" cy="195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Calibri"/>
              <a:buNone/>
            </a:pPr>
            <a:r>
              <a:rPr b="1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Компания разрабатывает: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российскую Систему Global ERP и бизнес-приложения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индустриальное решение Global Marine для судостроения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платформу Global FrameWork для разработки бизнес-приложений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мобильные приложения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фреймворк для разработки мобильных приложений</a:t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719331" y="4707870"/>
            <a:ext cx="7674739" cy="937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CF"/>
              </a:buClr>
              <a:buSzPts val="2835"/>
              <a:buFont typeface="Calibri"/>
              <a:buNone/>
            </a:pPr>
            <a:r>
              <a:rPr b="0" i="0" lang="ru-RU" spc="0" sz="2835" u="none" cap="none" strike="noStrike">
                <a:solidFill>
                  <a:srgbClr val="0090CF"/>
                </a:solidFill>
                <a:latin typeface="Calibri"/>
                <a:ea typeface="Calibri"/>
                <a:cs typeface="Calibri"/>
                <a:sym typeface="Calibri"/>
              </a:rPr>
              <a:t>Мы профессионалы в области разработки и внедрения решений для управления бизнесом</a:t>
            </a:r>
            <a:endParaRPr/>
          </a:p>
        </p:txBody>
      </p:sp>
      <p:cxnSp>
        <p:nvCxnSpPr>
          <p:cNvPr id="205" name="Google Shape;205;p27"/>
          <p:cNvCxnSpPr/>
          <p:nvPr/>
        </p:nvCxnSpPr>
        <p:spPr>
          <a:xfrm>
            <a:off x="13679870" y="307434"/>
            <a:ext cx="0" cy="634902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6" name="Google Shape;206;p27"/>
          <p:cNvSpPr txBox="1"/>
          <p:nvPr/>
        </p:nvSpPr>
        <p:spPr>
          <a:xfrm>
            <a:off x="10683781" y="7365880"/>
            <a:ext cx="5610554" cy="132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84"/>
              <a:buFont typeface="Calibri"/>
              <a:buNone/>
            </a:pPr>
            <a:r>
              <a:rPr b="1" i="0" lang="ru-RU" spc="0" sz="19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Global-ERP: Комплексная система управления предприятием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84"/>
              <a:buFont typeface="Calibri"/>
              <a:buNone/>
            </a:pPr>
            <a:r>
              <a:rPr b="0" i="0" lang="ru-RU" spc="0" sz="19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в реестре российского программного обеспечения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84"/>
              <a:buFont typeface="Calibri"/>
              <a:buNone/>
            </a:pPr>
            <a:r>
              <a:rPr b="0" i="0" lang="ru-RU" spc="0" sz="19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Реестровая запись №3088 от 14.03.2017</a:t>
            </a:r>
            <a:endParaRPr b="0" i="0" spc="0" sz="19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6772" y="7245226"/>
            <a:ext cx="1651274" cy="1466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2111441" y="6237917"/>
            <a:ext cx="5967208" cy="1072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ru-RU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Представленность в отраслях: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668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судостроение, машиностроение, химическая промышленность, генерация, сбыты, торговля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2111441" y="7578602"/>
            <a:ext cx="5967208" cy="118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ru-RU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Разработка отраслевых решений: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668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управление финансами и банковский бизнес</a:t>
            </a:r>
            <a:endParaRPr/>
          </a:p>
          <a:p>
            <a:pPr indent="-269850" lvl="0" marL="26985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90CF"/>
              </a:buClr>
              <a:buSzPts val="1984"/>
              <a:buFont typeface="Noto Sans Symbols"/>
              <a:buChar char="▪"/>
            </a:pPr>
            <a:r>
              <a:rPr b="0" i="0" lang="ru-RU" spc="0" sz="19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нефтегазовая промышленность</a:t>
            </a:r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873" y="6308094"/>
            <a:ext cx="584057" cy="426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595" y="7552788"/>
            <a:ext cx="584057" cy="516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27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13" name="Google Shape;213;p27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4" name="Google Shape;214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7"/>
            <p:cNvPicPr preferRelativeResize="0"/>
            <p:nvPr/>
          </p:nvPicPr>
          <p:blipFill rotWithShape="1">
            <a:blip r:embed="rId7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7"/>
          <p:cNvSpPr txBox="1"/>
          <p:nvPr/>
        </p:nvSpPr>
        <p:spPr>
          <a:xfrm>
            <a:off x="722448" y="-20696"/>
            <a:ext cx="12237999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Система Global ERP — система корпоративного уровня</a:t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8"/>
          <p:cNvGrpSpPr/>
          <p:nvPr/>
        </p:nvGrpSpPr>
        <p:grpSpPr>
          <a:xfrm>
            <a:off x="697138" y="1913198"/>
            <a:ext cx="6070623" cy="2586893"/>
            <a:chOff x="697138" y="1913198"/>
            <a:chExt cx="6070623" cy="2586893"/>
          </a:xfrm>
        </p:grpSpPr>
        <p:sp>
          <p:nvSpPr>
            <p:cNvPr id="224" name="Google Shape;224;p28"/>
            <p:cNvSpPr/>
            <p:nvPr/>
          </p:nvSpPr>
          <p:spPr>
            <a:xfrm>
              <a:off x="697138" y="1913198"/>
              <a:ext cx="5782591" cy="2586893"/>
            </a:xfrm>
            <a:prstGeom prst="roundRect">
              <a:avLst>
                <a:gd fmla="val 322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8"/>
            <p:cNvSpPr txBox="1"/>
            <p:nvPr/>
          </p:nvSpPr>
          <p:spPr>
            <a:xfrm>
              <a:off x="1096459" y="2427342"/>
              <a:ext cx="5671302" cy="192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5600" lvl="0" marL="35560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B4"/>
                </a:buClr>
                <a:buSzPts val="1600"/>
                <a:buFont typeface="Noto Sans Symbols"/>
                <a:buChar char="▪"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Портал обучения с возможностью обучения с участием преподавателя  или самостоятельно</a:t>
              </a:r>
              <a:endParaRPr/>
            </a:p>
            <a:p>
              <a:pPr indent="-355600" lvl="0" marL="355600" marR="0" rtl="0" algn="l">
                <a:spcBef>
                  <a:spcPts val="1434"/>
                </a:spcBef>
                <a:spcAft>
                  <a:spcPts val="0"/>
                </a:spcAft>
                <a:buClr>
                  <a:srgbClr val="0080B4"/>
                </a:buClr>
                <a:buSzPts val="1600"/>
                <a:buFont typeface="Noto Sans Symbols"/>
                <a:buChar char="▪"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Курсы сопровождаются практическими заданиями, выполняемыми в системе</a:t>
              </a:r>
              <a:endParaRPr/>
            </a:p>
            <a:p>
              <a:pPr indent="-355600" lvl="0" marL="355600" marR="0" rtl="0" algn="l">
                <a:spcBef>
                  <a:spcPts val="1434"/>
                </a:spcBef>
                <a:spcAft>
                  <a:spcPts val="0"/>
                </a:spcAft>
                <a:buClr>
                  <a:srgbClr val="0080B4"/>
                </a:buClr>
                <a:buSzPts val="1600"/>
                <a:buFont typeface="Noto Sans Symbols"/>
                <a:buChar char="▪"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Постоянное развитие курсов обучения по функциональным модулям системы</a:t>
              </a:r>
              <a:endParaRPr b="0" i="0" sz="16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226" name="Google Shape;226;p28"/>
            <p:cNvSpPr txBox="1"/>
            <p:nvPr/>
          </p:nvSpPr>
          <p:spPr>
            <a:xfrm>
              <a:off x="973833" y="1996247"/>
              <a:ext cx="3842281" cy="37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rgbClr val="FF0050"/>
                  </a:solidFill>
                  <a:latin typeface="Geologica"/>
                  <a:ea typeface="Geologica"/>
                  <a:cs typeface="Geologica"/>
                  <a:sym typeface="Geologica"/>
                </a:rPr>
                <a:t>Курсы</a:t>
              </a:r>
              <a:endParaRPr/>
            </a:p>
          </p:txBody>
        </p:sp>
      </p:grpSp>
      <p:grpSp>
        <p:nvGrpSpPr>
          <p:cNvPr id="227" name="Google Shape;227;p28"/>
          <p:cNvGrpSpPr/>
          <p:nvPr/>
        </p:nvGrpSpPr>
        <p:grpSpPr>
          <a:xfrm>
            <a:off x="697138" y="4791300"/>
            <a:ext cx="5782591" cy="2088231"/>
            <a:chOff x="697138" y="4860132"/>
            <a:chExt cx="5782591" cy="2088231"/>
          </a:xfrm>
        </p:grpSpPr>
        <p:sp>
          <p:nvSpPr>
            <p:cNvPr id="228" name="Google Shape;228;p28"/>
            <p:cNvSpPr/>
            <p:nvPr/>
          </p:nvSpPr>
          <p:spPr>
            <a:xfrm>
              <a:off x="697138" y="4860132"/>
              <a:ext cx="5782591" cy="2088231"/>
            </a:xfrm>
            <a:prstGeom prst="roundRect">
              <a:avLst>
                <a:gd fmla="val 322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8"/>
            <p:cNvSpPr txBox="1"/>
            <p:nvPr/>
          </p:nvSpPr>
          <p:spPr>
            <a:xfrm>
              <a:off x="1096459" y="5467006"/>
              <a:ext cx="5184576" cy="125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55600" lvl="0" marL="35560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B4"/>
                </a:buClr>
                <a:buSzPts val="1600"/>
                <a:buFont typeface="Noto Sans Symbols"/>
                <a:buChar char="▪"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Программы аттестации по функциональным модулям, платформе и сервисам системы</a:t>
              </a:r>
              <a:endParaRPr/>
            </a:p>
            <a:p>
              <a:pPr indent="-355600" lvl="0" marL="355600" marR="0" rtl="0" algn="l">
                <a:spcBef>
                  <a:spcPts val="1434"/>
                </a:spcBef>
                <a:spcAft>
                  <a:spcPts val="0"/>
                </a:spcAft>
                <a:buClr>
                  <a:srgbClr val="0080B4"/>
                </a:buClr>
                <a:buSzPts val="1600"/>
                <a:buFont typeface="Noto Sans Symbols"/>
                <a:buChar char="▪"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Системы требований к консультантам в привязке к грейду</a:t>
              </a:r>
              <a:endParaRPr b="0" i="0" sz="16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230" name="Google Shape;230;p28"/>
            <p:cNvSpPr txBox="1"/>
            <p:nvPr/>
          </p:nvSpPr>
          <p:spPr>
            <a:xfrm>
              <a:off x="973833" y="4970215"/>
              <a:ext cx="4968552" cy="38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400" u="none" cap="none" strike="noStrike">
                  <a:solidFill>
                    <a:srgbClr val="FF0050"/>
                  </a:solidFill>
                  <a:latin typeface="Geologica"/>
                  <a:ea typeface="Geologica"/>
                  <a:cs typeface="Geologica"/>
                  <a:sym typeface="Geologica"/>
                </a:rPr>
                <a:t>Аттестация аналитиков</a:t>
              </a:r>
              <a:endParaRPr/>
            </a:p>
          </p:txBody>
        </p:sp>
      </p:grpSp>
      <p:sp>
        <p:nvSpPr>
          <p:cNvPr id="231" name="Google Shape;231;p28"/>
          <p:cNvSpPr/>
          <p:nvPr/>
        </p:nvSpPr>
        <p:spPr>
          <a:xfrm>
            <a:off x="660177" y="7170741"/>
            <a:ext cx="5782591" cy="2088231"/>
          </a:xfrm>
          <a:prstGeom prst="roundRect">
            <a:avLst>
              <a:gd fmla="val 3228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1096459" y="7883977"/>
            <a:ext cx="4951222" cy="129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0080B4"/>
              </a:buClr>
              <a:buSzPts val="1600"/>
              <a:buFont typeface="Noto Sans Symbols"/>
              <a:buChar char="▪"/>
            </a:pPr>
            <a:r>
              <a:rPr b="0" i="0" lang="ru-RU" sz="16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Программы аттестации разработчиков Global-FrameWork</a:t>
            </a:r>
            <a:endParaRPr b="0" i="0" sz="16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355600" lvl="0" marL="355600" marR="0" rtl="0" algn="l">
              <a:spcBef>
                <a:spcPts val="1434"/>
              </a:spcBef>
              <a:spcAft>
                <a:spcPts val="0"/>
              </a:spcAft>
              <a:buClr>
                <a:srgbClr val="0080B4"/>
              </a:buClr>
              <a:buSzPts val="1600"/>
              <a:buFont typeface="Noto Sans Symbols"/>
              <a:buChar char="▪"/>
            </a:pPr>
            <a:r>
              <a:rPr b="0" i="0" lang="ru-RU" sz="16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Системы требований к разработчикам в привязке к грейду</a:t>
            </a:r>
            <a:endParaRPr b="0" i="0" sz="16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973833" y="7312731"/>
            <a:ext cx="5073848" cy="578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FF0050"/>
                </a:solidFill>
                <a:latin typeface="Geologica"/>
                <a:ea typeface="Geologica"/>
                <a:cs typeface="Geologica"/>
                <a:sym typeface="Geologica"/>
              </a:rPr>
              <a:t>Аттестация разработчиков</a:t>
            </a:r>
            <a:endParaRPr/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746" y="1996247"/>
            <a:ext cx="6336706" cy="6350634"/>
          </a:xfrm>
          <a:prstGeom prst="rect">
            <a:avLst/>
          </a:prstGeom>
          <a:noFill/>
          <a:ln cap="flat" cmpd="sng" w="19050">
            <a:solidFill>
              <a:srgbClr val="008FC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3374" y="2632589"/>
            <a:ext cx="6041993" cy="6626383"/>
          </a:xfrm>
          <a:prstGeom prst="rect">
            <a:avLst/>
          </a:prstGeom>
          <a:noFill/>
          <a:ln cap="flat" cmpd="sng" w="19050">
            <a:solidFill>
              <a:srgbClr val="008FC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6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Курсы подготовки специалистов на платформе обучения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609" y="2211840"/>
            <a:ext cx="6480720" cy="6176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/>
        </p:nvSpPr>
        <p:spPr>
          <a:xfrm>
            <a:off x="722448" y="1763786"/>
            <a:ext cx="15834800" cy="100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Global ERP – реальная альтернатива SAP и Oracle EBS для крупного бизнеса</a:t>
            </a:r>
            <a:endParaRPr/>
          </a:p>
        </p:txBody>
      </p:sp>
      <p:grpSp>
        <p:nvGrpSpPr>
          <p:cNvPr id="250" name="Google Shape;250;p29"/>
          <p:cNvGrpSpPr/>
          <p:nvPr/>
        </p:nvGrpSpPr>
        <p:grpSpPr>
          <a:xfrm>
            <a:off x="722690" y="3132325"/>
            <a:ext cx="15834558" cy="5400214"/>
            <a:chOff x="722691" y="2526035"/>
            <a:chExt cx="15834558" cy="5400214"/>
          </a:xfrm>
        </p:grpSpPr>
        <p:grpSp>
          <p:nvGrpSpPr>
            <p:cNvPr id="251" name="Google Shape;251;p29"/>
            <p:cNvGrpSpPr/>
            <p:nvPr/>
          </p:nvGrpSpPr>
          <p:grpSpPr>
            <a:xfrm>
              <a:off x="722691" y="2669824"/>
              <a:ext cx="6480522" cy="1587678"/>
              <a:chOff x="722691" y="2339624"/>
              <a:chExt cx="6480522" cy="1587678"/>
            </a:xfrm>
          </p:grpSpPr>
          <p:sp>
            <p:nvSpPr>
              <p:cNvPr id="252" name="Google Shape;252;p29"/>
              <p:cNvSpPr/>
              <p:nvPr/>
            </p:nvSpPr>
            <p:spPr>
              <a:xfrm>
                <a:off x="722691" y="2339626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>
                <a:off x="1064130" y="2701475"/>
                <a:ext cx="863974" cy="86397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1</a:t>
                </a:r>
                <a:endParaRPr/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2147482" y="2339624"/>
                <a:ext cx="4332312" cy="1587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Широкая функциональность прикладных решений для управления активами </a:t>
                </a:r>
                <a:endParaRPr/>
              </a:p>
            </p:txBody>
          </p:sp>
        </p:grpSp>
        <p:grpSp>
          <p:nvGrpSpPr>
            <p:cNvPr id="255" name="Google Shape;255;p29"/>
            <p:cNvGrpSpPr/>
            <p:nvPr/>
          </p:nvGrpSpPr>
          <p:grpSpPr>
            <a:xfrm>
              <a:off x="722691" y="4396187"/>
              <a:ext cx="6480522" cy="1587676"/>
              <a:chOff x="722691" y="4065987"/>
              <a:chExt cx="6480522" cy="1587676"/>
            </a:xfrm>
          </p:grpSpPr>
          <p:sp>
            <p:nvSpPr>
              <p:cNvPr id="256" name="Google Shape;256;p29"/>
              <p:cNvSpPr/>
              <p:nvPr/>
            </p:nvSpPr>
            <p:spPr>
              <a:xfrm>
                <a:off x="722691" y="4065987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9"/>
              <p:cNvSpPr/>
              <p:nvPr/>
            </p:nvSpPr>
            <p:spPr>
              <a:xfrm>
                <a:off x="1064130" y="4427836"/>
                <a:ext cx="863974" cy="863974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2</a:t>
                </a:r>
                <a:endParaRPr b="0" i="0" sz="3200" u="none" cap="none" strike="noStrike">
                  <a:solidFill>
                    <a:srgbClr val="FFFFFF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2147481" y="4065987"/>
                <a:ext cx="3612257" cy="1587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Архитектура высокой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доступности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</p:grpSp>
        <p:grpSp>
          <p:nvGrpSpPr>
            <p:cNvPr id="259" name="Google Shape;259;p29"/>
            <p:cNvGrpSpPr/>
            <p:nvPr/>
          </p:nvGrpSpPr>
          <p:grpSpPr>
            <a:xfrm>
              <a:off x="722691" y="6122546"/>
              <a:ext cx="6480522" cy="1587676"/>
              <a:chOff x="722691" y="5792346"/>
              <a:chExt cx="6480522" cy="1587676"/>
            </a:xfrm>
          </p:grpSpPr>
          <p:sp>
            <p:nvSpPr>
              <p:cNvPr id="260" name="Google Shape;260;p29"/>
              <p:cNvSpPr/>
              <p:nvPr/>
            </p:nvSpPr>
            <p:spPr>
              <a:xfrm>
                <a:off x="722691" y="5792346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1064130" y="6154196"/>
                <a:ext cx="863974" cy="863974"/>
              </a:xfrm>
              <a:prstGeom prst="ellipse">
                <a:avLst/>
              </a:prstGeom>
              <a:solidFill>
                <a:srgbClr val="FF64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3</a:t>
                </a:r>
                <a:endParaRPr b="0" i="0" sz="3200" u="none" cap="none" strike="noStrike">
                  <a:solidFill>
                    <a:srgbClr val="FFFFFF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2147480" y="5792346"/>
                <a:ext cx="4332315" cy="1587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Высокая нагрузочная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способность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и производительность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</p:grpSp>
        <p:grpSp>
          <p:nvGrpSpPr>
            <p:cNvPr id="263" name="Google Shape;263;p29"/>
            <p:cNvGrpSpPr/>
            <p:nvPr/>
          </p:nvGrpSpPr>
          <p:grpSpPr>
            <a:xfrm>
              <a:off x="10076727" y="2680630"/>
              <a:ext cx="6480522" cy="1587679"/>
              <a:chOff x="10076727" y="2350430"/>
              <a:chExt cx="6480522" cy="1587679"/>
            </a:xfrm>
          </p:grpSpPr>
          <p:sp>
            <p:nvSpPr>
              <p:cNvPr id="264" name="Google Shape;264;p29"/>
              <p:cNvSpPr/>
              <p:nvPr/>
            </p:nvSpPr>
            <p:spPr>
              <a:xfrm>
                <a:off x="10076727" y="2350431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11376189" y="2712281"/>
                <a:ext cx="863974" cy="863974"/>
              </a:xfrm>
              <a:prstGeom prst="ellipse">
                <a:avLst/>
              </a:prstGeom>
              <a:solidFill>
                <a:srgbClr val="008FC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4</a:t>
                </a:r>
                <a:endParaRPr b="0" i="0" sz="3200" u="none" cap="none" strike="noStrike">
                  <a:solidFill>
                    <a:srgbClr val="FFFFFF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12437841" y="2350430"/>
                <a:ext cx="3912919" cy="1587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Многочисленные сервисы платформы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</p:grpSp>
        <p:grpSp>
          <p:nvGrpSpPr>
            <p:cNvPr id="267" name="Google Shape;267;p29"/>
            <p:cNvGrpSpPr/>
            <p:nvPr/>
          </p:nvGrpSpPr>
          <p:grpSpPr>
            <a:xfrm>
              <a:off x="10076727" y="4396187"/>
              <a:ext cx="6480522" cy="1587676"/>
              <a:chOff x="10076727" y="4065987"/>
              <a:chExt cx="6480522" cy="1587676"/>
            </a:xfrm>
          </p:grpSpPr>
          <p:sp>
            <p:nvSpPr>
              <p:cNvPr id="268" name="Google Shape;268;p29"/>
              <p:cNvSpPr/>
              <p:nvPr/>
            </p:nvSpPr>
            <p:spPr>
              <a:xfrm>
                <a:off x="10076727" y="4065987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11376189" y="4427836"/>
                <a:ext cx="863974" cy="863974"/>
              </a:xfrm>
              <a:prstGeom prst="ellipse">
                <a:avLst/>
              </a:prstGeom>
              <a:solidFill>
                <a:srgbClr val="F109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5</a:t>
                </a:r>
                <a:endParaRPr b="0" i="0" sz="3200" u="none" cap="none" strike="noStrike">
                  <a:solidFill>
                    <a:srgbClr val="FFFFFF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12437320" y="4092705"/>
                <a:ext cx="3907270" cy="1534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Внедрения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Систему используют крупные заказчики</a:t>
                </a:r>
                <a:endParaRPr b="0" i="0" sz="2000" u="none" cap="none" strike="noStrik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</p:grpSp>
        <p:grpSp>
          <p:nvGrpSpPr>
            <p:cNvPr id="271" name="Google Shape;271;p29"/>
            <p:cNvGrpSpPr/>
            <p:nvPr/>
          </p:nvGrpSpPr>
          <p:grpSpPr>
            <a:xfrm>
              <a:off x="10076727" y="6122546"/>
              <a:ext cx="6480522" cy="1587676"/>
              <a:chOff x="10076727" y="5792346"/>
              <a:chExt cx="6480522" cy="1587676"/>
            </a:xfrm>
          </p:grpSpPr>
          <p:sp>
            <p:nvSpPr>
              <p:cNvPr id="272" name="Google Shape;272;p29"/>
              <p:cNvSpPr/>
              <p:nvPr/>
            </p:nvSpPr>
            <p:spPr>
              <a:xfrm>
                <a:off x="10076727" y="5792346"/>
                <a:ext cx="6480522" cy="1587676"/>
              </a:xfrm>
              <a:prstGeom prst="roundRect">
                <a:avLst>
                  <a:gd fmla="val 8168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" rotWithShape="0" algn="t" dir="5400000" dist="25400">
                  <a:schemeClr val="dk1">
                    <a:alpha val="10196"/>
                  </a:scheme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>
                <a:off x="11376189" y="6154196"/>
                <a:ext cx="863974" cy="863974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3200" u="none" cap="none" strike="noStrike">
                    <a:solidFill>
                      <a:srgbClr val="FFFFFF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6</a:t>
                </a:r>
                <a:endParaRPr b="0" i="0" sz="3200" u="none" cap="none" strike="noStrike">
                  <a:solidFill>
                    <a:srgbClr val="FFFFFF"/>
                  </a:solidFill>
                  <a:latin typeface="Geologica"/>
                  <a:ea typeface="Geologica"/>
                  <a:cs typeface="Geologica"/>
                  <a:sym typeface="Geologica"/>
                </a:endParaRPr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>
                <a:off x="12437320" y="5792347"/>
                <a:ext cx="3907270" cy="158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-RU" sz="2000" u="none" cap="none" strike="noStrike">
                    <a:solidFill>
                      <a:schemeClr val="dk1"/>
                    </a:solidFill>
                    <a:latin typeface="Geologica"/>
                    <a:ea typeface="Geologica"/>
                    <a:cs typeface="Geologica"/>
                    <a:sym typeface="Geologica"/>
                  </a:rPr>
                  <a:t>Наличие ресурсов для внедрения и поддержки</a:t>
                </a:r>
                <a:endParaRPr/>
              </a:p>
            </p:txBody>
          </p:sp>
        </p:grpSp>
        <p:pic>
          <p:nvPicPr>
            <p:cNvPr id="275" name="Google Shape;275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99709" y="2526035"/>
              <a:ext cx="6480522" cy="540021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" name="Google Shape;276;p29"/>
            <p:cNvGrpSpPr/>
            <p:nvPr/>
          </p:nvGrpSpPr>
          <p:grpSpPr>
            <a:xfrm>
              <a:off x="7760304" y="4902078"/>
              <a:ext cx="1887747" cy="720170"/>
              <a:chOff x="15847944" y="3041040"/>
              <a:chExt cx="923285" cy="352231"/>
            </a:xfrm>
          </p:grpSpPr>
          <p:sp>
            <p:nvSpPr>
              <p:cNvPr id="277" name="Google Shape;277;p29"/>
              <p:cNvSpPr/>
              <p:nvPr/>
            </p:nvSpPr>
            <p:spPr>
              <a:xfrm>
                <a:off x="15847944" y="3041040"/>
                <a:ext cx="245974" cy="352231"/>
              </a:xfrm>
              <a:custGeom>
                <a:rect b="b" l="l" r="r" t="t"/>
                <a:pathLst>
                  <a:path extrusionOk="0" h="352231" w="245974">
                    <a:moveTo>
                      <a:pt x="84536" y="276355"/>
                    </a:moveTo>
                    <a:lnTo>
                      <a:pt x="245975" y="276355"/>
                    </a:lnTo>
                    <a:lnTo>
                      <a:pt x="245975" y="352231"/>
                    </a:lnTo>
                    <a:lnTo>
                      <a:pt x="0" y="352231"/>
                    </a:lnTo>
                    <a:lnTo>
                      <a:pt x="0" y="0"/>
                    </a:lnTo>
                    <a:lnTo>
                      <a:pt x="245975" y="0"/>
                    </a:lnTo>
                    <a:lnTo>
                      <a:pt x="245975" y="75877"/>
                    </a:lnTo>
                    <a:lnTo>
                      <a:pt x="84536" y="75877"/>
                    </a:lnTo>
                    <a:lnTo>
                      <a:pt x="84536" y="138251"/>
                    </a:lnTo>
                    <a:lnTo>
                      <a:pt x="221612" y="138251"/>
                    </a:lnTo>
                    <a:lnTo>
                      <a:pt x="221612" y="214127"/>
                    </a:lnTo>
                    <a:lnTo>
                      <a:pt x="84536" y="214127"/>
                    </a:lnTo>
                    <a:lnTo>
                      <a:pt x="84536" y="276502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29"/>
              <p:cNvSpPr/>
              <p:nvPr/>
            </p:nvSpPr>
            <p:spPr>
              <a:xfrm>
                <a:off x="16141029" y="3041040"/>
                <a:ext cx="294259" cy="352231"/>
              </a:xfrm>
              <a:custGeom>
                <a:rect b="b" l="l" r="r" t="t"/>
                <a:pathLst>
                  <a:path extrusionOk="0" h="352231" w="294259">
                    <a:moveTo>
                      <a:pt x="217209" y="231886"/>
                    </a:moveTo>
                    <a:lnTo>
                      <a:pt x="293086" y="352231"/>
                    </a:lnTo>
                    <a:lnTo>
                      <a:pt x="198277" y="352231"/>
                    </a:lnTo>
                    <a:lnTo>
                      <a:pt x="124602" y="240104"/>
                    </a:lnTo>
                    <a:lnTo>
                      <a:pt x="84536" y="240104"/>
                    </a:lnTo>
                    <a:lnTo>
                      <a:pt x="84536" y="352231"/>
                    </a:lnTo>
                    <a:lnTo>
                      <a:pt x="0" y="352231"/>
                    </a:lnTo>
                    <a:lnTo>
                      <a:pt x="0" y="0"/>
                    </a:lnTo>
                    <a:lnTo>
                      <a:pt x="168484" y="0"/>
                    </a:lnTo>
                    <a:cubicBezTo>
                      <a:pt x="255221" y="0"/>
                      <a:pt x="294260" y="66043"/>
                      <a:pt x="294260" y="120346"/>
                    </a:cubicBezTo>
                    <a:cubicBezTo>
                      <a:pt x="294260" y="159972"/>
                      <a:pt x="273126" y="212513"/>
                      <a:pt x="217356" y="232032"/>
                    </a:cubicBezTo>
                    <a:close/>
                    <a:moveTo>
                      <a:pt x="84389" y="164081"/>
                    </a:moveTo>
                    <a:lnTo>
                      <a:pt x="167897" y="164081"/>
                    </a:lnTo>
                    <a:cubicBezTo>
                      <a:pt x="178757" y="164081"/>
                      <a:pt x="188444" y="162467"/>
                      <a:pt x="195488" y="159238"/>
                    </a:cubicBezTo>
                    <a:cubicBezTo>
                      <a:pt x="200332" y="156596"/>
                      <a:pt x="204735" y="153808"/>
                      <a:pt x="207963" y="149992"/>
                    </a:cubicBezTo>
                    <a:cubicBezTo>
                      <a:pt x="215595" y="140746"/>
                      <a:pt x="218237" y="128271"/>
                      <a:pt x="218237" y="120199"/>
                    </a:cubicBezTo>
                    <a:cubicBezTo>
                      <a:pt x="218237" y="111540"/>
                      <a:pt x="215595" y="99065"/>
                      <a:pt x="206789" y="89819"/>
                    </a:cubicBezTo>
                    <a:cubicBezTo>
                      <a:pt x="198717" y="80133"/>
                      <a:pt x="186242" y="75730"/>
                      <a:pt x="168337" y="75730"/>
                    </a:cubicBezTo>
                    <a:lnTo>
                      <a:pt x="84389" y="75730"/>
                    </a:lnTo>
                    <a:lnTo>
                      <a:pt x="84389" y="164081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9"/>
              <p:cNvSpPr/>
              <p:nvPr/>
            </p:nvSpPr>
            <p:spPr>
              <a:xfrm>
                <a:off x="16476383" y="3041040"/>
                <a:ext cx="294846" cy="352084"/>
              </a:xfrm>
              <a:custGeom>
                <a:rect b="b" l="l" r="r" t="t"/>
                <a:pathLst>
                  <a:path extrusionOk="0" h="352084" w="294846">
                    <a:moveTo>
                      <a:pt x="294847" y="120199"/>
                    </a:moveTo>
                    <a:cubicBezTo>
                      <a:pt x="294847" y="170098"/>
                      <a:pt x="261238" y="239958"/>
                      <a:pt x="168044" y="239958"/>
                    </a:cubicBezTo>
                    <a:lnTo>
                      <a:pt x="84535" y="239958"/>
                    </a:lnTo>
                    <a:lnTo>
                      <a:pt x="84535" y="352085"/>
                    </a:lnTo>
                    <a:lnTo>
                      <a:pt x="0" y="352085"/>
                    </a:lnTo>
                    <a:lnTo>
                      <a:pt x="0" y="0"/>
                    </a:lnTo>
                    <a:lnTo>
                      <a:pt x="169071" y="0"/>
                    </a:lnTo>
                    <a:cubicBezTo>
                      <a:pt x="255808" y="0"/>
                      <a:pt x="294847" y="66043"/>
                      <a:pt x="294847" y="120346"/>
                    </a:cubicBezTo>
                    <a:close/>
                    <a:moveTo>
                      <a:pt x="218970" y="120199"/>
                    </a:moveTo>
                    <a:cubicBezTo>
                      <a:pt x="218970" y="111540"/>
                      <a:pt x="215742" y="99065"/>
                      <a:pt x="207523" y="89819"/>
                    </a:cubicBezTo>
                    <a:cubicBezTo>
                      <a:pt x="198864" y="80133"/>
                      <a:pt x="186389" y="75730"/>
                      <a:pt x="169071" y="75730"/>
                    </a:cubicBezTo>
                    <a:lnTo>
                      <a:pt x="84535" y="75730"/>
                    </a:lnTo>
                    <a:lnTo>
                      <a:pt x="84535" y="164081"/>
                    </a:lnTo>
                    <a:lnTo>
                      <a:pt x="168044" y="164081"/>
                    </a:lnTo>
                    <a:cubicBezTo>
                      <a:pt x="179491" y="164081"/>
                      <a:pt x="188591" y="162467"/>
                      <a:pt x="196222" y="159238"/>
                    </a:cubicBezTo>
                    <a:cubicBezTo>
                      <a:pt x="201065" y="156596"/>
                      <a:pt x="204881" y="153808"/>
                      <a:pt x="208697" y="149992"/>
                    </a:cubicBezTo>
                    <a:cubicBezTo>
                      <a:pt x="216329" y="140746"/>
                      <a:pt x="218970" y="128271"/>
                      <a:pt x="218970" y="120199"/>
                    </a:cubicBez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55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0" name="Google Shape;280;p29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grpSp>
        <p:nvGrpSpPr>
          <p:cNvPr id="281" name="Google Shape;281;p29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82" name="Google Shape;282;p29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3" name="Google Shape;283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9"/>
            <p:cNvPicPr preferRelativeResize="0"/>
            <p:nvPr/>
          </p:nvPicPr>
          <p:blipFill rotWithShape="1">
            <a:blip r:embed="rId6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5" name="Google Shape;28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/>
        </p:nvSpPr>
        <p:spPr>
          <a:xfrm>
            <a:off x="1495242" y="-40556"/>
            <a:ext cx="12237999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Система Global ERP — система корпоративного уровня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10521753" y="7449077"/>
            <a:ext cx="5939516" cy="1587517"/>
          </a:xfrm>
          <a:prstGeom prst="roundRect">
            <a:avLst>
              <a:gd fmla="val 8370" name="adj"/>
            </a:avLst>
          </a:prstGeom>
          <a:solidFill>
            <a:srgbClr val="0080B4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4518650" y="7449077"/>
            <a:ext cx="5849511" cy="1587517"/>
          </a:xfrm>
          <a:prstGeom prst="roundRect">
            <a:avLst>
              <a:gd fmla="val 8370" name="adj"/>
            </a:avLst>
          </a:prstGeom>
          <a:solidFill>
            <a:srgbClr val="0080B4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30"/>
          <p:cNvGrpSpPr/>
          <p:nvPr/>
        </p:nvGrpSpPr>
        <p:grpSpPr>
          <a:xfrm>
            <a:off x="4518650" y="1903240"/>
            <a:ext cx="2286432" cy="1111844"/>
            <a:chOff x="5013273" y="1981699"/>
            <a:chExt cx="2791878" cy="1357632"/>
          </a:xfrm>
        </p:grpSpPr>
        <p:sp>
          <p:nvSpPr>
            <p:cNvPr id="294" name="Google Shape;294;p30"/>
            <p:cNvSpPr/>
            <p:nvPr/>
          </p:nvSpPr>
          <p:spPr>
            <a:xfrm>
              <a:off x="5016562" y="1981699"/>
              <a:ext cx="2788589" cy="1357632"/>
            </a:xfrm>
            <a:prstGeom prst="roundRect">
              <a:avLst>
                <a:gd fmla="val 758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5" name="Google Shape;29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50583" y="2195835"/>
              <a:ext cx="1513970" cy="431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30"/>
            <p:cNvSpPr txBox="1"/>
            <p:nvPr/>
          </p:nvSpPr>
          <p:spPr>
            <a:xfrm>
              <a:off x="5013273" y="2909656"/>
              <a:ext cx="2788589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Прибалтийский судостроительный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завод Янтарь</a:t>
              </a:r>
              <a:endParaRPr/>
            </a:p>
          </p:txBody>
        </p:sp>
      </p:grpSp>
      <p:grpSp>
        <p:nvGrpSpPr>
          <p:cNvPr id="297" name="Google Shape;297;p30"/>
          <p:cNvGrpSpPr/>
          <p:nvPr/>
        </p:nvGrpSpPr>
        <p:grpSpPr>
          <a:xfrm>
            <a:off x="6937313" y="1903240"/>
            <a:ext cx="2283739" cy="1111844"/>
            <a:chOff x="5016562" y="3460021"/>
            <a:chExt cx="2788589" cy="1357632"/>
          </a:xfrm>
        </p:grpSpPr>
        <p:sp>
          <p:nvSpPr>
            <p:cNvPr id="298" name="Google Shape;298;p30"/>
            <p:cNvSpPr/>
            <p:nvPr/>
          </p:nvSpPr>
          <p:spPr>
            <a:xfrm>
              <a:off x="5016562" y="3460021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9" name="Google Shape;299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8242" y="3542456"/>
              <a:ext cx="1338594" cy="8031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30"/>
            <p:cNvSpPr txBox="1"/>
            <p:nvPr/>
          </p:nvSpPr>
          <p:spPr>
            <a:xfrm>
              <a:off x="5348027" y="4417444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Металлургическая корпорация ВСМПО-Ависма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301" name="Google Shape;301;p30"/>
          <p:cNvGrpSpPr/>
          <p:nvPr/>
        </p:nvGrpSpPr>
        <p:grpSpPr>
          <a:xfrm>
            <a:off x="9353283" y="1903240"/>
            <a:ext cx="2283739" cy="1111844"/>
            <a:chOff x="7940961" y="3460021"/>
            <a:chExt cx="2788589" cy="1357632"/>
          </a:xfrm>
        </p:grpSpPr>
        <p:sp>
          <p:nvSpPr>
            <p:cNvPr id="302" name="Google Shape;302;p30"/>
            <p:cNvSpPr/>
            <p:nvPr/>
          </p:nvSpPr>
          <p:spPr>
            <a:xfrm>
              <a:off x="7940961" y="3460021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3" name="Google Shape;303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99020" y="3609474"/>
              <a:ext cx="1521751" cy="669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30"/>
            <p:cNvSpPr txBox="1"/>
            <p:nvPr/>
          </p:nvSpPr>
          <p:spPr>
            <a:xfrm>
              <a:off x="8300355" y="4417444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Энергосбыт +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Удмуртский филиал</a:t>
              </a:r>
              <a:endParaRPr/>
            </a:p>
          </p:txBody>
        </p:sp>
      </p:grpSp>
      <p:grpSp>
        <p:nvGrpSpPr>
          <p:cNvPr id="305" name="Google Shape;305;p30"/>
          <p:cNvGrpSpPr/>
          <p:nvPr/>
        </p:nvGrpSpPr>
        <p:grpSpPr>
          <a:xfrm>
            <a:off x="11769253" y="1903240"/>
            <a:ext cx="2283739" cy="1111844"/>
            <a:chOff x="10865360" y="3460021"/>
            <a:chExt cx="2788589" cy="1357632"/>
          </a:xfrm>
        </p:grpSpPr>
        <p:sp>
          <p:nvSpPr>
            <p:cNvPr id="306" name="Google Shape;306;p30"/>
            <p:cNvSpPr/>
            <p:nvPr/>
          </p:nvSpPr>
          <p:spPr>
            <a:xfrm>
              <a:off x="10865360" y="3460021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7" name="Google Shape;307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85054" y="3563987"/>
              <a:ext cx="1510324" cy="691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30"/>
            <p:cNvSpPr txBox="1"/>
            <p:nvPr/>
          </p:nvSpPr>
          <p:spPr>
            <a:xfrm>
              <a:off x="11180675" y="4417444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Холдинг химической промышленности Никохим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309" name="Google Shape;309;p30"/>
          <p:cNvGrpSpPr/>
          <p:nvPr/>
        </p:nvGrpSpPr>
        <p:grpSpPr>
          <a:xfrm>
            <a:off x="14185222" y="1903240"/>
            <a:ext cx="2283739" cy="1111844"/>
            <a:chOff x="13789760" y="3460021"/>
            <a:chExt cx="2788589" cy="1357632"/>
          </a:xfrm>
        </p:grpSpPr>
        <p:sp>
          <p:nvSpPr>
            <p:cNvPr id="310" name="Google Shape;310;p30"/>
            <p:cNvSpPr/>
            <p:nvPr/>
          </p:nvSpPr>
          <p:spPr>
            <a:xfrm>
              <a:off x="13789760" y="3460021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1" name="Google Shape;311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472566" y="3586191"/>
              <a:ext cx="1439957" cy="593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30"/>
            <p:cNvSpPr txBox="1"/>
            <p:nvPr/>
          </p:nvSpPr>
          <p:spPr>
            <a:xfrm>
              <a:off x="14133003" y="4417444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Научно-производственное предприятие Радар ММС</a:t>
              </a:r>
              <a:endParaRPr/>
            </a:p>
          </p:txBody>
        </p:sp>
      </p:grpSp>
      <p:grpSp>
        <p:nvGrpSpPr>
          <p:cNvPr id="313" name="Google Shape;313;p30"/>
          <p:cNvGrpSpPr/>
          <p:nvPr/>
        </p:nvGrpSpPr>
        <p:grpSpPr>
          <a:xfrm>
            <a:off x="4519997" y="3150882"/>
            <a:ext cx="2283739" cy="1111844"/>
            <a:chOff x="7940961" y="1981699"/>
            <a:chExt cx="2788589" cy="1357632"/>
          </a:xfrm>
        </p:grpSpPr>
        <p:sp>
          <p:nvSpPr>
            <p:cNvPr id="314" name="Google Shape;314;p30"/>
            <p:cNvSpPr/>
            <p:nvPr/>
          </p:nvSpPr>
          <p:spPr>
            <a:xfrm>
              <a:off x="7940961" y="1981699"/>
              <a:ext cx="2788589" cy="1357632"/>
            </a:xfrm>
            <a:prstGeom prst="roundRect">
              <a:avLst>
                <a:gd fmla="val 758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5" name="Google Shape;315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60146" y="2217244"/>
              <a:ext cx="1799945" cy="4722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30"/>
            <p:cNvSpPr txBox="1"/>
            <p:nvPr/>
          </p:nvSpPr>
          <p:spPr>
            <a:xfrm>
              <a:off x="8297068" y="2871036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Завод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имени Я. М. Свердлова</a:t>
              </a:r>
              <a:endParaRPr/>
            </a:p>
          </p:txBody>
        </p:sp>
      </p:grpSp>
      <p:grpSp>
        <p:nvGrpSpPr>
          <p:cNvPr id="317" name="Google Shape;317;p30"/>
          <p:cNvGrpSpPr/>
          <p:nvPr/>
        </p:nvGrpSpPr>
        <p:grpSpPr>
          <a:xfrm>
            <a:off x="6936303" y="3150882"/>
            <a:ext cx="2283739" cy="1111844"/>
            <a:chOff x="5016562" y="4938343"/>
            <a:chExt cx="2788589" cy="1357632"/>
          </a:xfrm>
        </p:grpSpPr>
        <p:sp>
          <p:nvSpPr>
            <p:cNvPr id="318" name="Google Shape;318;p30"/>
            <p:cNvSpPr/>
            <p:nvPr/>
          </p:nvSpPr>
          <p:spPr>
            <a:xfrm>
              <a:off x="5016562" y="4938343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9" name="Google Shape;319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663261" y="5073209"/>
              <a:ext cx="1488614" cy="7199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30"/>
            <p:cNvSpPr txBox="1"/>
            <p:nvPr/>
          </p:nvSpPr>
          <p:spPr>
            <a:xfrm>
              <a:off x="5348027" y="5890992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Судостроительный завод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Красное Сормово</a:t>
              </a:r>
              <a:endParaRPr/>
            </a:p>
          </p:txBody>
        </p:sp>
      </p:grpSp>
      <p:grpSp>
        <p:nvGrpSpPr>
          <p:cNvPr id="321" name="Google Shape;321;p30"/>
          <p:cNvGrpSpPr/>
          <p:nvPr/>
        </p:nvGrpSpPr>
        <p:grpSpPr>
          <a:xfrm>
            <a:off x="9352609" y="3150882"/>
            <a:ext cx="2283739" cy="1111844"/>
            <a:chOff x="7940961" y="4938343"/>
            <a:chExt cx="2788589" cy="1357632"/>
          </a:xfrm>
        </p:grpSpPr>
        <p:sp>
          <p:nvSpPr>
            <p:cNvPr id="322" name="Google Shape;322;p30"/>
            <p:cNvSpPr/>
            <p:nvPr/>
          </p:nvSpPr>
          <p:spPr>
            <a:xfrm>
              <a:off x="7940961" y="4938343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3" name="Google Shape;323;p3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586110" y="5025423"/>
              <a:ext cx="1547571" cy="815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30"/>
            <p:cNvSpPr txBox="1"/>
            <p:nvPr/>
          </p:nvSpPr>
          <p:spPr>
            <a:xfrm>
              <a:off x="8300355" y="5890992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Концерн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Моринформсистема-Агат</a:t>
              </a:r>
              <a:endParaRPr/>
            </a:p>
          </p:txBody>
        </p:sp>
      </p:grpSp>
      <p:grpSp>
        <p:nvGrpSpPr>
          <p:cNvPr id="325" name="Google Shape;325;p30"/>
          <p:cNvGrpSpPr/>
          <p:nvPr/>
        </p:nvGrpSpPr>
        <p:grpSpPr>
          <a:xfrm>
            <a:off x="11768915" y="3150882"/>
            <a:ext cx="2283739" cy="1111844"/>
            <a:chOff x="10865360" y="4938343"/>
            <a:chExt cx="2788589" cy="1357632"/>
          </a:xfrm>
        </p:grpSpPr>
        <p:sp>
          <p:nvSpPr>
            <p:cNvPr id="326" name="Google Shape;326;p30"/>
            <p:cNvSpPr/>
            <p:nvPr/>
          </p:nvSpPr>
          <p:spPr>
            <a:xfrm>
              <a:off x="10865360" y="4938343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7" name="Google Shape;327;p3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520237" y="5004184"/>
              <a:ext cx="1439957" cy="858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30"/>
            <p:cNvSpPr txBox="1"/>
            <p:nvPr/>
          </p:nvSpPr>
          <p:spPr>
            <a:xfrm>
              <a:off x="11180675" y="5890992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Судостроительный завод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Северная Верфь</a:t>
              </a:r>
              <a:endParaRPr/>
            </a:p>
          </p:txBody>
        </p:sp>
      </p:grpSp>
      <p:grpSp>
        <p:nvGrpSpPr>
          <p:cNvPr id="329" name="Google Shape;329;p30"/>
          <p:cNvGrpSpPr/>
          <p:nvPr/>
        </p:nvGrpSpPr>
        <p:grpSpPr>
          <a:xfrm>
            <a:off x="14185222" y="3150882"/>
            <a:ext cx="2283739" cy="1111844"/>
            <a:chOff x="13789760" y="4938343"/>
            <a:chExt cx="2788589" cy="1357632"/>
          </a:xfrm>
        </p:grpSpPr>
        <p:sp>
          <p:nvSpPr>
            <p:cNvPr id="330" name="Google Shape;330;p30"/>
            <p:cNvSpPr/>
            <p:nvPr/>
          </p:nvSpPr>
          <p:spPr>
            <a:xfrm>
              <a:off x="13789760" y="4938343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1" name="Google Shape;331;p3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386672" y="5046092"/>
              <a:ext cx="1611745" cy="651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30"/>
            <p:cNvSpPr txBox="1"/>
            <p:nvPr/>
          </p:nvSpPr>
          <p:spPr>
            <a:xfrm>
              <a:off x="14133003" y="5890992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Средне-Невский судостроительный завод</a:t>
              </a:r>
              <a:endParaRPr/>
            </a:p>
          </p:txBody>
        </p:sp>
      </p:grpSp>
      <p:grpSp>
        <p:nvGrpSpPr>
          <p:cNvPr id="333" name="Google Shape;333;p30"/>
          <p:cNvGrpSpPr/>
          <p:nvPr/>
        </p:nvGrpSpPr>
        <p:grpSpPr>
          <a:xfrm>
            <a:off x="4519997" y="5677420"/>
            <a:ext cx="2283738" cy="1111844"/>
            <a:chOff x="13789760" y="1981699"/>
            <a:chExt cx="2788589" cy="1357632"/>
          </a:xfrm>
        </p:grpSpPr>
        <p:sp>
          <p:nvSpPr>
            <p:cNvPr id="334" name="Google Shape;334;p30"/>
            <p:cNvSpPr/>
            <p:nvPr/>
          </p:nvSpPr>
          <p:spPr>
            <a:xfrm>
              <a:off x="13789760" y="1981699"/>
              <a:ext cx="2788589" cy="1357632"/>
            </a:xfrm>
            <a:prstGeom prst="roundRect">
              <a:avLst>
                <a:gd fmla="val 758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5" name="Google Shape;335;p3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387203" y="2196048"/>
              <a:ext cx="1619239" cy="637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30"/>
            <p:cNvSpPr txBox="1"/>
            <p:nvPr/>
          </p:nvSpPr>
          <p:spPr>
            <a:xfrm>
              <a:off x="14137282" y="2909656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Выборгский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судостроительный завод</a:t>
              </a:r>
              <a:endParaRPr/>
            </a:p>
          </p:txBody>
        </p:sp>
      </p:grpSp>
      <p:grpSp>
        <p:nvGrpSpPr>
          <p:cNvPr id="337" name="Google Shape;337;p30"/>
          <p:cNvGrpSpPr/>
          <p:nvPr/>
        </p:nvGrpSpPr>
        <p:grpSpPr>
          <a:xfrm>
            <a:off x="9352609" y="5677420"/>
            <a:ext cx="2283738" cy="1111844"/>
            <a:chOff x="7940961" y="7894987"/>
            <a:chExt cx="2788589" cy="1357632"/>
          </a:xfrm>
        </p:grpSpPr>
        <p:sp>
          <p:nvSpPr>
            <p:cNvPr id="338" name="Google Shape;338;p30"/>
            <p:cNvSpPr/>
            <p:nvPr/>
          </p:nvSpPr>
          <p:spPr>
            <a:xfrm>
              <a:off x="7940961" y="7894987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9" name="Google Shape;339;p3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463416" y="8100521"/>
              <a:ext cx="1793407" cy="611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30"/>
            <p:cNvSpPr txBox="1"/>
            <p:nvPr/>
          </p:nvSpPr>
          <p:spPr>
            <a:xfrm>
              <a:off x="8280153" y="8881940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Дочки - Сыночки</a:t>
              </a:r>
              <a:endParaRPr/>
            </a:p>
          </p:txBody>
        </p:sp>
      </p:grpSp>
      <p:grpSp>
        <p:nvGrpSpPr>
          <p:cNvPr id="341" name="Google Shape;341;p30"/>
          <p:cNvGrpSpPr/>
          <p:nvPr/>
        </p:nvGrpSpPr>
        <p:grpSpPr>
          <a:xfrm>
            <a:off x="11768915" y="5677420"/>
            <a:ext cx="2283738" cy="1111844"/>
            <a:chOff x="10865360" y="7894987"/>
            <a:chExt cx="2788589" cy="1357632"/>
          </a:xfrm>
        </p:grpSpPr>
        <p:sp>
          <p:nvSpPr>
            <p:cNvPr id="342" name="Google Shape;342;p30"/>
            <p:cNvSpPr/>
            <p:nvPr/>
          </p:nvSpPr>
          <p:spPr>
            <a:xfrm>
              <a:off x="10865360" y="7894987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3" name="Google Shape;343;p30"/>
            <p:cNvGrpSpPr/>
            <p:nvPr/>
          </p:nvGrpSpPr>
          <p:grpSpPr>
            <a:xfrm>
              <a:off x="11598264" y="8028483"/>
              <a:ext cx="1284125" cy="611981"/>
              <a:chOff x="4175500" y="7398371"/>
              <a:chExt cx="5169162" cy="2463492"/>
            </a:xfrm>
          </p:grpSpPr>
          <p:pic>
            <p:nvPicPr>
              <p:cNvPr id="344" name="Google Shape;344;p3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881170" y="7398371"/>
                <a:ext cx="2463492" cy="24634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3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175500" y="7398371"/>
                <a:ext cx="2463492" cy="24634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6" name="Google Shape;346;p30"/>
            <p:cNvSpPr txBox="1"/>
            <p:nvPr/>
          </p:nvSpPr>
          <p:spPr>
            <a:xfrm>
              <a:off x="11160360" y="8820571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Кондитерское производство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Север-Метрополь</a:t>
              </a:r>
              <a:endParaRPr/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6936303" y="5677420"/>
            <a:ext cx="2283738" cy="1111844"/>
            <a:chOff x="5016562" y="7894987"/>
            <a:chExt cx="2788589" cy="1357632"/>
          </a:xfrm>
        </p:grpSpPr>
        <p:sp>
          <p:nvSpPr>
            <p:cNvPr id="348" name="Google Shape;348;p30"/>
            <p:cNvSpPr/>
            <p:nvPr/>
          </p:nvSpPr>
          <p:spPr>
            <a:xfrm>
              <a:off x="5016562" y="7894987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9" name="Google Shape;349;p3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101578" y="8034043"/>
              <a:ext cx="611981" cy="6009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30"/>
            <p:cNvSpPr txBox="1"/>
            <p:nvPr/>
          </p:nvSpPr>
          <p:spPr>
            <a:xfrm>
              <a:off x="5327601" y="8809932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Судостроительный завод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имени Б. Е. Бутомы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351" name="Google Shape;351;p30"/>
          <p:cNvGrpSpPr/>
          <p:nvPr/>
        </p:nvGrpSpPr>
        <p:grpSpPr>
          <a:xfrm>
            <a:off x="14185222" y="5677420"/>
            <a:ext cx="2283738" cy="1111844"/>
            <a:chOff x="13789760" y="7894987"/>
            <a:chExt cx="2788589" cy="1357632"/>
          </a:xfrm>
        </p:grpSpPr>
        <p:sp>
          <p:nvSpPr>
            <p:cNvPr id="352" name="Google Shape;352;p30"/>
            <p:cNvSpPr/>
            <p:nvPr/>
          </p:nvSpPr>
          <p:spPr>
            <a:xfrm>
              <a:off x="13789760" y="7894987"/>
              <a:ext cx="2788589" cy="1357632"/>
            </a:xfrm>
            <a:prstGeom prst="roundRect">
              <a:avLst>
                <a:gd fmla="val 6609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0"/>
            <p:cNvSpPr txBox="1"/>
            <p:nvPr/>
          </p:nvSpPr>
          <p:spPr>
            <a:xfrm>
              <a:off x="14112577" y="8820571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Завод Эфрил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pic>
          <p:nvPicPr>
            <p:cNvPr id="354" name="Google Shape;354;p3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4417196" y="8172499"/>
              <a:ext cx="1550696" cy="429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30"/>
          <p:cNvGrpSpPr/>
          <p:nvPr/>
        </p:nvGrpSpPr>
        <p:grpSpPr>
          <a:xfrm>
            <a:off x="4519997" y="4414149"/>
            <a:ext cx="2283739" cy="1111843"/>
            <a:chOff x="10865360" y="1981699"/>
            <a:chExt cx="2788589" cy="1357632"/>
          </a:xfrm>
        </p:grpSpPr>
        <p:sp>
          <p:nvSpPr>
            <p:cNvPr id="356" name="Google Shape;356;p30"/>
            <p:cNvSpPr/>
            <p:nvPr/>
          </p:nvSpPr>
          <p:spPr>
            <a:xfrm>
              <a:off x="10865360" y="1981699"/>
              <a:ext cx="2788589" cy="1357632"/>
            </a:xfrm>
            <a:prstGeom prst="roundRect">
              <a:avLst>
                <a:gd fmla="val 758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7" name="Google Shape;357;p3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1340242" y="2231892"/>
              <a:ext cx="1799945" cy="4430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30"/>
            <p:cNvSpPr txBox="1"/>
            <p:nvPr/>
          </p:nvSpPr>
          <p:spPr>
            <a:xfrm>
              <a:off x="11180675" y="2909656"/>
              <a:ext cx="2159934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Приборостроительный завод Вибратор</a:t>
              </a:r>
              <a:endParaRPr/>
            </a:p>
          </p:txBody>
        </p:sp>
      </p:grpSp>
      <p:grpSp>
        <p:nvGrpSpPr>
          <p:cNvPr id="359" name="Google Shape;359;p30"/>
          <p:cNvGrpSpPr/>
          <p:nvPr/>
        </p:nvGrpSpPr>
        <p:grpSpPr>
          <a:xfrm>
            <a:off x="9352609" y="4398522"/>
            <a:ext cx="2283739" cy="1111843"/>
            <a:chOff x="7940961" y="6416665"/>
            <a:chExt cx="2788589" cy="1357632"/>
          </a:xfrm>
        </p:grpSpPr>
        <p:sp>
          <p:nvSpPr>
            <p:cNvPr id="360" name="Google Shape;360;p30"/>
            <p:cNvSpPr/>
            <p:nvPr/>
          </p:nvSpPr>
          <p:spPr>
            <a:xfrm>
              <a:off x="7940961" y="6416665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3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964132" y="6516315"/>
              <a:ext cx="791976" cy="791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0"/>
            <p:cNvSpPr txBox="1"/>
            <p:nvPr/>
          </p:nvSpPr>
          <p:spPr>
            <a:xfrm>
              <a:off x="8300579" y="7445554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Завод им. Дегтярева</a:t>
              </a:r>
              <a:endParaRPr/>
            </a:p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363" name="Google Shape;363;p30"/>
          <p:cNvGrpSpPr/>
          <p:nvPr/>
        </p:nvGrpSpPr>
        <p:grpSpPr>
          <a:xfrm>
            <a:off x="11768915" y="4398522"/>
            <a:ext cx="2283739" cy="1111843"/>
            <a:chOff x="10865360" y="6416665"/>
            <a:chExt cx="2788589" cy="1357632"/>
          </a:xfrm>
        </p:grpSpPr>
        <p:sp>
          <p:nvSpPr>
            <p:cNvPr id="364" name="Google Shape;364;p30"/>
            <p:cNvSpPr/>
            <p:nvPr/>
          </p:nvSpPr>
          <p:spPr>
            <a:xfrm>
              <a:off x="10865360" y="6416665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5" name="Google Shape;365;p3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666038" y="6511786"/>
              <a:ext cx="1148577" cy="915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30"/>
            <p:cNvSpPr txBox="1"/>
            <p:nvPr/>
          </p:nvSpPr>
          <p:spPr>
            <a:xfrm>
              <a:off x="11180786" y="7445554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Агрохолдинг Амурагроцентр</a:t>
              </a:r>
              <a:endParaRPr b="0" i="0" spc="0" sz="9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367" name="Google Shape;367;p30"/>
          <p:cNvGrpSpPr/>
          <p:nvPr/>
        </p:nvGrpSpPr>
        <p:grpSpPr>
          <a:xfrm>
            <a:off x="14185222" y="4398522"/>
            <a:ext cx="2283739" cy="1111843"/>
            <a:chOff x="13789760" y="6416665"/>
            <a:chExt cx="2788589" cy="1357632"/>
          </a:xfrm>
        </p:grpSpPr>
        <p:sp>
          <p:nvSpPr>
            <p:cNvPr id="368" name="Google Shape;368;p30"/>
            <p:cNvSpPr/>
            <p:nvPr/>
          </p:nvSpPr>
          <p:spPr>
            <a:xfrm>
              <a:off x="13789760" y="6416665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9" name="Google Shape;369;p3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4669498" y="6516315"/>
              <a:ext cx="1046095" cy="7805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30"/>
            <p:cNvSpPr txBox="1"/>
            <p:nvPr/>
          </p:nvSpPr>
          <p:spPr>
            <a:xfrm>
              <a:off x="14133003" y="7445554"/>
              <a:ext cx="2159935" cy="298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Нижневартовская ГРЭС</a:t>
              </a:r>
              <a:endParaRPr/>
            </a:p>
          </p:txBody>
        </p:sp>
      </p:grpSp>
      <p:grpSp>
        <p:nvGrpSpPr>
          <p:cNvPr id="371" name="Google Shape;371;p30"/>
          <p:cNvGrpSpPr/>
          <p:nvPr/>
        </p:nvGrpSpPr>
        <p:grpSpPr>
          <a:xfrm>
            <a:off x="6936303" y="4414149"/>
            <a:ext cx="2283739" cy="1111843"/>
            <a:chOff x="5016562" y="6416665"/>
            <a:chExt cx="2788589" cy="1357632"/>
          </a:xfrm>
        </p:grpSpPr>
        <p:sp>
          <p:nvSpPr>
            <p:cNvPr id="372" name="Google Shape;372;p30"/>
            <p:cNvSpPr/>
            <p:nvPr/>
          </p:nvSpPr>
          <p:spPr>
            <a:xfrm>
              <a:off x="5016562" y="6416665"/>
              <a:ext cx="2788589" cy="1357632"/>
            </a:xfrm>
            <a:prstGeom prst="roundRect">
              <a:avLst>
                <a:gd fmla="val 85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" rotWithShape="0" algn="t" dir="5400000" dist="25400">
                <a:schemeClr val="dk1">
                  <a:alpha val="10196"/>
                </a:scheme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0"/>
            <p:cNvSpPr txBox="1"/>
            <p:nvPr/>
          </p:nvSpPr>
          <p:spPr>
            <a:xfrm>
              <a:off x="5026371" y="7289209"/>
              <a:ext cx="2773847" cy="354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Geologica"/>
                <a:buNone/>
              </a:pPr>
              <a:r>
                <a:rPr b="0" i="0" lang="ru-RU" spc="0" sz="9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Объединенная авиастроительная корпорация</a:t>
              </a:r>
              <a:endParaRPr/>
            </a:p>
          </p:txBody>
        </p:sp>
        <p:pic>
          <p:nvPicPr>
            <p:cNvPr id="374" name="Google Shape;374;p3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788242" y="6662007"/>
              <a:ext cx="1386753" cy="43037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5" name="Google Shape;375;p30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376" name="Google Shape;376;p30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377" name="Google Shape;377;p30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8" name="Google Shape;378;p3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30"/>
            <p:cNvPicPr preferRelativeResize="0"/>
            <p:nvPr/>
          </p:nvPicPr>
          <p:blipFill rotWithShape="1">
            <a:blip r:embed="rId25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" name="Google Shape;380;p3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logica"/>
              <a:buNone/>
            </a:pPr>
            <a:r>
              <a:rPr b="0" i="0" lang="ru-RU" spc="0" sz="32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Внедрения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logica"/>
              <a:buNone/>
            </a:pPr>
            <a:r>
              <a:rPr b="0" i="0" lang="ru-RU" spc="0" sz="32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Систему используют крупные заказчики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719089" y="1889639"/>
            <a:ext cx="3456384" cy="135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B4"/>
              </a:buClr>
              <a:buSzPts val="2000"/>
              <a:buFont typeface="Geologica"/>
              <a:buNone/>
            </a:pPr>
            <a:r>
              <a:rPr b="1" i="0" lang="ru-RU" spc="0" sz="2000" u="none" cap="none" strike="noStrike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Наши решения работают на предприятиях по всей России в различных отраслях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721658" y="7456014"/>
            <a:ext cx="3516392" cy="28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B4"/>
              </a:buClr>
              <a:buSzPts val="2000"/>
              <a:buFont typeface="Geologica"/>
              <a:buNone/>
            </a:pPr>
            <a:r>
              <a:rPr b="1" i="0" lang="ru-RU" spc="0" sz="2000" u="none" cap="none" strike="noStrike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Идут крупные проекты по импортозамещению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4908905" y="7473629"/>
            <a:ext cx="3953461" cy="1525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logica"/>
              <a:buNone/>
            </a:pPr>
            <a:r>
              <a:rPr b="0" i="0" lang="ru-RU" spc="0" sz="28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Одна из крупнейших нефтяных компаний</a:t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 flipH="1">
            <a:off x="9216002" y="7589304"/>
            <a:ext cx="952114" cy="1268862"/>
          </a:xfrm>
          <a:custGeom>
            <a:rect b="b" l="l" r="r" t="t"/>
            <a:pathLst>
              <a:path extrusionOk="0" h="647509" w="485870">
                <a:moveTo>
                  <a:pt x="485870" y="242792"/>
                </a:moveTo>
                <a:cubicBezTo>
                  <a:pt x="485870" y="227838"/>
                  <a:pt x="473774" y="215836"/>
                  <a:pt x="458915" y="215836"/>
                </a:cubicBezTo>
                <a:lnTo>
                  <a:pt x="458915" y="80867"/>
                </a:lnTo>
                <a:cubicBezTo>
                  <a:pt x="473869" y="80867"/>
                  <a:pt x="485870" y="68771"/>
                  <a:pt x="485870" y="53911"/>
                </a:cubicBezTo>
                <a:cubicBezTo>
                  <a:pt x="485870" y="39052"/>
                  <a:pt x="473774" y="26956"/>
                  <a:pt x="458915" y="26956"/>
                </a:cubicBezTo>
                <a:lnTo>
                  <a:pt x="188881" y="26956"/>
                </a:lnTo>
                <a:cubicBezTo>
                  <a:pt x="188881" y="12001"/>
                  <a:pt x="176784" y="0"/>
                  <a:pt x="161925" y="0"/>
                </a:cubicBezTo>
                <a:lnTo>
                  <a:pt x="107918" y="0"/>
                </a:lnTo>
                <a:cubicBezTo>
                  <a:pt x="92964" y="0"/>
                  <a:pt x="80963" y="12097"/>
                  <a:pt x="80963" y="26956"/>
                </a:cubicBezTo>
                <a:lnTo>
                  <a:pt x="26956" y="26956"/>
                </a:lnTo>
                <a:cubicBezTo>
                  <a:pt x="12002" y="26956"/>
                  <a:pt x="0" y="39052"/>
                  <a:pt x="0" y="53911"/>
                </a:cubicBezTo>
                <a:cubicBezTo>
                  <a:pt x="0" y="68771"/>
                  <a:pt x="12097" y="80867"/>
                  <a:pt x="26956" y="80867"/>
                </a:cubicBezTo>
                <a:lnTo>
                  <a:pt x="26956" y="80867"/>
                </a:lnTo>
                <a:lnTo>
                  <a:pt x="26956" y="215836"/>
                </a:lnTo>
                <a:lnTo>
                  <a:pt x="26956" y="215836"/>
                </a:lnTo>
                <a:cubicBezTo>
                  <a:pt x="12002" y="215836"/>
                  <a:pt x="0" y="227933"/>
                  <a:pt x="0" y="242792"/>
                </a:cubicBezTo>
                <a:cubicBezTo>
                  <a:pt x="0" y="257651"/>
                  <a:pt x="12097" y="269748"/>
                  <a:pt x="26956" y="269748"/>
                </a:cubicBezTo>
                <a:lnTo>
                  <a:pt x="26956" y="269748"/>
                </a:lnTo>
                <a:lnTo>
                  <a:pt x="26956" y="404717"/>
                </a:lnTo>
                <a:lnTo>
                  <a:pt x="26956" y="404717"/>
                </a:lnTo>
                <a:cubicBezTo>
                  <a:pt x="12002" y="404717"/>
                  <a:pt x="0" y="416814"/>
                  <a:pt x="0" y="431673"/>
                </a:cubicBezTo>
                <a:lnTo>
                  <a:pt x="0" y="431673"/>
                </a:lnTo>
                <a:cubicBezTo>
                  <a:pt x="0" y="446627"/>
                  <a:pt x="12097" y="458629"/>
                  <a:pt x="26956" y="458629"/>
                </a:cubicBezTo>
                <a:lnTo>
                  <a:pt x="26956" y="458629"/>
                </a:lnTo>
                <a:lnTo>
                  <a:pt x="26956" y="593598"/>
                </a:lnTo>
                <a:lnTo>
                  <a:pt x="26956" y="593598"/>
                </a:lnTo>
                <a:cubicBezTo>
                  <a:pt x="12002" y="593598"/>
                  <a:pt x="0" y="605695"/>
                  <a:pt x="0" y="620554"/>
                </a:cubicBezTo>
                <a:cubicBezTo>
                  <a:pt x="0" y="635413"/>
                  <a:pt x="12097" y="647509"/>
                  <a:pt x="26956" y="647509"/>
                </a:cubicBezTo>
                <a:lnTo>
                  <a:pt x="458915" y="647509"/>
                </a:lnTo>
                <a:cubicBezTo>
                  <a:pt x="473869" y="647509"/>
                  <a:pt x="485870" y="635413"/>
                  <a:pt x="485870" y="620554"/>
                </a:cubicBezTo>
                <a:cubicBezTo>
                  <a:pt x="485870" y="605695"/>
                  <a:pt x="473774" y="593598"/>
                  <a:pt x="458915" y="593598"/>
                </a:cubicBezTo>
                <a:lnTo>
                  <a:pt x="458915" y="458629"/>
                </a:lnTo>
                <a:cubicBezTo>
                  <a:pt x="473869" y="458629"/>
                  <a:pt x="485870" y="446532"/>
                  <a:pt x="485870" y="431673"/>
                </a:cubicBezTo>
                <a:lnTo>
                  <a:pt x="485870" y="431673"/>
                </a:lnTo>
                <a:cubicBezTo>
                  <a:pt x="485870" y="416719"/>
                  <a:pt x="473774" y="404717"/>
                  <a:pt x="458915" y="404717"/>
                </a:cubicBezTo>
                <a:lnTo>
                  <a:pt x="458915" y="269748"/>
                </a:lnTo>
                <a:cubicBezTo>
                  <a:pt x="473869" y="269748"/>
                  <a:pt x="485870" y="257651"/>
                  <a:pt x="485870" y="242792"/>
                </a:cubicBezTo>
                <a:close/>
                <a:moveTo>
                  <a:pt x="242888" y="593788"/>
                </a:moveTo>
                <a:cubicBezTo>
                  <a:pt x="183261" y="593788"/>
                  <a:pt x="134874" y="545401"/>
                  <a:pt x="134874" y="485775"/>
                </a:cubicBezTo>
                <a:cubicBezTo>
                  <a:pt x="134874" y="404813"/>
                  <a:pt x="242888" y="269748"/>
                  <a:pt x="242888" y="269748"/>
                </a:cubicBezTo>
                <a:cubicBezTo>
                  <a:pt x="242888" y="269748"/>
                  <a:pt x="350901" y="404717"/>
                  <a:pt x="350901" y="485775"/>
                </a:cubicBezTo>
                <a:cubicBezTo>
                  <a:pt x="350901" y="545401"/>
                  <a:pt x="302514" y="593788"/>
                  <a:pt x="242888" y="593788"/>
                </a:cubicBezTo>
                <a:close/>
                <a:moveTo>
                  <a:pt x="431863" y="215741"/>
                </a:moveTo>
                <a:cubicBezTo>
                  <a:pt x="269843" y="161734"/>
                  <a:pt x="188881" y="269748"/>
                  <a:pt x="53816" y="215741"/>
                </a:cubicBezTo>
                <a:lnTo>
                  <a:pt x="53816" y="80772"/>
                </a:lnTo>
                <a:cubicBezTo>
                  <a:pt x="53816" y="65818"/>
                  <a:pt x="65913" y="53816"/>
                  <a:pt x="80772" y="53816"/>
                </a:cubicBezTo>
                <a:lnTo>
                  <a:pt x="404813" y="53816"/>
                </a:lnTo>
                <a:cubicBezTo>
                  <a:pt x="419767" y="53816"/>
                  <a:pt x="431768" y="65913"/>
                  <a:pt x="431768" y="80772"/>
                </a:cubicBezTo>
                <a:lnTo>
                  <a:pt x="431768" y="21574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522442" y="1691779"/>
            <a:ext cx="16182423" cy="5359420"/>
          </a:xfrm>
          <a:prstGeom prst="roundRect">
            <a:avLst>
              <a:gd fmla="val 3114" name="adj"/>
            </a:avLst>
          </a:prstGeom>
          <a:noFill/>
          <a:ln cap="flat" cmpd="sng" w="19050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522442" y="7278469"/>
            <a:ext cx="16182423" cy="1912679"/>
          </a:xfrm>
          <a:prstGeom prst="roundRect">
            <a:avLst>
              <a:gd fmla="val 10086" name="adj"/>
            </a:avLst>
          </a:prstGeom>
          <a:noFill/>
          <a:ln cap="flat" cmpd="sng" w="19050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 txBox="1"/>
          <p:nvPr/>
        </p:nvSpPr>
        <p:spPr>
          <a:xfrm>
            <a:off x="10839141" y="7488307"/>
            <a:ext cx="4151070" cy="1497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logica"/>
              <a:buNone/>
            </a:pPr>
            <a:r>
              <a:rPr b="0" i="0" lang="ru-RU" spc="0" sz="28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Одна из крупнейших химических компаний</a:t>
            </a:r>
            <a:endParaRPr/>
          </a:p>
        </p:txBody>
      </p:sp>
      <p:sp>
        <p:nvSpPr>
          <p:cNvPr id="390" name="Google Shape;390;p30"/>
          <p:cNvSpPr/>
          <p:nvPr/>
        </p:nvSpPr>
        <p:spPr>
          <a:xfrm flipH="1">
            <a:off x="14990210" y="7583747"/>
            <a:ext cx="1255457" cy="1260535"/>
          </a:xfrm>
          <a:custGeom>
            <a:rect b="b" l="l" r="r" t="t"/>
            <a:pathLst>
              <a:path extrusionOk="0" h="647890" w="645280">
                <a:moveTo>
                  <a:pt x="634631" y="544163"/>
                </a:moveTo>
                <a:lnTo>
                  <a:pt x="420509" y="207740"/>
                </a:lnTo>
                <a:cubicBezTo>
                  <a:pt x="409460" y="190405"/>
                  <a:pt x="403650" y="170307"/>
                  <a:pt x="403650" y="149733"/>
                </a:cubicBezTo>
                <a:lnTo>
                  <a:pt x="403650" y="53912"/>
                </a:lnTo>
                <a:cubicBezTo>
                  <a:pt x="418604" y="53912"/>
                  <a:pt x="430606" y="41815"/>
                  <a:pt x="430606" y="26956"/>
                </a:cubicBezTo>
                <a:cubicBezTo>
                  <a:pt x="430606" y="12097"/>
                  <a:pt x="418509" y="0"/>
                  <a:pt x="403650" y="0"/>
                </a:cubicBezTo>
                <a:lnTo>
                  <a:pt x="241630" y="0"/>
                </a:lnTo>
                <a:cubicBezTo>
                  <a:pt x="226676" y="0"/>
                  <a:pt x="214674" y="12097"/>
                  <a:pt x="214674" y="26956"/>
                </a:cubicBezTo>
                <a:cubicBezTo>
                  <a:pt x="214674" y="41815"/>
                  <a:pt x="226771" y="53912"/>
                  <a:pt x="241630" y="53912"/>
                </a:cubicBezTo>
                <a:lnTo>
                  <a:pt x="241630" y="149733"/>
                </a:lnTo>
                <a:cubicBezTo>
                  <a:pt x="241630" y="170307"/>
                  <a:pt x="235820" y="190405"/>
                  <a:pt x="224771" y="207740"/>
                </a:cubicBezTo>
                <a:lnTo>
                  <a:pt x="10649" y="544163"/>
                </a:lnTo>
                <a:cubicBezTo>
                  <a:pt x="-17926" y="589121"/>
                  <a:pt x="14363" y="647891"/>
                  <a:pt x="67608" y="647891"/>
                </a:cubicBezTo>
                <a:lnTo>
                  <a:pt x="577672" y="647891"/>
                </a:lnTo>
                <a:cubicBezTo>
                  <a:pt x="630917" y="647891"/>
                  <a:pt x="663206" y="589121"/>
                  <a:pt x="634631" y="544163"/>
                </a:cubicBezTo>
                <a:close/>
                <a:moveTo>
                  <a:pt x="241630" y="391382"/>
                </a:moveTo>
                <a:cubicBezTo>
                  <a:pt x="241630" y="354140"/>
                  <a:pt x="271824" y="323850"/>
                  <a:pt x="309162" y="323850"/>
                </a:cubicBezTo>
                <a:cubicBezTo>
                  <a:pt x="346500" y="323850"/>
                  <a:pt x="376694" y="354044"/>
                  <a:pt x="376694" y="391382"/>
                </a:cubicBezTo>
                <a:cubicBezTo>
                  <a:pt x="376694" y="428720"/>
                  <a:pt x="346500" y="458915"/>
                  <a:pt x="309162" y="458915"/>
                </a:cubicBezTo>
                <a:cubicBezTo>
                  <a:pt x="271824" y="458915"/>
                  <a:pt x="241630" y="428720"/>
                  <a:pt x="241630" y="391382"/>
                </a:cubicBezTo>
                <a:close/>
                <a:moveTo>
                  <a:pt x="322592" y="620935"/>
                </a:moveTo>
                <a:cubicBezTo>
                  <a:pt x="307638" y="620935"/>
                  <a:pt x="295637" y="608838"/>
                  <a:pt x="295637" y="593979"/>
                </a:cubicBezTo>
                <a:cubicBezTo>
                  <a:pt x="295637" y="579120"/>
                  <a:pt x="307733" y="567023"/>
                  <a:pt x="322592" y="567023"/>
                </a:cubicBezTo>
                <a:cubicBezTo>
                  <a:pt x="337451" y="567023"/>
                  <a:pt x="349548" y="579120"/>
                  <a:pt x="349548" y="593979"/>
                </a:cubicBezTo>
                <a:cubicBezTo>
                  <a:pt x="349548" y="608838"/>
                  <a:pt x="337451" y="620935"/>
                  <a:pt x="322592" y="620935"/>
                </a:cubicBezTo>
                <a:close/>
                <a:moveTo>
                  <a:pt x="390125" y="539877"/>
                </a:moveTo>
                <a:cubicBezTo>
                  <a:pt x="367741" y="539877"/>
                  <a:pt x="349643" y="521780"/>
                  <a:pt x="349643" y="499396"/>
                </a:cubicBezTo>
                <a:cubicBezTo>
                  <a:pt x="349643" y="477012"/>
                  <a:pt x="367741" y="458915"/>
                  <a:pt x="390125" y="458915"/>
                </a:cubicBezTo>
                <a:cubicBezTo>
                  <a:pt x="412508" y="458915"/>
                  <a:pt x="430606" y="477012"/>
                  <a:pt x="430606" y="499396"/>
                </a:cubicBezTo>
                <a:cubicBezTo>
                  <a:pt x="430606" y="521780"/>
                  <a:pt x="412508" y="539877"/>
                  <a:pt x="390125" y="539877"/>
                </a:cubicBezTo>
                <a:close/>
                <a:moveTo>
                  <a:pt x="203054" y="292132"/>
                </a:moveTo>
                <a:lnTo>
                  <a:pt x="247535" y="222218"/>
                </a:lnTo>
                <a:cubicBezTo>
                  <a:pt x="261347" y="200597"/>
                  <a:pt x="268681" y="175451"/>
                  <a:pt x="268681" y="149733"/>
                </a:cubicBezTo>
                <a:lnTo>
                  <a:pt x="268681" y="53912"/>
                </a:lnTo>
                <a:cubicBezTo>
                  <a:pt x="268681" y="38957"/>
                  <a:pt x="280778" y="26956"/>
                  <a:pt x="295637" y="26956"/>
                </a:cubicBezTo>
                <a:lnTo>
                  <a:pt x="349643" y="26956"/>
                </a:lnTo>
                <a:cubicBezTo>
                  <a:pt x="364598" y="26956"/>
                  <a:pt x="376599" y="39053"/>
                  <a:pt x="376599" y="53912"/>
                </a:cubicBezTo>
                <a:lnTo>
                  <a:pt x="376599" y="149733"/>
                </a:lnTo>
                <a:cubicBezTo>
                  <a:pt x="376599" y="175451"/>
                  <a:pt x="383933" y="200597"/>
                  <a:pt x="397745" y="222218"/>
                </a:cubicBezTo>
                <a:lnTo>
                  <a:pt x="431463" y="275177"/>
                </a:lnTo>
                <a:cubicBezTo>
                  <a:pt x="345071" y="250031"/>
                  <a:pt x="292303" y="325946"/>
                  <a:pt x="203054" y="2921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1"/>
          <p:cNvSpPr/>
          <p:nvPr/>
        </p:nvSpPr>
        <p:spPr>
          <a:xfrm>
            <a:off x="736874" y="2163427"/>
            <a:ext cx="15813343" cy="320076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2591297" y="1282731"/>
            <a:ext cx="11674552" cy="880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3200"/>
              <a:buFont typeface="Geologica"/>
              <a:buNone/>
            </a:pPr>
            <a:r>
              <a:rPr b="1" i="0" lang="ru-RU" spc="0" sz="32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Подтвержденные нагрузочными тестами значения</a:t>
            </a:r>
            <a:endParaRPr/>
          </a:p>
        </p:txBody>
      </p:sp>
      <p:grpSp>
        <p:nvGrpSpPr>
          <p:cNvPr id="397" name="Google Shape;397;p31"/>
          <p:cNvGrpSpPr/>
          <p:nvPr/>
        </p:nvGrpSpPr>
        <p:grpSpPr>
          <a:xfrm>
            <a:off x="9301756" y="2339851"/>
            <a:ext cx="8140936" cy="2557821"/>
            <a:chOff x="9609555" y="2547679"/>
            <a:chExt cx="8140936" cy="2557821"/>
          </a:xfrm>
        </p:grpSpPr>
        <p:sp>
          <p:nvSpPr>
            <p:cNvPr id="398" name="Google Shape;398;p31"/>
            <p:cNvSpPr/>
            <p:nvPr/>
          </p:nvSpPr>
          <p:spPr>
            <a:xfrm>
              <a:off x="9621848" y="3152496"/>
              <a:ext cx="8117619" cy="1008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50"/>
                </a:buClr>
                <a:buSzPts val="9600"/>
                <a:buFont typeface="Geologica"/>
                <a:buNone/>
              </a:pPr>
              <a:r>
                <a:rPr b="0" i="0" lang="ru-RU" spc="0" sz="9600" u="none" cap="none" strike="noStrike">
                  <a:solidFill>
                    <a:srgbClr val="FF0050"/>
                  </a:solidFill>
                  <a:latin typeface="Geologica"/>
                  <a:ea typeface="Geologica"/>
                  <a:cs typeface="Geologica"/>
                  <a:sym typeface="Geologica"/>
                </a:rPr>
                <a:t>10 000 +</a:t>
              </a:r>
              <a:endParaRPr/>
            </a:p>
          </p:txBody>
        </p:sp>
        <p:sp>
          <p:nvSpPr>
            <p:cNvPr id="399" name="Google Shape;399;p31"/>
            <p:cNvSpPr txBox="1"/>
            <p:nvPr/>
          </p:nvSpPr>
          <p:spPr>
            <a:xfrm>
              <a:off x="9609555" y="4261876"/>
              <a:ext cx="8140936" cy="843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одновременно работающих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пользователей</a:t>
              </a:r>
              <a:endParaRPr/>
            </a:p>
          </p:txBody>
        </p:sp>
        <p:pic>
          <p:nvPicPr>
            <p:cNvPr id="400" name="Google Shape;400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51395" y="2547679"/>
              <a:ext cx="768749" cy="4026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1" name="Google Shape;401;p31"/>
          <p:cNvGrpSpPr/>
          <p:nvPr/>
        </p:nvGrpSpPr>
        <p:grpSpPr>
          <a:xfrm>
            <a:off x="5318771" y="2339851"/>
            <a:ext cx="4418417" cy="2891550"/>
            <a:chOff x="5661649" y="2468701"/>
            <a:chExt cx="4636107" cy="2891550"/>
          </a:xfrm>
        </p:grpSpPr>
        <p:pic>
          <p:nvPicPr>
            <p:cNvPr id="402" name="Google Shape;402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1649" y="2468701"/>
              <a:ext cx="432048" cy="524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31"/>
            <p:cNvSpPr txBox="1"/>
            <p:nvPr/>
          </p:nvSpPr>
          <p:spPr>
            <a:xfrm>
              <a:off x="6381729" y="2511676"/>
              <a:ext cx="3227826" cy="4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FCE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8FCE"/>
                  </a:solidFill>
                  <a:latin typeface="Geologica"/>
                  <a:ea typeface="Geologica"/>
                  <a:cs typeface="Geologica"/>
                  <a:sym typeface="Geologica"/>
                </a:rPr>
                <a:t>Начальные условия</a:t>
              </a:r>
              <a:endParaRPr/>
            </a:p>
          </p:txBody>
        </p:sp>
        <p:sp>
          <p:nvSpPr>
            <p:cNvPr id="404" name="Google Shape;404;p31"/>
            <p:cNvSpPr txBox="1"/>
            <p:nvPr/>
          </p:nvSpPr>
          <p:spPr>
            <a:xfrm>
              <a:off x="6421857" y="3196078"/>
              <a:ext cx="3875899" cy="2164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300 тыс +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записей в справочнике материалов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pc="0" sz="18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10 тыс +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записей в справочнике контрагентов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pc="0" sz="18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grpSp>
        <p:nvGrpSpPr>
          <p:cNvPr id="405" name="Google Shape;405;p31"/>
          <p:cNvGrpSpPr/>
          <p:nvPr/>
        </p:nvGrpSpPr>
        <p:grpSpPr>
          <a:xfrm>
            <a:off x="1007121" y="2339851"/>
            <a:ext cx="4511560" cy="2615556"/>
            <a:chOff x="1166611" y="2482016"/>
            <a:chExt cx="4511560" cy="2615556"/>
          </a:xfrm>
        </p:grpSpPr>
        <p:sp>
          <p:nvSpPr>
            <p:cNvPr id="406" name="Google Shape;406;p31"/>
            <p:cNvSpPr txBox="1"/>
            <p:nvPr/>
          </p:nvSpPr>
          <p:spPr>
            <a:xfrm>
              <a:off x="1933755" y="2489833"/>
              <a:ext cx="3744416" cy="4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FCE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8FCE"/>
                  </a:solidFill>
                  <a:latin typeface="Geologica"/>
                  <a:ea typeface="Geologica"/>
                  <a:cs typeface="Geologica"/>
                  <a:sym typeface="Geologica"/>
                </a:rPr>
                <a:t>Бизнес-сценарий 1</a:t>
              </a:r>
              <a:endParaRPr/>
            </a:p>
          </p:txBody>
        </p:sp>
        <p:sp>
          <p:nvSpPr>
            <p:cNvPr id="407" name="Google Shape;407;p31"/>
            <p:cNvSpPr txBox="1"/>
            <p:nvPr/>
          </p:nvSpPr>
          <p:spPr>
            <a:xfrm>
              <a:off x="1933755" y="3209393"/>
              <a:ext cx="3265304" cy="1888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Формирование цепочек складских документов от формирования потребности, закупки и контрактации до поступления, выдачи и списания</a:t>
              </a:r>
              <a:endParaRPr/>
            </a:p>
          </p:txBody>
        </p:sp>
        <p:pic>
          <p:nvPicPr>
            <p:cNvPr id="408" name="Google Shape;408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6611" y="2482016"/>
              <a:ext cx="636041" cy="45431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9" name="Google Shape;409;p31"/>
          <p:cNvCxnSpPr/>
          <p:nvPr/>
        </p:nvCxnSpPr>
        <p:spPr>
          <a:xfrm>
            <a:off x="11524737" y="5678488"/>
            <a:ext cx="5031667" cy="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0" name="Google Shape;410;p31"/>
          <p:cNvSpPr/>
          <p:nvPr/>
        </p:nvSpPr>
        <p:spPr>
          <a:xfrm>
            <a:off x="733296" y="5940251"/>
            <a:ext cx="15813343" cy="320076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" name="Google Shape;411;p31"/>
          <p:cNvGrpSpPr/>
          <p:nvPr/>
        </p:nvGrpSpPr>
        <p:grpSpPr>
          <a:xfrm>
            <a:off x="1068950" y="6101780"/>
            <a:ext cx="4511560" cy="2646783"/>
            <a:chOff x="362500" y="6102432"/>
            <a:chExt cx="4511560" cy="2646783"/>
          </a:xfrm>
        </p:grpSpPr>
        <p:sp>
          <p:nvSpPr>
            <p:cNvPr id="412" name="Google Shape;412;p31"/>
            <p:cNvSpPr txBox="1"/>
            <p:nvPr/>
          </p:nvSpPr>
          <p:spPr>
            <a:xfrm>
              <a:off x="1129644" y="6133876"/>
              <a:ext cx="3744416" cy="4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FCE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8FCE"/>
                  </a:solidFill>
                  <a:latin typeface="Geologica"/>
                  <a:ea typeface="Geologica"/>
                  <a:cs typeface="Geologica"/>
                  <a:sym typeface="Geologica"/>
                </a:rPr>
                <a:t>Бизнес-сценарий 2</a:t>
              </a:r>
              <a:endParaRPr/>
            </a:p>
          </p:txBody>
        </p:sp>
        <p:sp>
          <p:nvSpPr>
            <p:cNvPr id="413" name="Google Shape;413;p31"/>
            <p:cNvSpPr txBox="1"/>
            <p:nvPr/>
          </p:nvSpPr>
          <p:spPr>
            <a:xfrm>
              <a:off x="1124613" y="7003449"/>
              <a:ext cx="2785015" cy="1745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logica"/>
                <a:buNone/>
              </a:pPr>
              <a:r>
                <a:rPr b="0" i="0" lang="ru-RU" spc="0" sz="18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Расчет амортизации за 1 месяц одновременно по 3 видам учета и отражение проводок в главную книгу</a:t>
              </a:r>
              <a:endParaRPr/>
            </a:p>
          </p:txBody>
        </p:sp>
        <p:pic>
          <p:nvPicPr>
            <p:cNvPr id="414" name="Google Shape;414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2500" y="6102432"/>
              <a:ext cx="636041" cy="4543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5" name="Google Shape;415;p31"/>
          <p:cNvGrpSpPr/>
          <p:nvPr/>
        </p:nvGrpSpPr>
        <p:grpSpPr>
          <a:xfrm>
            <a:off x="5111577" y="6051696"/>
            <a:ext cx="4174954" cy="3070315"/>
            <a:chOff x="4665928" y="6090901"/>
            <a:chExt cx="4174954" cy="3070315"/>
          </a:xfrm>
        </p:grpSpPr>
        <p:pic>
          <p:nvPicPr>
            <p:cNvPr id="416" name="Google Shape;41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92975" y="6090901"/>
              <a:ext cx="432048" cy="524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1"/>
            <p:cNvSpPr txBox="1"/>
            <p:nvPr/>
          </p:nvSpPr>
          <p:spPr>
            <a:xfrm>
              <a:off x="5613055" y="6133876"/>
              <a:ext cx="3227826" cy="4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FCE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8FCE"/>
                  </a:solidFill>
                  <a:latin typeface="Geologica"/>
                  <a:ea typeface="Geologica"/>
                  <a:cs typeface="Geologica"/>
                  <a:sym typeface="Geologica"/>
                </a:rPr>
                <a:t>Начальные условия</a:t>
              </a:r>
              <a:endParaRPr/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4665928" y="7144993"/>
              <a:ext cx="4164999" cy="1062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1094F"/>
                </a:buClr>
                <a:buSzPts val="9600"/>
                <a:buFont typeface="Geologica"/>
                <a:buNone/>
              </a:pPr>
              <a:r>
                <a:rPr b="0" i="0" lang="ru-RU" spc="0" sz="9600" u="none" cap="none" strike="noStrike">
                  <a:solidFill>
                    <a:srgbClr val="F1094F"/>
                  </a:solidFill>
                  <a:latin typeface="Geologica"/>
                  <a:ea typeface="Geologica"/>
                  <a:cs typeface="Geologica"/>
                  <a:sym typeface="Geologica"/>
                </a:rPr>
                <a:t>4 млн </a:t>
              </a:r>
              <a:endParaRPr/>
            </a:p>
          </p:txBody>
        </p:sp>
        <p:sp>
          <p:nvSpPr>
            <p:cNvPr id="419" name="Google Shape;419;p31"/>
            <p:cNvSpPr txBox="1"/>
            <p:nvPr/>
          </p:nvSpPr>
          <p:spPr>
            <a:xfrm>
              <a:off x="4685400" y="8153104"/>
              <a:ext cx="4155482" cy="1008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Основных средств</a:t>
              </a:r>
              <a:endParaRPr/>
            </a:p>
          </p:txBody>
        </p:sp>
      </p:grpSp>
      <p:grpSp>
        <p:nvGrpSpPr>
          <p:cNvPr id="420" name="Google Shape;420;p31"/>
          <p:cNvGrpSpPr/>
          <p:nvPr/>
        </p:nvGrpSpPr>
        <p:grpSpPr>
          <a:xfrm>
            <a:off x="9373566" y="6667096"/>
            <a:ext cx="3586883" cy="1820605"/>
            <a:chOff x="9001184" y="6667096"/>
            <a:chExt cx="4053476" cy="1820605"/>
          </a:xfrm>
        </p:grpSpPr>
        <p:sp>
          <p:nvSpPr>
            <p:cNvPr id="421" name="Google Shape;421;p31"/>
            <p:cNvSpPr/>
            <p:nvPr/>
          </p:nvSpPr>
          <p:spPr>
            <a:xfrm>
              <a:off x="9001184" y="6667096"/>
              <a:ext cx="3996133" cy="93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1094F"/>
                </a:buClr>
                <a:buSzPts val="9600"/>
                <a:buFont typeface="Geologica"/>
                <a:buNone/>
              </a:pPr>
              <a:r>
                <a:rPr b="0" i="0" lang="ru-RU" spc="0" sz="9600" u="none" cap="none" strike="noStrike">
                  <a:solidFill>
                    <a:srgbClr val="F1094F"/>
                  </a:solidFill>
                  <a:latin typeface="Geologica"/>
                  <a:ea typeface="Geologica"/>
                  <a:cs typeface="Geologica"/>
                  <a:sym typeface="Geologica"/>
                </a:rPr>
                <a:t>3  </a:t>
              </a:r>
              <a:endParaRPr/>
            </a:p>
          </p:txBody>
        </p:sp>
        <p:sp>
          <p:nvSpPr>
            <p:cNvPr id="422" name="Google Shape;422;p31"/>
            <p:cNvSpPr txBox="1"/>
            <p:nvPr/>
          </p:nvSpPr>
          <p:spPr>
            <a:xfrm>
              <a:off x="9107653" y="7786444"/>
              <a:ext cx="3947007" cy="701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Вида учета: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БУ, НУ, МСФО</a:t>
              </a:r>
              <a:endParaRPr/>
            </a:p>
          </p:txBody>
        </p:sp>
      </p:grpSp>
      <p:grpSp>
        <p:nvGrpSpPr>
          <p:cNvPr id="423" name="Google Shape;423;p31"/>
          <p:cNvGrpSpPr/>
          <p:nvPr/>
        </p:nvGrpSpPr>
        <p:grpSpPr>
          <a:xfrm>
            <a:off x="12976461" y="6660558"/>
            <a:ext cx="3570179" cy="2265658"/>
            <a:chOff x="13153867" y="6660558"/>
            <a:chExt cx="3907743" cy="2265658"/>
          </a:xfrm>
        </p:grpSpPr>
        <p:sp>
          <p:nvSpPr>
            <p:cNvPr id="424" name="Google Shape;424;p31"/>
            <p:cNvSpPr txBox="1"/>
            <p:nvPr/>
          </p:nvSpPr>
          <p:spPr>
            <a:xfrm>
              <a:off x="13153867" y="7918104"/>
              <a:ext cx="3887986" cy="1008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eologica"/>
                <a:buNone/>
              </a:pPr>
              <a:r>
                <a:rPr b="0" i="0" lang="ru-RU" spc="0" sz="2400" u="none" cap="none" strike="noStrike">
                  <a:solidFill>
                    <a:srgbClr val="000000"/>
                  </a:solidFill>
                  <a:latin typeface="Geologica"/>
                  <a:ea typeface="Geologica"/>
                  <a:cs typeface="Geologica"/>
                  <a:sym typeface="Geologica"/>
                </a:rPr>
                <a:t>Минут</a:t>
              </a: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13153867" y="6660558"/>
              <a:ext cx="3907743" cy="1062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1094F"/>
                </a:buClr>
                <a:buSzPts val="9600"/>
                <a:buFont typeface="Geologica"/>
                <a:buNone/>
              </a:pPr>
              <a:r>
                <a:rPr b="0" i="0" lang="ru-RU" spc="0" sz="9600" u="none" cap="none" strike="noStrike">
                  <a:solidFill>
                    <a:srgbClr val="F1094F"/>
                  </a:solidFill>
                  <a:latin typeface="Geologica"/>
                  <a:ea typeface="Geologica"/>
                  <a:cs typeface="Geologica"/>
                  <a:sym typeface="Geologica"/>
                </a:rPr>
                <a:t>14  </a:t>
              </a:r>
              <a:endParaRPr/>
            </a:p>
          </p:txBody>
        </p:sp>
      </p:grpSp>
      <p:grpSp>
        <p:nvGrpSpPr>
          <p:cNvPr id="426" name="Google Shape;426;p31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427" name="Google Shape;427;p31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8" name="Google Shape;428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31"/>
            <p:cNvPicPr preferRelativeResize="0"/>
            <p:nvPr/>
          </p:nvPicPr>
          <p:blipFill rotWithShape="1">
            <a:blip r:embed="rId7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0" name="Google Shape;43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/>
          <p:nvPr/>
        </p:nvSpPr>
        <p:spPr>
          <a:xfrm>
            <a:off x="1439170" y="-8137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logica"/>
              <a:buNone/>
            </a:pPr>
            <a:r>
              <a:rPr b="0" i="0" lang="ru-RU" spc="0" sz="32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Высокая производительность и нагрузочная способность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5039571" y="2128391"/>
            <a:ext cx="1" cy="3235796"/>
          </a:xfrm>
          <a:prstGeom prst="straightConnector1">
            <a:avLst/>
          </a:prstGeom>
          <a:noFill/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4" name="Google Shape;434;p31"/>
          <p:cNvCxnSpPr/>
          <p:nvPr/>
        </p:nvCxnSpPr>
        <p:spPr>
          <a:xfrm>
            <a:off x="9355808" y="2117435"/>
            <a:ext cx="0" cy="3253290"/>
          </a:xfrm>
          <a:prstGeom prst="straightConnector1">
            <a:avLst/>
          </a:prstGeom>
          <a:noFill/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5" name="Google Shape;435;p31"/>
          <p:cNvCxnSpPr/>
          <p:nvPr/>
        </p:nvCxnSpPr>
        <p:spPr>
          <a:xfrm>
            <a:off x="12960449" y="5898579"/>
            <a:ext cx="0" cy="3223432"/>
          </a:xfrm>
          <a:prstGeom prst="straightConnector1">
            <a:avLst/>
          </a:prstGeom>
          <a:noFill/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6" name="Google Shape;436;p31"/>
          <p:cNvCxnSpPr/>
          <p:nvPr/>
        </p:nvCxnSpPr>
        <p:spPr>
          <a:xfrm flipH="1">
            <a:off x="5033901" y="5934132"/>
            <a:ext cx="1" cy="3187879"/>
          </a:xfrm>
          <a:prstGeom prst="straightConnector1">
            <a:avLst/>
          </a:prstGeom>
          <a:noFill/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7" name="Google Shape;437;p31"/>
          <p:cNvCxnSpPr/>
          <p:nvPr/>
        </p:nvCxnSpPr>
        <p:spPr>
          <a:xfrm>
            <a:off x="9373566" y="5855603"/>
            <a:ext cx="0" cy="3253290"/>
          </a:xfrm>
          <a:prstGeom prst="straightConnector1">
            <a:avLst/>
          </a:prstGeom>
          <a:noFill/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/>
          <p:nvPr/>
        </p:nvSpPr>
        <p:spPr>
          <a:xfrm>
            <a:off x="722448" y="1261598"/>
            <a:ext cx="15827769" cy="1632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Архитектура системы позволяет строить высоко производительные отказоустойчивые решения, поддерживает горизонтальное масштабирование путем развертывания дополнительных серверов приложений, управляемых консолью кластера и балансировщиком нагрузки</a:t>
            </a:r>
            <a:endParaRPr/>
          </a:p>
        </p:txBody>
      </p:sp>
      <p:grpSp>
        <p:nvGrpSpPr>
          <p:cNvPr id="443" name="Google Shape;443;p32"/>
          <p:cNvGrpSpPr/>
          <p:nvPr/>
        </p:nvGrpSpPr>
        <p:grpSpPr>
          <a:xfrm>
            <a:off x="12528037" y="2956004"/>
            <a:ext cx="4032812" cy="5000471"/>
            <a:chOff x="12240370" y="3054531"/>
            <a:chExt cx="4032812" cy="5764180"/>
          </a:xfrm>
        </p:grpSpPr>
        <p:sp>
          <p:nvSpPr>
            <p:cNvPr id="444" name="Google Shape;444;p32"/>
            <p:cNvSpPr/>
            <p:nvPr/>
          </p:nvSpPr>
          <p:spPr>
            <a:xfrm>
              <a:off x="12240370" y="4019411"/>
              <a:ext cx="4032812" cy="93978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12240370" y="5949166"/>
              <a:ext cx="4032812" cy="93978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12240370" y="7878922"/>
              <a:ext cx="4032812" cy="939789"/>
            </a:xfrm>
            <a:prstGeom prst="round2SameRect">
              <a:avLst>
                <a:gd fmla="val 0" name="adj1"/>
                <a:gd fmla="val 29597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12240370" y="3054533"/>
              <a:ext cx="4032812" cy="939789"/>
            </a:xfrm>
            <a:prstGeom prst="round2SameRect">
              <a:avLst>
                <a:gd fmla="val 13552" name="adj1"/>
                <a:gd fmla="val 0" name="adj2"/>
              </a:avLst>
            </a:prstGeom>
            <a:solidFill>
              <a:srgbClr val="EEF7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12240370" y="4984289"/>
              <a:ext cx="4032812" cy="939789"/>
            </a:xfrm>
            <a:prstGeom prst="rect">
              <a:avLst/>
            </a:prstGeom>
            <a:solidFill>
              <a:srgbClr val="EEF7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12240370" y="6914043"/>
              <a:ext cx="4032812" cy="939789"/>
            </a:xfrm>
            <a:prstGeom prst="rect">
              <a:avLst/>
            </a:prstGeom>
            <a:solidFill>
              <a:srgbClr val="EEF7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2"/>
            <p:cNvSpPr txBox="1"/>
            <p:nvPr/>
          </p:nvSpPr>
          <p:spPr>
            <a:xfrm>
              <a:off x="14400974" y="3054531"/>
              <a:ext cx="1728629" cy="93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PostgreSQL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PostgresPro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Tantor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451" name="Google Shape;451;p32"/>
            <p:cNvSpPr txBox="1"/>
            <p:nvPr/>
          </p:nvSpPr>
          <p:spPr>
            <a:xfrm>
              <a:off x="14400974" y="4019409"/>
              <a:ext cx="1728631" cy="93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Astra Linux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Alt Linux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Linux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452" name="Google Shape;452;p32"/>
            <p:cNvSpPr txBox="1"/>
            <p:nvPr/>
          </p:nvSpPr>
          <p:spPr>
            <a:xfrm>
              <a:off x="12456387" y="3065283"/>
              <a:ext cx="1656555" cy="92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СУБД</a:t>
              </a:r>
              <a:endParaRPr/>
            </a:p>
          </p:txBody>
        </p:sp>
        <p:sp>
          <p:nvSpPr>
            <p:cNvPr id="453" name="Google Shape;453;p32"/>
            <p:cNvSpPr txBox="1"/>
            <p:nvPr/>
          </p:nvSpPr>
          <p:spPr>
            <a:xfrm>
              <a:off x="12456387" y="4019406"/>
              <a:ext cx="1656556" cy="93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ОС сервера приложений</a:t>
              </a:r>
              <a:endParaRPr/>
            </a:p>
          </p:txBody>
        </p:sp>
        <p:sp>
          <p:nvSpPr>
            <p:cNvPr id="454" name="Google Shape;454;p32"/>
            <p:cNvSpPr txBox="1"/>
            <p:nvPr/>
          </p:nvSpPr>
          <p:spPr>
            <a:xfrm>
              <a:off x="12456387" y="4984287"/>
              <a:ext cx="1656556" cy="93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ОС СУБД</a:t>
              </a:r>
              <a:endParaRPr/>
            </a:p>
          </p:txBody>
        </p:sp>
        <p:sp>
          <p:nvSpPr>
            <p:cNvPr id="455" name="Google Shape;455;p32"/>
            <p:cNvSpPr txBox="1"/>
            <p:nvPr/>
          </p:nvSpPr>
          <p:spPr>
            <a:xfrm>
              <a:off x="14400974" y="4984289"/>
              <a:ext cx="1728631" cy="93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Astra Linux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Alt Linux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Linux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456" name="Google Shape;456;p32"/>
            <p:cNvSpPr txBox="1"/>
            <p:nvPr/>
          </p:nvSpPr>
          <p:spPr>
            <a:xfrm>
              <a:off x="12456387" y="5949165"/>
              <a:ext cx="1656555" cy="93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ОС рабочих мест</a:t>
              </a:r>
              <a:endParaRPr/>
            </a:p>
          </p:txBody>
        </p:sp>
        <p:sp>
          <p:nvSpPr>
            <p:cNvPr id="457" name="Google Shape;457;p32"/>
            <p:cNvSpPr txBox="1"/>
            <p:nvPr/>
          </p:nvSpPr>
          <p:spPr>
            <a:xfrm>
              <a:off x="14400974" y="5949165"/>
              <a:ext cx="1728632" cy="939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Astra Linux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Alt Linux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Windows 10, 11, XP</a:t>
              </a:r>
              <a:endParaRPr/>
            </a:p>
          </p:txBody>
        </p:sp>
        <p:sp>
          <p:nvSpPr>
            <p:cNvPr id="458" name="Google Shape;458;p32"/>
            <p:cNvSpPr txBox="1"/>
            <p:nvPr/>
          </p:nvSpPr>
          <p:spPr>
            <a:xfrm>
              <a:off x="12456387" y="6924792"/>
              <a:ext cx="1656556" cy="92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Клиентское приложение</a:t>
              </a:r>
              <a:endParaRPr/>
            </a:p>
          </p:txBody>
        </p:sp>
        <p:sp>
          <p:nvSpPr>
            <p:cNvPr id="459" name="Google Shape;459;p32"/>
            <p:cNvSpPr txBox="1"/>
            <p:nvPr/>
          </p:nvSpPr>
          <p:spPr>
            <a:xfrm>
              <a:off x="14400974" y="6914043"/>
              <a:ext cx="1728629" cy="939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Яндекс браузер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Chrome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Mozilla Firefox</a:t>
              </a:r>
              <a:endParaRPr/>
            </a:p>
          </p:txBody>
        </p:sp>
        <p:sp>
          <p:nvSpPr>
            <p:cNvPr id="460" name="Google Shape;460;p32"/>
            <p:cNvSpPr txBox="1"/>
            <p:nvPr/>
          </p:nvSpPr>
          <p:spPr>
            <a:xfrm>
              <a:off x="12456387" y="7878922"/>
              <a:ext cx="1656555" cy="929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Офисные пакеты</a:t>
              </a:r>
              <a:endParaRPr/>
            </a:p>
          </p:txBody>
        </p:sp>
        <p:sp>
          <p:nvSpPr>
            <p:cNvPr id="461" name="Google Shape;461;p32"/>
            <p:cNvSpPr txBox="1"/>
            <p:nvPr/>
          </p:nvSpPr>
          <p:spPr>
            <a:xfrm>
              <a:off x="14400974" y="7878921"/>
              <a:ext cx="1728629" cy="939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P7 Офис</a:t>
              </a:r>
              <a:endParaRPr/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Мой офис</a:t>
              </a:r>
              <a:endParaRPr b="0" i="0" sz="1400" u="non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endParaRPr>
            </a:p>
            <a:p>
              <a:pPr indent="0" lvl="0" marL="0" marR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>
                  <a:solidFill>
                    <a:schemeClr val="dk1"/>
                  </a:solidFill>
                  <a:latin typeface="Geologica"/>
                  <a:ea typeface="Geologica"/>
                  <a:cs typeface="Geologica"/>
                  <a:sym typeface="Geologica"/>
                </a:rPr>
                <a:t>MS Office </a:t>
              </a:r>
              <a:endParaRPr/>
            </a:p>
          </p:txBody>
        </p:sp>
      </p:grpSp>
      <p:sp>
        <p:nvSpPr>
          <p:cNvPr id="462" name="Google Shape;462;p32"/>
          <p:cNvSpPr txBox="1"/>
          <p:nvPr/>
        </p:nvSpPr>
        <p:spPr>
          <a:xfrm>
            <a:off x="719089" y="8161791"/>
            <a:ext cx="15845794" cy="101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300" u="non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Платформа полностью соответствует требованиям импортозамещения</a:t>
            </a:r>
            <a:endParaRPr/>
          </a:p>
        </p:txBody>
      </p:sp>
      <p:sp>
        <p:nvSpPr>
          <p:cNvPr id="463" name="Google Shape;463;p32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ru-RU" sz="2800" u="non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sz="2800" u="non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465" name="Google Shape;465;p32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6" name="Google Shape;466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32"/>
            <p:cNvPicPr preferRelativeResize="0"/>
            <p:nvPr/>
          </p:nvPicPr>
          <p:blipFill rotWithShape="1">
            <a:blip r:embed="rId4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8" name="Google Shape;46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2"/>
          <p:cNvSpPr txBox="1"/>
          <p:nvPr/>
        </p:nvSpPr>
        <p:spPr>
          <a:xfrm>
            <a:off x="1439170" y="0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200" u="non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Архитектура высокой доступности</a:t>
            </a:r>
            <a:endParaRPr/>
          </a:p>
        </p:txBody>
      </p:sp>
      <p:pic>
        <p:nvPicPr>
          <p:cNvPr id="470" name="Google Shape;47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571" y="3352157"/>
            <a:ext cx="11540873" cy="418639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/>
          <p:nvPr/>
        </p:nvSpPr>
        <p:spPr>
          <a:xfrm>
            <a:off x="12528037" y="2915915"/>
            <a:ext cx="4032812" cy="5040560"/>
          </a:xfrm>
          <a:prstGeom prst="roundRect">
            <a:avLst>
              <a:gd fmla="val 6784" name="adj"/>
            </a:avLst>
          </a:prstGeom>
          <a:noFill/>
          <a:ln cap="flat" cmpd="sng" w="9525">
            <a:solidFill>
              <a:srgbClr val="008FCE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3"/>
          <p:cNvSpPr/>
          <p:nvPr/>
        </p:nvSpPr>
        <p:spPr>
          <a:xfrm>
            <a:off x="8722931" y="3708472"/>
            <a:ext cx="7477875" cy="2110288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8711051" y="5950149"/>
            <a:ext cx="7468574" cy="1449589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8721742" y="7537441"/>
            <a:ext cx="7468574" cy="1793886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8711051" y="1451408"/>
            <a:ext cx="7468574" cy="211659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3"/>
          <p:cNvSpPr/>
          <p:nvPr/>
        </p:nvSpPr>
        <p:spPr>
          <a:xfrm>
            <a:off x="1077768" y="3708472"/>
            <a:ext cx="7477875" cy="2110288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1077768" y="1475755"/>
            <a:ext cx="7477875" cy="211659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1077768" y="5950149"/>
            <a:ext cx="7477875" cy="1449589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1077768" y="7537441"/>
            <a:ext cx="7477875" cy="1793886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2229955" y="3850506"/>
            <a:ext cx="5472607" cy="3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Логистика и склад</a:t>
            </a:r>
            <a:endParaRPr/>
          </a:p>
        </p:txBody>
      </p:sp>
      <p:sp>
        <p:nvSpPr>
          <p:cNvPr id="485" name="Google Shape;485;p33"/>
          <p:cNvSpPr txBox="1"/>
          <p:nvPr/>
        </p:nvSpPr>
        <p:spPr>
          <a:xfrm>
            <a:off x="2445669" y="4347757"/>
            <a:ext cx="5618236" cy="1296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закупками и цепочками поставок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складом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Расширенное управление складом (WMS-система)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средствами индивидуальной защиты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автотранспортом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t/>
            </a:r>
            <a:endParaRPr b="0" i="0" spc="0" sz="1600" u="none" cap="none" strike="noStrike">
              <a:solidFill>
                <a:srgbClr val="00000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86" name="Google Shape;486;p33"/>
          <p:cNvSpPr txBox="1"/>
          <p:nvPr/>
        </p:nvSpPr>
        <p:spPr>
          <a:xfrm>
            <a:off x="2251089" y="7596435"/>
            <a:ext cx="5472607" cy="36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Финансовый менеджмент</a:t>
            </a:r>
            <a:endParaRPr/>
          </a:p>
        </p:txBody>
      </p:sp>
      <p:sp>
        <p:nvSpPr>
          <p:cNvPr id="487" name="Google Shape;487;p33"/>
          <p:cNvSpPr txBox="1"/>
          <p:nvPr/>
        </p:nvSpPr>
        <p:spPr>
          <a:xfrm>
            <a:off x="2445669" y="8043604"/>
            <a:ext cx="6142550" cy="1071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Казначейство и управление денежными средствами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Бюджетирование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договорной деятельностью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Бухгалтерский и налоговый учет, МСФО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Учет затрат и расчет производственной себестоимости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9864105" y="6043306"/>
            <a:ext cx="5472606" cy="4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Офисные системы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10070741" y="6507997"/>
            <a:ext cx="5374517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Электронный документооборот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НСИ (MDM-система)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имуществом организации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9864105" y="3850506"/>
            <a:ext cx="5472606" cy="4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проектами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10070741" y="4347757"/>
            <a:ext cx="5374517" cy="102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Планирование и контроль задач проектов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Бюджетирование проектов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ресурсами проектов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Проектный документооборот</a:t>
            </a:r>
            <a:endParaRPr/>
          </a:p>
        </p:txBody>
      </p:sp>
      <p:sp>
        <p:nvSpPr>
          <p:cNvPr id="492" name="Google Shape;492;p33"/>
          <p:cNvSpPr txBox="1"/>
          <p:nvPr/>
        </p:nvSpPr>
        <p:spPr>
          <a:xfrm>
            <a:off x="9864105" y="1578810"/>
            <a:ext cx="6192688" cy="4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персоналом</a:t>
            </a:r>
            <a:endParaRPr/>
          </a:p>
        </p:txBody>
      </p:sp>
      <p:sp>
        <p:nvSpPr>
          <p:cNvPr id="493" name="Google Shape;493;p33"/>
          <p:cNvSpPr txBox="1"/>
          <p:nvPr/>
        </p:nvSpPr>
        <p:spPr>
          <a:xfrm>
            <a:off x="10070741" y="2066267"/>
            <a:ext cx="6059526" cy="14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Кадровое администрирование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обучением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рабочим временем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Расчет заработной платы и налогов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Web-сервисы и HR-портал</a:t>
            </a:r>
            <a:endParaRPr/>
          </a:p>
        </p:txBody>
      </p:sp>
      <p:sp>
        <p:nvSpPr>
          <p:cNvPr id="494" name="Google Shape;494;p33"/>
          <p:cNvSpPr txBox="1"/>
          <p:nvPr/>
        </p:nvSpPr>
        <p:spPr>
          <a:xfrm>
            <a:off x="2229955" y="6043306"/>
            <a:ext cx="6192688" cy="352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сбытом</a:t>
            </a: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2445669" y="6507997"/>
            <a:ext cx="5978440" cy="86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продажами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сбытом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взаимоотношениями с клиентами</a:t>
            </a:r>
            <a:endParaRPr/>
          </a:p>
        </p:txBody>
      </p:sp>
      <p:sp>
        <p:nvSpPr>
          <p:cNvPr id="496" name="Google Shape;496;p33"/>
          <p:cNvSpPr txBox="1"/>
          <p:nvPr/>
        </p:nvSpPr>
        <p:spPr>
          <a:xfrm>
            <a:off x="2229955" y="1578810"/>
            <a:ext cx="5905958" cy="359431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Производственные системы</a:t>
            </a:r>
            <a:endParaRPr/>
          </a:p>
        </p:txBody>
      </p:sp>
      <p:sp>
        <p:nvSpPr>
          <p:cNvPr id="497" name="Google Shape;497;p33"/>
          <p:cNvSpPr txBox="1"/>
          <p:nvPr/>
        </p:nvSpPr>
        <p:spPr>
          <a:xfrm>
            <a:off x="2445669" y="2043501"/>
            <a:ext cx="5976974" cy="14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производством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ремонтами и обслуживанием оборудования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инструментальным хозяйством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Электронный технический архив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сервисом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t/>
            </a:r>
            <a:endParaRPr b="0" i="0" spc="0" sz="1600" u="none" cap="none" strike="noStrike">
              <a:solidFill>
                <a:srgbClr val="00000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9864105" y="7653322"/>
            <a:ext cx="6192688" cy="4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FCE"/>
              </a:buClr>
              <a:buSzPts val="2400"/>
              <a:buFont typeface="Geologica"/>
              <a:buNone/>
            </a:pPr>
            <a:r>
              <a:rPr b="0" i="0" lang="ru-RU" spc="0" sz="2400" u="none" cap="none" strike="noStrike">
                <a:solidFill>
                  <a:srgbClr val="008FCE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энергоресурсами</a:t>
            </a: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10070741" y="8100491"/>
            <a:ext cx="6059526" cy="902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энергосбытом: биллинг, энерготрейдинг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генерацией: работа на ОРЭМ, энергоучет</a:t>
            </a:r>
            <a:endParaRPr b="0" i="0" spc="0" sz="1600" u="none" cap="none" strike="noStrike">
              <a:solidFill>
                <a:srgbClr val="000000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</a:pPr>
            <a:r>
              <a:rPr b="0" i="0" lang="ru-RU" spc="0" sz="1600" u="none" cap="none" strike="noStrike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энергопотреблением: планирование и энергоучет</a:t>
            </a:r>
            <a:endParaRPr b="0" i="0" spc="0" sz="1600" u="none" cap="none" strike="noStrike">
              <a:solidFill>
                <a:srgbClr val="00000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500" name="Google Shape;500;p33"/>
          <p:cNvCxnSpPr/>
          <p:nvPr/>
        </p:nvCxnSpPr>
        <p:spPr>
          <a:xfrm>
            <a:off x="1941923" y="3708472"/>
            <a:ext cx="0" cy="2110288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1" name="Google Shape;501;p33"/>
          <p:cNvCxnSpPr/>
          <p:nvPr/>
        </p:nvCxnSpPr>
        <p:spPr>
          <a:xfrm>
            <a:off x="1941923" y="1475755"/>
            <a:ext cx="0" cy="211659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2" name="Google Shape;502;p33"/>
          <p:cNvCxnSpPr/>
          <p:nvPr/>
        </p:nvCxnSpPr>
        <p:spPr>
          <a:xfrm>
            <a:off x="1941923" y="5950149"/>
            <a:ext cx="0" cy="1449589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3" name="Google Shape;503;p33"/>
          <p:cNvCxnSpPr/>
          <p:nvPr/>
        </p:nvCxnSpPr>
        <p:spPr>
          <a:xfrm>
            <a:off x="1941923" y="7537441"/>
            <a:ext cx="0" cy="1793886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4" name="Google Shape;504;p33"/>
          <p:cNvCxnSpPr/>
          <p:nvPr/>
        </p:nvCxnSpPr>
        <p:spPr>
          <a:xfrm>
            <a:off x="9595477" y="3708472"/>
            <a:ext cx="0" cy="2110288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5" name="Google Shape;505;p33"/>
          <p:cNvCxnSpPr/>
          <p:nvPr/>
        </p:nvCxnSpPr>
        <p:spPr>
          <a:xfrm>
            <a:off x="9595477" y="1403747"/>
            <a:ext cx="0" cy="2164251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6" name="Google Shape;506;p33"/>
          <p:cNvCxnSpPr/>
          <p:nvPr/>
        </p:nvCxnSpPr>
        <p:spPr>
          <a:xfrm>
            <a:off x="9595477" y="5950149"/>
            <a:ext cx="0" cy="1449589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7" name="Google Shape;507;p33"/>
          <p:cNvCxnSpPr/>
          <p:nvPr/>
        </p:nvCxnSpPr>
        <p:spPr>
          <a:xfrm>
            <a:off x="9595477" y="7537441"/>
            <a:ext cx="0" cy="1793886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8" name="Google Shape;508;p33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grpSp>
        <p:nvGrpSpPr>
          <p:cNvPr id="509" name="Google Shape;509;p33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510" name="Google Shape;510;p33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1" name="Google Shape;51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33"/>
            <p:cNvPicPr preferRelativeResize="0"/>
            <p:nvPr/>
          </p:nvPicPr>
          <p:blipFill rotWithShape="1">
            <a:blip r:embed="rId4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3" name="Google Shape;51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3"/>
          <p:cNvSpPr txBox="1"/>
          <p:nvPr/>
        </p:nvSpPr>
        <p:spPr>
          <a:xfrm>
            <a:off x="1439169" y="2525"/>
            <a:ext cx="12266955" cy="1259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logica"/>
              <a:buNone/>
            </a:pPr>
            <a:r>
              <a:rPr b="0" i="0" lang="ru-RU" spc="0" sz="3200" u="none" cap="none" strike="noStrike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Широкая функциональность, индустриальные решения</a:t>
            </a:r>
            <a:endParaRPr/>
          </a:p>
        </p:txBody>
      </p:sp>
      <p:grpSp>
        <p:nvGrpSpPr>
          <p:cNvPr id="515" name="Google Shape;515;p33"/>
          <p:cNvGrpSpPr/>
          <p:nvPr/>
        </p:nvGrpSpPr>
        <p:grpSpPr>
          <a:xfrm>
            <a:off x="1256622" y="1567907"/>
            <a:ext cx="528132" cy="396127"/>
            <a:chOff x="16367914" y="2889097"/>
            <a:chExt cx="528132" cy="396127"/>
          </a:xfrm>
        </p:grpSpPr>
        <p:sp>
          <p:nvSpPr>
            <p:cNvPr id="516" name="Google Shape;516;p33"/>
            <p:cNvSpPr/>
            <p:nvPr/>
          </p:nvSpPr>
          <p:spPr>
            <a:xfrm>
              <a:off x="16417408" y="3186236"/>
              <a:ext cx="132062" cy="98988"/>
            </a:xfrm>
            <a:custGeom>
              <a:rect b="b" l="l" r="r" t="t"/>
              <a:pathLst>
                <a:path extrusionOk="0" h="98988" w="132062">
                  <a:moveTo>
                    <a:pt x="132062" y="98988"/>
                  </a:moveTo>
                  <a:lnTo>
                    <a:pt x="0" y="98988"/>
                  </a:lnTo>
                  <a:lnTo>
                    <a:pt x="0" y="16479"/>
                  </a:lnTo>
                  <a:cubicBezTo>
                    <a:pt x="0" y="7337"/>
                    <a:pt x="7395" y="0"/>
                    <a:pt x="16479" y="0"/>
                  </a:cubicBezTo>
                  <a:lnTo>
                    <a:pt x="115525" y="0"/>
                  </a:lnTo>
                  <a:cubicBezTo>
                    <a:pt x="124667" y="0"/>
                    <a:pt x="132004" y="7395"/>
                    <a:pt x="132004" y="16479"/>
                  </a:cubicBezTo>
                  <a:lnTo>
                    <a:pt x="132004" y="98988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16764042" y="2889097"/>
              <a:ext cx="82509" cy="198093"/>
            </a:xfrm>
            <a:custGeom>
              <a:rect b="b" l="l" r="r" t="t"/>
              <a:pathLst>
                <a:path extrusionOk="0" h="198093" w="82509">
                  <a:moveTo>
                    <a:pt x="82510" y="198093"/>
                  </a:moveTo>
                  <a:lnTo>
                    <a:pt x="0" y="198093"/>
                  </a:lnTo>
                  <a:lnTo>
                    <a:pt x="15256" y="15139"/>
                  </a:lnTo>
                  <a:cubicBezTo>
                    <a:pt x="15955" y="6580"/>
                    <a:pt x="23117" y="0"/>
                    <a:pt x="31676" y="0"/>
                  </a:cubicBezTo>
                  <a:lnTo>
                    <a:pt x="50833" y="0"/>
                  </a:lnTo>
                  <a:cubicBezTo>
                    <a:pt x="59393" y="0"/>
                    <a:pt x="66555" y="6580"/>
                    <a:pt x="67254" y="15139"/>
                  </a:cubicBezTo>
                  <a:lnTo>
                    <a:pt x="82510" y="198093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16648516" y="2889097"/>
              <a:ext cx="82509" cy="198093"/>
            </a:xfrm>
            <a:custGeom>
              <a:rect b="b" l="l" r="r" t="t"/>
              <a:pathLst>
                <a:path extrusionOk="0" h="198093" w="82509">
                  <a:moveTo>
                    <a:pt x="82510" y="198093"/>
                  </a:moveTo>
                  <a:lnTo>
                    <a:pt x="0" y="198093"/>
                  </a:lnTo>
                  <a:lnTo>
                    <a:pt x="15256" y="15139"/>
                  </a:lnTo>
                  <a:cubicBezTo>
                    <a:pt x="15955" y="6580"/>
                    <a:pt x="23117" y="0"/>
                    <a:pt x="31676" y="0"/>
                  </a:cubicBezTo>
                  <a:lnTo>
                    <a:pt x="50833" y="0"/>
                  </a:lnTo>
                  <a:cubicBezTo>
                    <a:pt x="59393" y="0"/>
                    <a:pt x="66555" y="6580"/>
                    <a:pt x="67254" y="15139"/>
                  </a:cubicBezTo>
                  <a:lnTo>
                    <a:pt x="82510" y="198093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16367914" y="2938591"/>
              <a:ext cx="528132" cy="346575"/>
            </a:xfrm>
            <a:custGeom>
              <a:rect b="b" l="l" r="r" t="t"/>
              <a:pathLst>
                <a:path extrusionOk="0" h="346575" w="528132">
                  <a:moveTo>
                    <a:pt x="231109" y="148599"/>
                  </a:moveTo>
                  <a:lnTo>
                    <a:pt x="231109" y="71330"/>
                  </a:lnTo>
                  <a:cubicBezTo>
                    <a:pt x="231109" y="58112"/>
                    <a:pt x="223248" y="46175"/>
                    <a:pt x="211078" y="40993"/>
                  </a:cubicBezTo>
                  <a:lnTo>
                    <a:pt x="115525" y="58"/>
                  </a:lnTo>
                  <a:lnTo>
                    <a:pt x="115525" y="49552"/>
                  </a:lnTo>
                  <a:lnTo>
                    <a:pt x="0" y="0"/>
                  </a:lnTo>
                  <a:lnTo>
                    <a:pt x="0" y="330097"/>
                  </a:lnTo>
                  <a:cubicBezTo>
                    <a:pt x="0" y="339239"/>
                    <a:pt x="7395" y="346576"/>
                    <a:pt x="16479" y="346576"/>
                  </a:cubicBezTo>
                  <a:lnTo>
                    <a:pt x="32957" y="346576"/>
                  </a:lnTo>
                  <a:lnTo>
                    <a:pt x="32957" y="265289"/>
                  </a:lnTo>
                  <a:cubicBezTo>
                    <a:pt x="32957" y="247063"/>
                    <a:pt x="47747" y="232273"/>
                    <a:pt x="65973" y="232273"/>
                  </a:cubicBezTo>
                  <a:lnTo>
                    <a:pt x="165019" y="232273"/>
                  </a:lnTo>
                  <a:cubicBezTo>
                    <a:pt x="183245" y="232273"/>
                    <a:pt x="198035" y="247063"/>
                    <a:pt x="198035" y="265289"/>
                  </a:cubicBezTo>
                  <a:lnTo>
                    <a:pt x="198035" y="346576"/>
                  </a:lnTo>
                  <a:lnTo>
                    <a:pt x="511654" y="346576"/>
                  </a:lnTo>
                  <a:cubicBezTo>
                    <a:pt x="520795" y="346576"/>
                    <a:pt x="528132" y="339181"/>
                    <a:pt x="528132" y="330097"/>
                  </a:cubicBezTo>
                  <a:lnTo>
                    <a:pt x="528132" y="198035"/>
                  </a:lnTo>
                  <a:cubicBezTo>
                    <a:pt x="528132" y="179810"/>
                    <a:pt x="513342" y="165020"/>
                    <a:pt x="495117" y="165020"/>
                  </a:cubicBezTo>
                  <a:lnTo>
                    <a:pt x="247529" y="165020"/>
                  </a:lnTo>
                  <a:cubicBezTo>
                    <a:pt x="238387" y="165020"/>
                    <a:pt x="231051" y="157624"/>
                    <a:pt x="231051" y="148541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16433945" y="3103727"/>
              <a:ext cx="99046" cy="32957"/>
            </a:xfrm>
            <a:custGeom>
              <a:rect b="b" l="l" r="r" t="t"/>
              <a:pathLst>
                <a:path extrusionOk="0" h="32957" w="99046">
                  <a:moveTo>
                    <a:pt x="99047" y="32957"/>
                  </a:moveTo>
                  <a:lnTo>
                    <a:pt x="0" y="32957"/>
                  </a:lnTo>
                  <a:lnTo>
                    <a:pt x="0" y="16479"/>
                  </a:lnTo>
                  <a:cubicBezTo>
                    <a:pt x="0" y="7337"/>
                    <a:pt x="7395" y="0"/>
                    <a:pt x="16479" y="0"/>
                  </a:cubicBezTo>
                  <a:lnTo>
                    <a:pt x="82510" y="0"/>
                  </a:lnTo>
                  <a:cubicBezTo>
                    <a:pt x="91652" y="0"/>
                    <a:pt x="98988" y="7395"/>
                    <a:pt x="98988" y="16479"/>
                  </a:cubicBezTo>
                  <a:lnTo>
                    <a:pt x="98988" y="329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16433945" y="3037696"/>
              <a:ext cx="99046" cy="32957"/>
            </a:xfrm>
            <a:custGeom>
              <a:rect b="b" l="l" r="r" t="t"/>
              <a:pathLst>
                <a:path extrusionOk="0" h="32957" w="99046">
                  <a:moveTo>
                    <a:pt x="99047" y="32957"/>
                  </a:moveTo>
                  <a:lnTo>
                    <a:pt x="0" y="32957"/>
                  </a:lnTo>
                  <a:lnTo>
                    <a:pt x="0" y="16479"/>
                  </a:lnTo>
                  <a:cubicBezTo>
                    <a:pt x="0" y="7337"/>
                    <a:pt x="7395" y="0"/>
                    <a:pt x="16479" y="0"/>
                  </a:cubicBezTo>
                  <a:lnTo>
                    <a:pt x="82510" y="0"/>
                  </a:lnTo>
                  <a:cubicBezTo>
                    <a:pt x="91652" y="0"/>
                    <a:pt x="98988" y="7395"/>
                    <a:pt x="98988" y="16479"/>
                  </a:cubicBezTo>
                  <a:lnTo>
                    <a:pt x="98988" y="329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16648516" y="3153163"/>
              <a:ext cx="82509" cy="82509"/>
            </a:xfrm>
            <a:custGeom>
              <a:rect b="b" l="l" r="r" t="t"/>
              <a:pathLst>
                <a:path extrusionOk="0" h="82509" w="82509">
                  <a:moveTo>
                    <a:pt x="66031" y="0"/>
                  </a:moveTo>
                  <a:cubicBezTo>
                    <a:pt x="75132" y="0"/>
                    <a:pt x="82510" y="7378"/>
                    <a:pt x="82510" y="16479"/>
                  </a:cubicBezTo>
                  <a:lnTo>
                    <a:pt x="82510" y="66031"/>
                  </a:lnTo>
                  <a:cubicBezTo>
                    <a:pt x="82510" y="75132"/>
                    <a:pt x="75132" y="82510"/>
                    <a:pt x="66031" y="82510"/>
                  </a:cubicBezTo>
                  <a:lnTo>
                    <a:pt x="16479" y="82510"/>
                  </a:lnTo>
                  <a:cubicBezTo>
                    <a:pt x="7378" y="82510"/>
                    <a:pt x="0" y="75132"/>
                    <a:pt x="0" y="66031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16764042" y="3153163"/>
              <a:ext cx="82509" cy="82509"/>
            </a:xfrm>
            <a:custGeom>
              <a:rect b="b" l="l" r="r" t="t"/>
              <a:pathLst>
                <a:path extrusionOk="0" h="82509" w="82509">
                  <a:moveTo>
                    <a:pt x="66031" y="0"/>
                  </a:moveTo>
                  <a:cubicBezTo>
                    <a:pt x="75132" y="0"/>
                    <a:pt x="82510" y="7378"/>
                    <a:pt x="82510" y="16479"/>
                  </a:cubicBezTo>
                  <a:lnTo>
                    <a:pt x="82510" y="66031"/>
                  </a:lnTo>
                  <a:cubicBezTo>
                    <a:pt x="82510" y="75132"/>
                    <a:pt x="75132" y="82510"/>
                    <a:pt x="66031" y="82510"/>
                  </a:cubicBezTo>
                  <a:lnTo>
                    <a:pt x="16479" y="82510"/>
                  </a:lnTo>
                  <a:cubicBezTo>
                    <a:pt x="7378" y="82510"/>
                    <a:pt x="0" y="75132"/>
                    <a:pt x="0" y="66031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33"/>
          <p:cNvGrpSpPr/>
          <p:nvPr/>
        </p:nvGrpSpPr>
        <p:grpSpPr>
          <a:xfrm>
            <a:off x="1256622" y="3809554"/>
            <a:ext cx="528132" cy="396128"/>
            <a:chOff x="16367914" y="4952306"/>
            <a:chExt cx="528132" cy="396128"/>
          </a:xfrm>
        </p:grpSpPr>
        <p:sp>
          <p:nvSpPr>
            <p:cNvPr id="525" name="Google Shape;525;p33"/>
            <p:cNvSpPr/>
            <p:nvPr/>
          </p:nvSpPr>
          <p:spPr>
            <a:xfrm>
              <a:off x="16367914" y="4952306"/>
              <a:ext cx="528132" cy="396128"/>
            </a:xfrm>
            <a:custGeom>
              <a:rect b="b" l="l" r="r" t="t"/>
              <a:pathLst>
                <a:path extrusionOk="0" h="396128" w="528132">
                  <a:moveTo>
                    <a:pt x="496048" y="86993"/>
                  </a:moveTo>
                  <a:lnTo>
                    <a:pt x="264066" y="0"/>
                  </a:lnTo>
                  <a:lnTo>
                    <a:pt x="32084" y="86993"/>
                  </a:lnTo>
                  <a:cubicBezTo>
                    <a:pt x="12810" y="94214"/>
                    <a:pt x="0" y="112730"/>
                    <a:pt x="0" y="133343"/>
                  </a:cubicBezTo>
                  <a:lnTo>
                    <a:pt x="0" y="379650"/>
                  </a:lnTo>
                  <a:cubicBezTo>
                    <a:pt x="0" y="388792"/>
                    <a:pt x="7395" y="396128"/>
                    <a:pt x="16479" y="396128"/>
                  </a:cubicBezTo>
                  <a:lnTo>
                    <a:pt x="511654" y="396128"/>
                  </a:lnTo>
                  <a:cubicBezTo>
                    <a:pt x="520795" y="396128"/>
                    <a:pt x="528132" y="388733"/>
                    <a:pt x="528132" y="379650"/>
                  </a:cubicBezTo>
                  <a:lnTo>
                    <a:pt x="528132" y="133343"/>
                  </a:lnTo>
                  <a:cubicBezTo>
                    <a:pt x="528132" y="112730"/>
                    <a:pt x="515322" y="94214"/>
                    <a:pt x="495990" y="86993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16417408" y="5067832"/>
              <a:ext cx="297023" cy="231108"/>
            </a:xfrm>
            <a:custGeom>
              <a:rect b="b" l="l" r="r" t="t"/>
              <a:pathLst>
                <a:path extrusionOk="0" h="231108" w="297023">
                  <a:moveTo>
                    <a:pt x="244792" y="27367"/>
                  </a:moveTo>
                  <a:cubicBezTo>
                    <a:pt x="236408" y="10597"/>
                    <a:pt x="219230" y="0"/>
                    <a:pt x="200481" y="0"/>
                  </a:cubicBezTo>
                  <a:lnTo>
                    <a:pt x="148541" y="0"/>
                  </a:lnTo>
                  <a:cubicBezTo>
                    <a:pt x="130315" y="0"/>
                    <a:pt x="115525" y="14790"/>
                    <a:pt x="115525" y="33015"/>
                  </a:cubicBezTo>
                  <a:lnTo>
                    <a:pt x="115525" y="57763"/>
                  </a:lnTo>
                  <a:cubicBezTo>
                    <a:pt x="115525" y="80530"/>
                    <a:pt x="97067" y="99047"/>
                    <a:pt x="74241" y="99047"/>
                  </a:cubicBezTo>
                  <a:lnTo>
                    <a:pt x="39828" y="99047"/>
                  </a:lnTo>
                  <a:cubicBezTo>
                    <a:pt x="35461" y="99047"/>
                    <a:pt x="31269" y="100793"/>
                    <a:pt x="28183" y="103880"/>
                  </a:cubicBezTo>
                  <a:lnTo>
                    <a:pt x="4833" y="127229"/>
                  </a:lnTo>
                  <a:cubicBezTo>
                    <a:pt x="1747" y="130315"/>
                    <a:pt x="0" y="134508"/>
                    <a:pt x="0" y="138875"/>
                  </a:cubicBezTo>
                  <a:lnTo>
                    <a:pt x="0" y="165078"/>
                  </a:lnTo>
                  <a:cubicBezTo>
                    <a:pt x="0" y="174220"/>
                    <a:pt x="7395" y="181556"/>
                    <a:pt x="16479" y="181556"/>
                  </a:cubicBezTo>
                  <a:lnTo>
                    <a:pt x="32957" y="181556"/>
                  </a:lnTo>
                  <a:cubicBezTo>
                    <a:pt x="56190" y="181556"/>
                    <a:pt x="75697" y="197569"/>
                    <a:pt x="81054" y="219172"/>
                  </a:cubicBezTo>
                  <a:cubicBezTo>
                    <a:pt x="82801" y="226334"/>
                    <a:pt x="89555" y="231109"/>
                    <a:pt x="96892" y="231109"/>
                  </a:cubicBezTo>
                  <a:lnTo>
                    <a:pt x="214514" y="231109"/>
                  </a:lnTo>
                  <a:cubicBezTo>
                    <a:pt x="223656" y="231109"/>
                    <a:pt x="230992" y="223714"/>
                    <a:pt x="230992" y="214630"/>
                  </a:cubicBezTo>
                  <a:lnTo>
                    <a:pt x="230992" y="214630"/>
                  </a:lnTo>
                  <a:cubicBezTo>
                    <a:pt x="230992" y="178179"/>
                    <a:pt x="260572" y="148599"/>
                    <a:pt x="297023" y="148599"/>
                  </a:cubicBezTo>
                  <a:lnTo>
                    <a:pt x="297023" y="147667"/>
                  </a:lnTo>
                  <a:cubicBezTo>
                    <a:pt x="297023" y="137419"/>
                    <a:pt x="294636" y="127287"/>
                    <a:pt x="290036" y="118145"/>
                  </a:cubicBezTo>
                  <a:lnTo>
                    <a:pt x="244676" y="27426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16417408" y="5265925"/>
              <a:ext cx="66031" cy="66031"/>
            </a:xfrm>
            <a:custGeom>
              <a:rect b="b" l="l" r="r" t="t"/>
              <a:pathLst>
                <a:path extrusionOk="0" h="66031" w="66031">
                  <a:moveTo>
                    <a:pt x="66031" y="33015"/>
                  </a:moveTo>
                  <a:cubicBezTo>
                    <a:pt x="66031" y="51250"/>
                    <a:pt x="51250" y="66031"/>
                    <a:pt x="33016" y="66031"/>
                  </a:cubicBezTo>
                  <a:cubicBezTo>
                    <a:pt x="14782" y="66031"/>
                    <a:pt x="0" y="51250"/>
                    <a:pt x="0" y="33015"/>
                  </a:cubicBezTo>
                  <a:cubicBezTo>
                    <a:pt x="0" y="14781"/>
                    <a:pt x="14782" y="0"/>
                    <a:pt x="33016" y="0"/>
                  </a:cubicBezTo>
                  <a:cubicBezTo>
                    <a:pt x="51250" y="0"/>
                    <a:pt x="66031" y="14781"/>
                    <a:pt x="66031" y="330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6665053" y="5232909"/>
              <a:ext cx="98988" cy="98988"/>
            </a:xfrm>
            <a:custGeom>
              <a:rect b="b" l="l" r="r" t="t"/>
              <a:pathLst>
                <a:path extrusionOk="0" h="98988" w="98988">
                  <a:moveTo>
                    <a:pt x="98988" y="49494"/>
                  </a:moveTo>
                  <a:cubicBezTo>
                    <a:pt x="98988" y="76829"/>
                    <a:pt x="76829" y="98988"/>
                    <a:pt x="49494" y="98988"/>
                  </a:cubicBezTo>
                  <a:cubicBezTo>
                    <a:pt x="22159" y="98988"/>
                    <a:pt x="0" y="76829"/>
                    <a:pt x="0" y="49494"/>
                  </a:cubicBezTo>
                  <a:cubicBezTo>
                    <a:pt x="0" y="22159"/>
                    <a:pt x="22159" y="0"/>
                    <a:pt x="49494" y="0"/>
                  </a:cubicBezTo>
                  <a:cubicBezTo>
                    <a:pt x="76829" y="0"/>
                    <a:pt x="98988" y="22159"/>
                    <a:pt x="98988" y="494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16731084" y="5034816"/>
              <a:ext cx="33015" cy="247587"/>
            </a:xfrm>
            <a:custGeom>
              <a:rect b="b" l="l" r="r" t="t"/>
              <a:pathLst>
                <a:path extrusionOk="0" h="247587" w="33015">
                  <a:moveTo>
                    <a:pt x="18226" y="7395"/>
                  </a:moveTo>
                  <a:lnTo>
                    <a:pt x="33016" y="0"/>
                  </a:lnTo>
                  <a:lnTo>
                    <a:pt x="33016" y="247587"/>
                  </a:lnTo>
                  <a:lnTo>
                    <a:pt x="0" y="247587"/>
                  </a:lnTo>
                  <a:lnTo>
                    <a:pt x="0" y="36917"/>
                  </a:lnTo>
                  <a:cubicBezTo>
                    <a:pt x="0" y="24398"/>
                    <a:pt x="7046" y="12985"/>
                    <a:pt x="18226" y="73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16689800" y="5257656"/>
              <a:ext cx="49494" cy="49494"/>
            </a:xfrm>
            <a:custGeom>
              <a:rect b="b" l="l" r="r" t="t"/>
              <a:pathLst>
                <a:path extrusionOk="0" h="49494" w="49494">
                  <a:moveTo>
                    <a:pt x="49494" y="24747"/>
                  </a:moveTo>
                  <a:cubicBezTo>
                    <a:pt x="49494" y="38414"/>
                    <a:pt x="38415" y="49494"/>
                    <a:pt x="24747" y="49494"/>
                  </a:cubicBezTo>
                  <a:cubicBezTo>
                    <a:pt x="11080" y="49494"/>
                    <a:pt x="0" y="38414"/>
                    <a:pt x="0" y="24747"/>
                  </a:cubicBezTo>
                  <a:cubicBezTo>
                    <a:pt x="0" y="11080"/>
                    <a:pt x="11080" y="0"/>
                    <a:pt x="24747" y="0"/>
                  </a:cubicBezTo>
                  <a:cubicBezTo>
                    <a:pt x="38415" y="0"/>
                    <a:pt x="49494" y="11080"/>
                    <a:pt x="49494" y="24747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16780579" y="5117384"/>
              <a:ext cx="99046" cy="198093"/>
            </a:xfrm>
            <a:custGeom>
              <a:rect b="b" l="l" r="r" t="t"/>
              <a:pathLst>
                <a:path extrusionOk="0" h="198093" w="99046">
                  <a:moveTo>
                    <a:pt x="16479" y="165019"/>
                  </a:moveTo>
                  <a:lnTo>
                    <a:pt x="16479" y="30162"/>
                  </a:lnTo>
                  <a:cubicBezTo>
                    <a:pt x="16479" y="21428"/>
                    <a:pt x="12985" y="12985"/>
                    <a:pt x="6813" y="6813"/>
                  </a:cubicBezTo>
                  <a:lnTo>
                    <a:pt x="0" y="0"/>
                  </a:lnTo>
                  <a:lnTo>
                    <a:pt x="0" y="165078"/>
                  </a:lnTo>
                  <a:cubicBezTo>
                    <a:pt x="0" y="183303"/>
                    <a:pt x="14790" y="198093"/>
                    <a:pt x="33016" y="198093"/>
                  </a:cubicBezTo>
                  <a:lnTo>
                    <a:pt x="99047" y="198093"/>
                  </a:lnTo>
                  <a:lnTo>
                    <a:pt x="97067" y="196113"/>
                  </a:lnTo>
                  <a:cubicBezTo>
                    <a:pt x="87808" y="186855"/>
                    <a:pt x="75173" y="181615"/>
                    <a:pt x="62072" y="181615"/>
                  </a:cubicBezTo>
                  <a:lnTo>
                    <a:pt x="33074" y="181615"/>
                  </a:lnTo>
                  <a:cubicBezTo>
                    <a:pt x="23932" y="181615"/>
                    <a:pt x="16595" y="174220"/>
                    <a:pt x="16595" y="165136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16566007" y="5084368"/>
              <a:ext cx="111633" cy="98988"/>
            </a:xfrm>
            <a:custGeom>
              <a:rect b="b" l="l" r="r" t="t"/>
              <a:pathLst>
                <a:path extrusionOk="0" h="98988" w="111633">
                  <a:moveTo>
                    <a:pt x="0" y="82510"/>
                  </a:moveTo>
                  <a:lnTo>
                    <a:pt x="0" y="16479"/>
                  </a:lnTo>
                  <a:cubicBezTo>
                    <a:pt x="0" y="7337"/>
                    <a:pt x="7395" y="0"/>
                    <a:pt x="16479" y="0"/>
                  </a:cubicBezTo>
                  <a:lnTo>
                    <a:pt x="51882" y="0"/>
                  </a:lnTo>
                  <a:cubicBezTo>
                    <a:pt x="64401" y="0"/>
                    <a:pt x="75813" y="7046"/>
                    <a:pt x="81403" y="18226"/>
                  </a:cubicBezTo>
                  <a:lnTo>
                    <a:pt x="109877" y="75115"/>
                  </a:lnTo>
                  <a:cubicBezTo>
                    <a:pt x="115351" y="86062"/>
                    <a:pt x="107373" y="98988"/>
                    <a:pt x="95087" y="98988"/>
                  </a:cubicBezTo>
                  <a:lnTo>
                    <a:pt x="16479" y="98988"/>
                  </a:lnTo>
                  <a:cubicBezTo>
                    <a:pt x="7337" y="98988"/>
                    <a:pt x="0" y="91593"/>
                    <a:pt x="0" y="825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33"/>
          <p:cNvGrpSpPr/>
          <p:nvPr/>
        </p:nvGrpSpPr>
        <p:grpSpPr>
          <a:xfrm>
            <a:off x="1256593" y="6042590"/>
            <a:ext cx="528189" cy="396128"/>
            <a:chOff x="16367914" y="5447481"/>
            <a:chExt cx="528189" cy="396128"/>
          </a:xfrm>
        </p:grpSpPr>
        <p:sp>
          <p:nvSpPr>
            <p:cNvPr id="534" name="Google Shape;534;p33"/>
            <p:cNvSpPr/>
            <p:nvPr/>
          </p:nvSpPr>
          <p:spPr>
            <a:xfrm>
              <a:off x="16367914" y="5447481"/>
              <a:ext cx="346634" cy="280603"/>
            </a:xfrm>
            <a:custGeom>
              <a:rect b="b" l="l" r="r" t="t"/>
              <a:pathLst>
                <a:path extrusionOk="0" h="280603" w="346634">
                  <a:moveTo>
                    <a:pt x="33016" y="0"/>
                  </a:moveTo>
                  <a:lnTo>
                    <a:pt x="313619" y="0"/>
                  </a:lnTo>
                  <a:cubicBezTo>
                    <a:pt x="331844" y="0"/>
                    <a:pt x="346634" y="14790"/>
                    <a:pt x="346634" y="33016"/>
                  </a:cubicBezTo>
                  <a:lnTo>
                    <a:pt x="346634" y="280603"/>
                  </a:lnTo>
                  <a:lnTo>
                    <a:pt x="33016" y="280603"/>
                  </a:lnTo>
                  <a:cubicBezTo>
                    <a:pt x="14790" y="280603"/>
                    <a:pt x="0" y="265813"/>
                    <a:pt x="0" y="247588"/>
                  </a:cubicBezTo>
                  <a:lnTo>
                    <a:pt x="0" y="33016"/>
                  </a:lnTo>
                  <a:cubicBezTo>
                    <a:pt x="0" y="14790"/>
                    <a:pt x="14790" y="0"/>
                    <a:pt x="33016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16400929" y="5744563"/>
              <a:ext cx="396128" cy="49494"/>
            </a:xfrm>
            <a:custGeom>
              <a:rect b="b" l="l" r="r" t="t"/>
              <a:pathLst>
                <a:path extrusionOk="0" h="49494" w="396128">
                  <a:moveTo>
                    <a:pt x="0" y="0"/>
                  </a:moveTo>
                  <a:lnTo>
                    <a:pt x="396128" y="0"/>
                  </a:lnTo>
                  <a:lnTo>
                    <a:pt x="396128" y="49494"/>
                  </a:lnTo>
                  <a:lnTo>
                    <a:pt x="33016" y="49494"/>
                  </a:lnTo>
                  <a:cubicBezTo>
                    <a:pt x="14790" y="49494"/>
                    <a:pt x="0" y="34704"/>
                    <a:pt x="0" y="16479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16747563" y="5744621"/>
              <a:ext cx="98988" cy="98988"/>
            </a:xfrm>
            <a:custGeom>
              <a:rect b="b" l="l" r="r" t="t"/>
              <a:pathLst>
                <a:path extrusionOk="0" h="98988" w="98988">
                  <a:moveTo>
                    <a:pt x="98988" y="49494"/>
                  </a:moveTo>
                  <a:cubicBezTo>
                    <a:pt x="98988" y="76829"/>
                    <a:pt x="76829" y="98988"/>
                    <a:pt x="49494" y="98988"/>
                  </a:cubicBezTo>
                  <a:cubicBezTo>
                    <a:pt x="22159" y="98988"/>
                    <a:pt x="0" y="76829"/>
                    <a:pt x="0" y="49494"/>
                  </a:cubicBezTo>
                  <a:cubicBezTo>
                    <a:pt x="0" y="22159"/>
                    <a:pt x="22159" y="0"/>
                    <a:pt x="49494" y="0"/>
                  </a:cubicBezTo>
                  <a:cubicBezTo>
                    <a:pt x="76829" y="0"/>
                    <a:pt x="98988" y="22159"/>
                    <a:pt x="98988" y="49494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16466960" y="5744621"/>
              <a:ext cx="98988" cy="98988"/>
            </a:xfrm>
            <a:custGeom>
              <a:rect b="b" l="l" r="r" t="t"/>
              <a:pathLst>
                <a:path extrusionOk="0" h="98988" w="98988">
                  <a:moveTo>
                    <a:pt x="98988" y="49494"/>
                  </a:moveTo>
                  <a:cubicBezTo>
                    <a:pt x="98988" y="76829"/>
                    <a:pt x="76829" y="98988"/>
                    <a:pt x="49494" y="98988"/>
                  </a:cubicBezTo>
                  <a:cubicBezTo>
                    <a:pt x="22159" y="98988"/>
                    <a:pt x="0" y="76829"/>
                    <a:pt x="0" y="49494"/>
                  </a:cubicBezTo>
                  <a:cubicBezTo>
                    <a:pt x="0" y="22159"/>
                    <a:pt x="22159" y="0"/>
                    <a:pt x="49494" y="0"/>
                  </a:cubicBezTo>
                  <a:cubicBezTo>
                    <a:pt x="76829" y="0"/>
                    <a:pt x="98988" y="22159"/>
                    <a:pt x="98988" y="49494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16483439" y="5761100"/>
              <a:ext cx="66031" cy="66031"/>
            </a:xfrm>
            <a:custGeom>
              <a:rect b="b" l="l" r="r" t="t"/>
              <a:pathLst>
                <a:path extrusionOk="0" h="66031" w="66031">
                  <a:moveTo>
                    <a:pt x="66031" y="33016"/>
                  </a:moveTo>
                  <a:cubicBezTo>
                    <a:pt x="66031" y="51250"/>
                    <a:pt x="51250" y="66031"/>
                    <a:pt x="33016" y="66031"/>
                  </a:cubicBezTo>
                  <a:cubicBezTo>
                    <a:pt x="14782" y="66031"/>
                    <a:pt x="0" y="51250"/>
                    <a:pt x="0" y="33016"/>
                  </a:cubicBezTo>
                  <a:cubicBezTo>
                    <a:pt x="0" y="14781"/>
                    <a:pt x="14782" y="0"/>
                    <a:pt x="33016" y="0"/>
                  </a:cubicBezTo>
                  <a:cubicBezTo>
                    <a:pt x="51250" y="0"/>
                    <a:pt x="66031" y="14781"/>
                    <a:pt x="66031" y="330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16764042" y="5761100"/>
              <a:ext cx="66031" cy="66031"/>
            </a:xfrm>
            <a:custGeom>
              <a:rect b="b" l="l" r="r" t="t"/>
              <a:pathLst>
                <a:path extrusionOk="0" h="66031" w="66031">
                  <a:moveTo>
                    <a:pt x="66031" y="33016"/>
                  </a:moveTo>
                  <a:cubicBezTo>
                    <a:pt x="66031" y="51250"/>
                    <a:pt x="51250" y="66031"/>
                    <a:pt x="33016" y="66031"/>
                  </a:cubicBezTo>
                  <a:cubicBezTo>
                    <a:pt x="14782" y="66031"/>
                    <a:pt x="0" y="51250"/>
                    <a:pt x="0" y="33016"/>
                  </a:cubicBezTo>
                  <a:cubicBezTo>
                    <a:pt x="0" y="14781"/>
                    <a:pt x="14782" y="0"/>
                    <a:pt x="33016" y="0"/>
                  </a:cubicBezTo>
                  <a:cubicBezTo>
                    <a:pt x="51250" y="0"/>
                    <a:pt x="66031" y="14781"/>
                    <a:pt x="66031" y="330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16731026" y="5546528"/>
              <a:ext cx="165077" cy="247587"/>
            </a:xfrm>
            <a:custGeom>
              <a:rect b="b" l="l" r="r" t="t"/>
              <a:pathLst>
                <a:path extrusionOk="0" h="247587" w="165077">
                  <a:moveTo>
                    <a:pt x="108247" y="0"/>
                  </a:moveTo>
                  <a:lnTo>
                    <a:pt x="33016" y="0"/>
                  </a:lnTo>
                  <a:cubicBezTo>
                    <a:pt x="14790" y="0"/>
                    <a:pt x="0" y="14790"/>
                    <a:pt x="0" y="33015"/>
                  </a:cubicBezTo>
                  <a:lnTo>
                    <a:pt x="0" y="181556"/>
                  </a:lnTo>
                  <a:lnTo>
                    <a:pt x="66031" y="181556"/>
                  </a:lnTo>
                  <a:cubicBezTo>
                    <a:pt x="102482" y="181556"/>
                    <a:pt x="132062" y="211137"/>
                    <a:pt x="132062" y="247587"/>
                  </a:cubicBezTo>
                  <a:lnTo>
                    <a:pt x="132062" y="247587"/>
                  </a:lnTo>
                  <a:cubicBezTo>
                    <a:pt x="150288" y="247587"/>
                    <a:pt x="165078" y="232797"/>
                    <a:pt x="165078" y="214572"/>
                  </a:cubicBezTo>
                  <a:lnTo>
                    <a:pt x="165078" y="117796"/>
                  </a:lnTo>
                  <a:cubicBezTo>
                    <a:pt x="165078" y="105394"/>
                    <a:pt x="163098" y="93049"/>
                    <a:pt x="159138" y="81287"/>
                  </a:cubicBezTo>
                  <a:lnTo>
                    <a:pt x="139574" y="22593"/>
                  </a:lnTo>
                  <a:cubicBezTo>
                    <a:pt x="135090" y="9084"/>
                    <a:pt x="122454" y="0"/>
                    <a:pt x="108247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16780520" y="5563065"/>
              <a:ext cx="95723" cy="82509"/>
            </a:xfrm>
            <a:custGeom>
              <a:rect b="b" l="l" r="r" t="t"/>
              <a:pathLst>
                <a:path extrusionOk="0" h="82509" w="95723">
                  <a:moveTo>
                    <a:pt x="58" y="65973"/>
                  </a:moveTo>
                  <a:lnTo>
                    <a:pt x="58" y="16479"/>
                  </a:lnTo>
                  <a:cubicBezTo>
                    <a:pt x="58" y="7337"/>
                    <a:pt x="7453" y="0"/>
                    <a:pt x="16537" y="0"/>
                  </a:cubicBezTo>
                  <a:lnTo>
                    <a:pt x="58869" y="0"/>
                  </a:lnTo>
                  <a:cubicBezTo>
                    <a:pt x="65915" y="0"/>
                    <a:pt x="72203" y="4484"/>
                    <a:pt x="74474" y="11122"/>
                  </a:cubicBezTo>
                  <a:lnTo>
                    <a:pt x="95262" y="71563"/>
                  </a:lnTo>
                  <a:cubicBezTo>
                    <a:pt x="97125" y="76920"/>
                    <a:pt x="93107" y="82510"/>
                    <a:pt x="87459" y="82510"/>
                  </a:cubicBezTo>
                  <a:lnTo>
                    <a:pt x="16479" y="82510"/>
                  </a:lnTo>
                  <a:cubicBezTo>
                    <a:pt x="7337" y="82510"/>
                    <a:pt x="0" y="75115"/>
                    <a:pt x="0" y="660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16586014" y="5522417"/>
              <a:ext cx="96595" cy="147210"/>
            </a:xfrm>
            <a:custGeom>
              <a:rect b="b" l="l" r="r" t="t"/>
              <a:pathLst>
                <a:path extrusionOk="0" h="147210" w="96595">
                  <a:moveTo>
                    <a:pt x="1130" y="12407"/>
                  </a:moveTo>
                  <a:lnTo>
                    <a:pt x="30884" y="65570"/>
                  </a:lnTo>
                  <a:cubicBezTo>
                    <a:pt x="33679" y="70577"/>
                    <a:pt x="33679" y="76691"/>
                    <a:pt x="30884" y="81699"/>
                  </a:cubicBezTo>
                  <a:lnTo>
                    <a:pt x="1130" y="134861"/>
                  </a:lnTo>
                  <a:cubicBezTo>
                    <a:pt x="-3296" y="142781"/>
                    <a:pt x="6487" y="151049"/>
                    <a:pt x="13532" y="145284"/>
                  </a:cubicBezTo>
                  <a:lnTo>
                    <a:pt x="93538" y="80010"/>
                  </a:lnTo>
                  <a:cubicBezTo>
                    <a:pt x="97614" y="76691"/>
                    <a:pt x="97614" y="70519"/>
                    <a:pt x="93538" y="67200"/>
                  </a:cubicBezTo>
                  <a:lnTo>
                    <a:pt x="13532" y="1926"/>
                  </a:lnTo>
                  <a:cubicBezTo>
                    <a:pt x="6487" y="-3839"/>
                    <a:pt x="-3354" y="4430"/>
                    <a:pt x="1130" y="123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16442155" y="5620769"/>
              <a:ext cx="132062" cy="16536"/>
            </a:xfrm>
            <a:custGeom>
              <a:rect b="b" l="l" r="r" t="t"/>
              <a:pathLst>
                <a:path extrusionOk="0" h="16536" w="132062">
                  <a:moveTo>
                    <a:pt x="123852" y="16537"/>
                  </a:moveTo>
                  <a:lnTo>
                    <a:pt x="8268" y="16537"/>
                  </a:lnTo>
                  <a:cubicBezTo>
                    <a:pt x="3727" y="16537"/>
                    <a:pt x="0" y="12868"/>
                    <a:pt x="0" y="8268"/>
                  </a:cubicBezTo>
                  <a:cubicBezTo>
                    <a:pt x="0" y="3668"/>
                    <a:pt x="3668" y="0"/>
                    <a:pt x="8268" y="0"/>
                  </a:cubicBezTo>
                  <a:lnTo>
                    <a:pt x="123794" y="0"/>
                  </a:lnTo>
                  <a:cubicBezTo>
                    <a:pt x="128336" y="0"/>
                    <a:pt x="132062" y="3668"/>
                    <a:pt x="132062" y="8268"/>
                  </a:cubicBezTo>
                  <a:cubicBezTo>
                    <a:pt x="132062" y="12868"/>
                    <a:pt x="128394" y="16537"/>
                    <a:pt x="123794" y="165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16458692" y="5587754"/>
              <a:ext cx="132062" cy="16536"/>
            </a:xfrm>
            <a:custGeom>
              <a:rect b="b" l="l" r="r" t="t"/>
              <a:pathLst>
                <a:path extrusionOk="0" h="16536" w="132062">
                  <a:moveTo>
                    <a:pt x="123794" y="16537"/>
                  </a:moveTo>
                  <a:lnTo>
                    <a:pt x="8268" y="16537"/>
                  </a:lnTo>
                  <a:cubicBezTo>
                    <a:pt x="3727" y="16537"/>
                    <a:pt x="0" y="12869"/>
                    <a:pt x="0" y="8269"/>
                  </a:cubicBezTo>
                  <a:cubicBezTo>
                    <a:pt x="0" y="3668"/>
                    <a:pt x="3668" y="0"/>
                    <a:pt x="8268" y="0"/>
                  </a:cubicBezTo>
                  <a:lnTo>
                    <a:pt x="123794" y="0"/>
                  </a:lnTo>
                  <a:cubicBezTo>
                    <a:pt x="128336" y="0"/>
                    <a:pt x="132062" y="3668"/>
                    <a:pt x="132062" y="8269"/>
                  </a:cubicBezTo>
                  <a:cubicBezTo>
                    <a:pt x="132062" y="12869"/>
                    <a:pt x="128394" y="16537"/>
                    <a:pt x="123794" y="165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16442155" y="5554738"/>
              <a:ext cx="132062" cy="16536"/>
            </a:xfrm>
            <a:custGeom>
              <a:rect b="b" l="l" r="r" t="t"/>
              <a:pathLst>
                <a:path extrusionOk="0" h="16536" w="132062">
                  <a:moveTo>
                    <a:pt x="123852" y="16537"/>
                  </a:moveTo>
                  <a:lnTo>
                    <a:pt x="8268" y="16537"/>
                  </a:lnTo>
                  <a:cubicBezTo>
                    <a:pt x="3727" y="16537"/>
                    <a:pt x="0" y="12868"/>
                    <a:pt x="0" y="8268"/>
                  </a:cubicBezTo>
                  <a:cubicBezTo>
                    <a:pt x="0" y="3668"/>
                    <a:pt x="3668" y="0"/>
                    <a:pt x="8268" y="0"/>
                  </a:cubicBezTo>
                  <a:lnTo>
                    <a:pt x="123794" y="0"/>
                  </a:lnTo>
                  <a:cubicBezTo>
                    <a:pt x="128336" y="0"/>
                    <a:pt x="132062" y="3668"/>
                    <a:pt x="132062" y="8268"/>
                  </a:cubicBezTo>
                  <a:cubicBezTo>
                    <a:pt x="132062" y="12868"/>
                    <a:pt x="128394" y="16537"/>
                    <a:pt x="123794" y="165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33"/>
          <p:cNvGrpSpPr/>
          <p:nvPr/>
        </p:nvGrpSpPr>
        <p:grpSpPr>
          <a:xfrm>
            <a:off x="1256622" y="7635906"/>
            <a:ext cx="528131" cy="409269"/>
            <a:chOff x="16367914" y="3371130"/>
            <a:chExt cx="528131" cy="409269"/>
          </a:xfrm>
        </p:grpSpPr>
        <p:sp>
          <p:nvSpPr>
            <p:cNvPr id="547" name="Google Shape;547;p33"/>
            <p:cNvSpPr/>
            <p:nvPr/>
          </p:nvSpPr>
          <p:spPr>
            <a:xfrm>
              <a:off x="16367914" y="3450244"/>
              <a:ext cx="495174" cy="330155"/>
            </a:xfrm>
            <a:custGeom>
              <a:rect b="b" l="l" r="r" t="t"/>
              <a:pathLst>
                <a:path extrusionOk="0" h="330155" w="495174">
                  <a:moveTo>
                    <a:pt x="330097" y="198093"/>
                  </a:moveTo>
                  <a:lnTo>
                    <a:pt x="330097" y="132062"/>
                  </a:lnTo>
                  <a:cubicBezTo>
                    <a:pt x="330097" y="113837"/>
                    <a:pt x="344887" y="99047"/>
                    <a:pt x="363113" y="99047"/>
                  </a:cubicBezTo>
                  <a:lnTo>
                    <a:pt x="495175" y="99047"/>
                  </a:lnTo>
                  <a:lnTo>
                    <a:pt x="495175" y="33016"/>
                  </a:lnTo>
                  <a:cubicBezTo>
                    <a:pt x="495175" y="14790"/>
                    <a:pt x="480385" y="0"/>
                    <a:pt x="462159" y="0"/>
                  </a:cubicBezTo>
                  <a:lnTo>
                    <a:pt x="33016" y="0"/>
                  </a:lnTo>
                  <a:cubicBezTo>
                    <a:pt x="14790" y="58"/>
                    <a:pt x="0" y="14848"/>
                    <a:pt x="0" y="33074"/>
                  </a:cubicBezTo>
                  <a:lnTo>
                    <a:pt x="0" y="297140"/>
                  </a:lnTo>
                  <a:cubicBezTo>
                    <a:pt x="0" y="315365"/>
                    <a:pt x="14790" y="330156"/>
                    <a:pt x="33016" y="330156"/>
                  </a:cubicBezTo>
                  <a:lnTo>
                    <a:pt x="462159" y="330156"/>
                  </a:lnTo>
                  <a:cubicBezTo>
                    <a:pt x="480385" y="330156"/>
                    <a:pt x="495175" y="315365"/>
                    <a:pt x="495175" y="297140"/>
                  </a:cubicBezTo>
                  <a:lnTo>
                    <a:pt x="495175" y="231109"/>
                  </a:lnTo>
                  <a:lnTo>
                    <a:pt x="363113" y="231109"/>
                  </a:lnTo>
                  <a:cubicBezTo>
                    <a:pt x="344887" y="231109"/>
                    <a:pt x="330097" y="216319"/>
                    <a:pt x="330097" y="198093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16714489" y="3566060"/>
              <a:ext cx="181556" cy="98814"/>
            </a:xfrm>
            <a:custGeom>
              <a:rect b="b" l="l" r="r" t="t"/>
              <a:pathLst>
                <a:path extrusionOk="0" h="98814" w="181556">
                  <a:moveTo>
                    <a:pt x="58" y="16421"/>
                  </a:moveTo>
                  <a:lnTo>
                    <a:pt x="58" y="82335"/>
                  </a:lnTo>
                  <a:cubicBezTo>
                    <a:pt x="58" y="91477"/>
                    <a:pt x="7453" y="98814"/>
                    <a:pt x="16537" y="98814"/>
                  </a:cubicBezTo>
                  <a:lnTo>
                    <a:pt x="165078" y="98814"/>
                  </a:lnTo>
                  <a:cubicBezTo>
                    <a:pt x="174220" y="98814"/>
                    <a:pt x="181556" y="91419"/>
                    <a:pt x="181556" y="82335"/>
                  </a:cubicBezTo>
                  <a:lnTo>
                    <a:pt x="181556" y="17644"/>
                  </a:lnTo>
                  <a:cubicBezTo>
                    <a:pt x="181556" y="8560"/>
                    <a:pt x="174220" y="1223"/>
                    <a:pt x="165194" y="1165"/>
                  </a:cubicBezTo>
                  <a:lnTo>
                    <a:pt x="16653" y="0"/>
                  </a:lnTo>
                  <a:cubicBezTo>
                    <a:pt x="7511" y="-58"/>
                    <a:pt x="0" y="7337"/>
                    <a:pt x="0" y="16479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16747563" y="3598902"/>
              <a:ext cx="32957" cy="32957"/>
            </a:xfrm>
            <a:custGeom>
              <a:rect b="b" l="l" r="r" t="t"/>
              <a:pathLst>
                <a:path extrusionOk="0" h="32957" w="32957">
                  <a:moveTo>
                    <a:pt x="16479" y="32957"/>
                  </a:moveTo>
                  <a:cubicBezTo>
                    <a:pt x="7337" y="32957"/>
                    <a:pt x="0" y="25562"/>
                    <a:pt x="0" y="16479"/>
                  </a:cubicBezTo>
                  <a:cubicBezTo>
                    <a:pt x="0" y="7395"/>
                    <a:pt x="7395" y="0"/>
                    <a:pt x="16479" y="0"/>
                  </a:cubicBezTo>
                  <a:cubicBezTo>
                    <a:pt x="25562" y="0"/>
                    <a:pt x="32957" y="7395"/>
                    <a:pt x="32957" y="16479"/>
                  </a:cubicBezTo>
                  <a:cubicBezTo>
                    <a:pt x="32957" y="25562"/>
                    <a:pt x="25562" y="32957"/>
                    <a:pt x="16479" y="329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16524665" y="3371130"/>
              <a:ext cx="293005" cy="62635"/>
            </a:xfrm>
            <a:custGeom>
              <a:rect b="b" l="l" r="r" t="t"/>
              <a:pathLst>
                <a:path extrusionOk="0" h="62635" w="293005">
                  <a:moveTo>
                    <a:pt x="292947" y="62635"/>
                  </a:moveTo>
                  <a:lnTo>
                    <a:pt x="281069" y="12675"/>
                  </a:lnTo>
                  <a:cubicBezTo>
                    <a:pt x="278973" y="3824"/>
                    <a:pt x="270064" y="-1649"/>
                    <a:pt x="261213" y="447"/>
                  </a:cubicBezTo>
                  <a:lnTo>
                    <a:pt x="0" y="62635"/>
                  </a:lnTo>
                  <a:lnTo>
                    <a:pt x="293006" y="62635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16467077" y="3516275"/>
              <a:ext cx="148427" cy="197860"/>
            </a:xfrm>
            <a:custGeom>
              <a:rect b="b" l="l" r="r" t="t"/>
              <a:pathLst>
                <a:path extrusionOk="0" h="197860" w="148427">
                  <a:moveTo>
                    <a:pt x="98930" y="99047"/>
                  </a:moveTo>
                  <a:cubicBezTo>
                    <a:pt x="127346" y="99047"/>
                    <a:pt x="150288" y="74998"/>
                    <a:pt x="148308" y="46117"/>
                  </a:cubicBezTo>
                  <a:cubicBezTo>
                    <a:pt x="146561" y="19856"/>
                    <a:pt x="123503" y="0"/>
                    <a:pt x="97183" y="0"/>
                  </a:cubicBezTo>
                  <a:lnTo>
                    <a:pt x="49436" y="0"/>
                  </a:lnTo>
                  <a:cubicBezTo>
                    <a:pt x="40294" y="0"/>
                    <a:pt x="32957" y="7395"/>
                    <a:pt x="32957" y="16479"/>
                  </a:cubicBezTo>
                  <a:lnTo>
                    <a:pt x="32957" y="65973"/>
                  </a:lnTo>
                  <a:lnTo>
                    <a:pt x="16479" y="65973"/>
                  </a:lnTo>
                  <a:cubicBezTo>
                    <a:pt x="7337" y="65973"/>
                    <a:pt x="0" y="73368"/>
                    <a:pt x="0" y="82452"/>
                  </a:cubicBezTo>
                  <a:lnTo>
                    <a:pt x="0" y="98930"/>
                  </a:lnTo>
                  <a:lnTo>
                    <a:pt x="33016" y="98930"/>
                  </a:lnTo>
                  <a:lnTo>
                    <a:pt x="33016" y="115409"/>
                  </a:lnTo>
                  <a:lnTo>
                    <a:pt x="16537" y="115409"/>
                  </a:lnTo>
                  <a:cubicBezTo>
                    <a:pt x="7395" y="115409"/>
                    <a:pt x="58" y="122804"/>
                    <a:pt x="58" y="131888"/>
                  </a:cubicBezTo>
                  <a:lnTo>
                    <a:pt x="58" y="148366"/>
                  </a:lnTo>
                  <a:lnTo>
                    <a:pt x="33074" y="148366"/>
                  </a:lnTo>
                  <a:lnTo>
                    <a:pt x="33074" y="197860"/>
                  </a:lnTo>
                  <a:lnTo>
                    <a:pt x="49552" y="197860"/>
                  </a:lnTo>
                  <a:cubicBezTo>
                    <a:pt x="58694" y="197860"/>
                    <a:pt x="66031" y="190465"/>
                    <a:pt x="66031" y="181382"/>
                  </a:cubicBezTo>
                  <a:lnTo>
                    <a:pt x="66031" y="148366"/>
                  </a:lnTo>
                  <a:lnTo>
                    <a:pt x="115525" y="148366"/>
                  </a:lnTo>
                  <a:cubicBezTo>
                    <a:pt x="124667" y="148366"/>
                    <a:pt x="132004" y="140971"/>
                    <a:pt x="132004" y="131888"/>
                  </a:cubicBezTo>
                  <a:lnTo>
                    <a:pt x="132004" y="115409"/>
                  </a:lnTo>
                  <a:lnTo>
                    <a:pt x="65973" y="115409"/>
                  </a:lnTo>
                  <a:lnTo>
                    <a:pt x="65973" y="98930"/>
                  </a:lnTo>
                  <a:lnTo>
                    <a:pt x="98988" y="98930"/>
                  </a:lnTo>
                  <a:close/>
                  <a:moveTo>
                    <a:pt x="65915" y="33074"/>
                  </a:moveTo>
                  <a:lnTo>
                    <a:pt x="98930" y="33074"/>
                  </a:lnTo>
                  <a:cubicBezTo>
                    <a:pt x="108014" y="33074"/>
                    <a:pt x="115409" y="40469"/>
                    <a:pt x="115409" y="49552"/>
                  </a:cubicBezTo>
                  <a:cubicBezTo>
                    <a:pt x="115409" y="58636"/>
                    <a:pt x="108014" y="66031"/>
                    <a:pt x="98930" y="66031"/>
                  </a:cubicBezTo>
                  <a:lnTo>
                    <a:pt x="65915" y="66031"/>
                  </a:lnTo>
                  <a:lnTo>
                    <a:pt x="65915" y="330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p33"/>
          <p:cNvGrpSpPr/>
          <p:nvPr/>
        </p:nvGrpSpPr>
        <p:grpSpPr>
          <a:xfrm>
            <a:off x="8894339" y="1547763"/>
            <a:ext cx="528132" cy="396128"/>
            <a:chOff x="16367914" y="3879446"/>
            <a:chExt cx="528132" cy="396128"/>
          </a:xfrm>
        </p:grpSpPr>
        <p:sp>
          <p:nvSpPr>
            <p:cNvPr id="553" name="Google Shape;553;p33"/>
            <p:cNvSpPr/>
            <p:nvPr/>
          </p:nvSpPr>
          <p:spPr>
            <a:xfrm>
              <a:off x="16367914" y="4126274"/>
              <a:ext cx="528132" cy="132763"/>
            </a:xfrm>
            <a:custGeom>
              <a:rect b="b" l="l" r="r" t="t"/>
              <a:pathLst>
                <a:path extrusionOk="0" h="132763" w="528132">
                  <a:moveTo>
                    <a:pt x="0" y="116285"/>
                  </a:moveTo>
                  <a:lnTo>
                    <a:pt x="0" y="116285"/>
                  </a:lnTo>
                  <a:cubicBezTo>
                    <a:pt x="0" y="125427"/>
                    <a:pt x="7395" y="132764"/>
                    <a:pt x="16479" y="132764"/>
                  </a:cubicBezTo>
                  <a:lnTo>
                    <a:pt x="65973" y="132764"/>
                  </a:lnTo>
                  <a:lnTo>
                    <a:pt x="65973" y="116285"/>
                  </a:lnTo>
                  <a:cubicBezTo>
                    <a:pt x="65973" y="78844"/>
                    <a:pt x="76396" y="43849"/>
                    <a:pt x="94505" y="13977"/>
                  </a:cubicBezTo>
                  <a:lnTo>
                    <a:pt x="85421" y="4894"/>
                  </a:lnTo>
                  <a:cubicBezTo>
                    <a:pt x="80181" y="-347"/>
                    <a:pt x="71970" y="-1570"/>
                    <a:pt x="65565" y="2157"/>
                  </a:cubicBezTo>
                  <a:cubicBezTo>
                    <a:pt x="26377" y="25041"/>
                    <a:pt x="0" y="67606"/>
                    <a:pt x="0" y="116285"/>
                  </a:cubicBezTo>
                  <a:close/>
                  <a:moveTo>
                    <a:pt x="442711" y="4894"/>
                  </a:moveTo>
                  <a:lnTo>
                    <a:pt x="433627" y="13977"/>
                  </a:lnTo>
                  <a:cubicBezTo>
                    <a:pt x="451736" y="43849"/>
                    <a:pt x="462159" y="78902"/>
                    <a:pt x="462159" y="116285"/>
                  </a:cubicBezTo>
                  <a:lnTo>
                    <a:pt x="462159" y="132764"/>
                  </a:lnTo>
                  <a:lnTo>
                    <a:pt x="511654" y="132764"/>
                  </a:lnTo>
                  <a:cubicBezTo>
                    <a:pt x="520795" y="132764"/>
                    <a:pt x="528132" y="125368"/>
                    <a:pt x="528132" y="116285"/>
                  </a:cubicBezTo>
                  <a:lnTo>
                    <a:pt x="528132" y="116285"/>
                  </a:lnTo>
                  <a:cubicBezTo>
                    <a:pt x="528132" y="67548"/>
                    <a:pt x="501755" y="25041"/>
                    <a:pt x="462509" y="2157"/>
                  </a:cubicBezTo>
                  <a:cubicBezTo>
                    <a:pt x="456104" y="-1570"/>
                    <a:pt x="447893" y="-347"/>
                    <a:pt x="442653" y="4894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16450481" y="4077271"/>
              <a:ext cx="363112" cy="198303"/>
            </a:xfrm>
            <a:custGeom>
              <a:rect b="b" l="l" r="r" t="t"/>
              <a:pathLst>
                <a:path extrusionOk="0" h="198303" w="363112">
                  <a:moveTo>
                    <a:pt x="241241" y="4868"/>
                  </a:moveTo>
                  <a:lnTo>
                    <a:pt x="193202" y="52907"/>
                  </a:lnTo>
                  <a:cubicBezTo>
                    <a:pt x="186739" y="59370"/>
                    <a:pt x="176316" y="59370"/>
                    <a:pt x="169852" y="52907"/>
                  </a:cubicBezTo>
                  <a:lnTo>
                    <a:pt x="121814" y="4868"/>
                  </a:lnTo>
                  <a:cubicBezTo>
                    <a:pt x="116865" y="-81"/>
                    <a:pt x="109295" y="-1420"/>
                    <a:pt x="103006" y="1608"/>
                  </a:cubicBezTo>
                  <a:cubicBezTo>
                    <a:pt x="42099" y="30896"/>
                    <a:pt x="0" y="93143"/>
                    <a:pt x="0" y="165288"/>
                  </a:cubicBezTo>
                  <a:lnTo>
                    <a:pt x="0" y="165288"/>
                  </a:lnTo>
                  <a:cubicBezTo>
                    <a:pt x="0" y="183513"/>
                    <a:pt x="14790" y="198303"/>
                    <a:pt x="33016" y="198303"/>
                  </a:cubicBezTo>
                  <a:lnTo>
                    <a:pt x="330097" y="198303"/>
                  </a:lnTo>
                  <a:cubicBezTo>
                    <a:pt x="348323" y="198303"/>
                    <a:pt x="363113" y="183513"/>
                    <a:pt x="363113" y="165288"/>
                  </a:cubicBezTo>
                  <a:lnTo>
                    <a:pt x="363113" y="165288"/>
                  </a:lnTo>
                  <a:cubicBezTo>
                    <a:pt x="363113" y="93143"/>
                    <a:pt x="321014" y="30896"/>
                    <a:pt x="260107" y="1608"/>
                  </a:cubicBezTo>
                  <a:cubicBezTo>
                    <a:pt x="253818" y="-1420"/>
                    <a:pt x="246248" y="-81"/>
                    <a:pt x="241299" y="4868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16532933" y="3879446"/>
              <a:ext cx="198093" cy="198093"/>
            </a:xfrm>
            <a:custGeom>
              <a:rect b="b" l="l" r="r" t="t"/>
              <a:pathLst>
                <a:path extrusionOk="0" h="198093" w="198093">
                  <a:moveTo>
                    <a:pt x="198093" y="99047"/>
                  </a:moveTo>
                  <a:cubicBezTo>
                    <a:pt x="198093" y="153749"/>
                    <a:pt x="153749" y="198093"/>
                    <a:pt x="99047" y="198093"/>
                  </a:cubicBezTo>
                  <a:cubicBezTo>
                    <a:pt x="44345" y="198093"/>
                    <a:pt x="0" y="153749"/>
                    <a:pt x="0" y="99047"/>
                  </a:cubicBezTo>
                  <a:cubicBezTo>
                    <a:pt x="0" y="44345"/>
                    <a:pt x="44345" y="0"/>
                    <a:pt x="99047" y="0"/>
                  </a:cubicBezTo>
                  <a:cubicBezTo>
                    <a:pt x="153749" y="0"/>
                    <a:pt x="198093" y="44345"/>
                    <a:pt x="198093" y="99047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16433945" y="3994972"/>
              <a:ext cx="396069" cy="127112"/>
            </a:xfrm>
            <a:custGeom>
              <a:rect b="b" l="l" r="r" t="t"/>
              <a:pathLst>
                <a:path extrusionOk="0" h="127112" w="396069">
                  <a:moveTo>
                    <a:pt x="66031" y="0"/>
                  </a:moveTo>
                  <a:cubicBezTo>
                    <a:pt x="29580" y="0"/>
                    <a:pt x="0" y="29580"/>
                    <a:pt x="0" y="66031"/>
                  </a:cubicBezTo>
                  <a:cubicBezTo>
                    <a:pt x="0" y="93631"/>
                    <a:pt x="16944" y="117272"/>
                    <a:pt x="40993" y="127113"/>
                  </a:cubicBezTo>
                  <a:cubicBezTo>
                    <a:pt x="61023" y="101026"/>
                    <a:pt x="87459" y="80064"/>
                    <a:pt x="117854" y="66555"/>
                  </a:cubicBezTo>
                  <a:cubicBezTo>
                    <a:pt x="100444" y="49727"/>
                    <a:pt x="88391" y="27542"/>
                    <a:pt x="84198" y="2562"/>
                  </a:cubicBezTo>
                  <a:cubicBezTo>
                    <a:pt x="78434" y="873"/>
                    <a:pt x="72320" y="0"/>
                    <a:pt x="65973" y="0"/>
                  </a:cubicBezTo>
                  <a:close/>
                  <a:moveTo>
                    <a:pt x="330097" y="0"/>
                  </a:moveTo>
                  <a:cubicBezTo>
                    <a:pt x="323750" y="0"/>
                    <a:pt x="317695" y="932"/>
                    <a:pt x="311872" y="2562"/>
                  </a:cubicBezTo>
                  <a:cubicBezTo>
                    <a:pt x="307737" y="27484"/>
                    <a:pt x="295626" y="49727"/>
                    <a:pt x="278216" y="66555"/>
                  </a:cubicBezTo>
                  <a:cubicBezTo>
                    <a:pt x="308611" y="80064"/>
                    <a:pt x="334988" y="101026"/>
                    <a:pt x="355077" y="127113"/>
                  </a:cubicBezTo>
                  <a:cubicBezTo>
                    <a:pt x="379126" y="117272"/>
                    <a:pt x="396070" y="93631"/>
                    <a:pt x="396070" y="66031"/>
                  </a:cubicBezTo>
                  <a:cubicBezTo>
                    <a:pt x="396070" y="29580"/>
                    <a:pt x="366490" y="0"/>
                    <a:pt x="330039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p33"/>
          <p:cNvGrpSpPr/>
          <p:nvPr/>
        </p:nvGrpSpPr>
        <p:grpSpPr>
          <a:xfrm>
            <a:off x="8894310" y="3800680"/>
            <a:ext cx="528190" cy="396128"/>
            <a:chOff x="16367914" y="5942656"/>
            <a:chExt cx="528190" cy="396128"/>
          </a:xfrm>
        </p:grpSpPr>
        <p:sp>
          <p:nvSpPr>
            <p:cNvPr id="558" name="Google Shape;558;p33"/>
            <p:cNvSpPr/>
            <p:nvPr/>
          </p:nvSpPr>
          <p:spPr>
            <a:xfrm>
              <a:off x="16367914" y="5942656"/>
              <a:ext cx="528190" cy="379649"/>
            </a:xfrm>
            <a:custGeom>
              <a:rect b="b" l="l" r="r" t="t"/>
              <a:pathLst>
                <a:path extrusionOk="0" h="379649" w="528190">
                  <a:moveTo>
                    <a:pt x="478696" y="0"/>
                  </a:moveTo>
                  <a:cubicBezTo>
                    <a:pt x="506031" y="0"/>
                    <a:pt x="528190" y="22159"/>
                    <a:pt x="528190" y="49494"/>
                  </a:cubicBezTo>
                  <a:lnTo>
                    <a:pt x="528190" y="330155"/>
                  </a:lnTo>
                  <a:cubicBezTo>
                    <a:pt x="528190" y="357490"/>
                    <a:pt x="506031" y="379650"/>
                    <a:pt x="478696" y="379650"/>
                  </a:cubicBezTo>
                  <a:lnTo>
                    <a:pt x="49494" y="379650"/>
                  </a:lnTo>
                  <a:cubicBezTo>
                    <a:pt x="22159" y="379650"/>
                    <a:pt x="0" y="357490"/>
                    <a:pt x="0" y="330155"/>
                  </a:cubicBezTo>
                  <a:lnTo>
                    <a:pt x="0" y="49494"/>
                  </a:lnTo>
                  <a:cubicBezTo>
                    <a:pt x="0" y="22159"/>
                    <a:pt x="22159" y="0"/>
                    <a:pt x="49494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16367914" y="5959135"/>
              <a:ext cx="528190" cy="379649"/>
            </a:xfrm>
            <a:custGeom>
              <a:rect b="b" l="l" r="r" t="t"/>
              <a:pathLst>
                <a:path extrusionOk="0" h="379649" w="528190">
                  <a:moveTo>
                    <a:pt x="478696" y="0"/>
                  </a:moveTo>
                  <a:cubicBezTo>
                    <a:pt x="506031" y="0"/>
                    <a:pt x="528190" y="22159"/>
                    <a:pt x="528190" y="49494"/>
                  </a:cubicBezTo>
                  <a:lnTo>
                    <a:pt x="528190" y="330156"/>
                  </a:lnTo>
                  <a:cubicBezTo>
                    <a:pt x="528190" y="357490"/>
                    <a:pt x="506031" y="379650"/>
                    <a:pt x="478696" y="379650"/>
                  </a:cubicBezTo>
                  <a:lnTo>
                    <a:pt x="49494" y="379650"/>
                  </a:lnTo>
                  <a:cubicBezTo>
                    <a:pt x="22159" y="379650"/>
                    <a:pt x="0" y="357490"/>
                    <a:pt x="0" y="330156"/>
                  </a:cubicBezTo>
                  <a:lnTo>
                    <a:pt x="0" y="49494"/>
                  </a:lnTo>
                  <a:cubicBezTo>
                    <a:pt x="0" y="22159"/>
                    <a:pt x="22159" y="0"/>
                    <a:pt x="49494" y="0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16400929" y="5992150"/>
              <a:ext cx="198093" cy="49494"/>
            </a:xfrm>
            <a:custGeom>
              <a:rect b="b" l="l" r="r" t="t"/>
              <a:pathLst>
                <a:path extrusionOk="0" h="49494" w="198093">
                  <a:moveTo>
                    <a:pt x="181615" y="0"/>
                  </a:moveTo>
                  <a:cubicBezTo>
                    <a:pt x="190715" y="0"/>
                    <a:pt x="198093" y="7378"/>
                    <a:pt x="198093" y="16479"/>
                  </a:cubicBezTo>
                  <a:lnTo>
                    <a:pt x="198093" y="33016"/>
                  </a:lnTo>
                  <a:cubicBezTo>
                    <a:pt x="198093" y="42117"/>
                    <a:pt x="190716" y="49494"/>
                    <a:pt x="181615" y="49494"/>
                  </a:cubicBezTo>
                  <a:lnTo>
                    <a:pt x="16479" y="49494"/>
                  </a:lnTo>
                  <a:cubicBezTo>
                    <a:pt x="7378" y="49494"/>
                    <a:pt x="0" y="42117"/>
                    <a:pt x="0" y="33016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16532991" y="6124213"/>
              <a:ext cx="198093" cy="49494"/>
            </a:xfrm>
            <a:custGeom>
              <a:rect b="b" l="l" r="r" t="t"/>
              <a:pathLst>
                <a:path extrusionOk="0" h="49494" w="198093">
                  <a:moveTo>
                    <a:pt x="181615" y="0"/>
                  </a:moveTo>
                  <a:cubicBezTo>
                    <a:pt x="190715" y="0"/>
                    <a:pt x="198093" y="7378"/>
                    <a:pt x="198093" y="16479"/>
                  </a:cubicBezTo>
                  <a:lnTo>
                    <a:pt x="198093" y="33016"/>
                  </a:lnTo>
                  <a:cubicBezTo>
                    <a:pt x="198093" y="42117"/>
                    <a:pt x="190716" y="49495"/>
                    <a:pt x="181615" y="49495"/>
                  </a:cubicBezTo>
                  <a:lnTo>
                    <a:pt x="16479" y="49495"/>
                  </a:lnTo>
                  <a:cubicBezTo>
                    <a:pt x="7378" y="49495"/>
                    <a:pt x="0" y="42117"/>
                    <a:pt x="0" y="33016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16664995" y="6256275"/>
              <a:ext cx="198093" cy="49494"/>
            </a:xfrm>
            <a:custGeom>
              <a:rect b="b" l="l" r="r" t="t"/>
              <a:pathLst>
                <a:path extrusionOk="0" h="49494" w="198093">
                  <a:moveTo>
                    <a:pt x="181615" y="0"/>
                  </a:moveTo>
                  <a:cubicBezTo>
                    <a:pt x="190715" y="0"/>
                    <a:pt x="198093" y="7378"/>
                    <a:pt x="198093" y="16479"/>
                  </a:cubicBezTo>
                  <a:lnTo>
                    <a:pt x="198093" y="33016"/>
                  </a:lnTo>
                  <a:cubicBezTo>
                    <a:pt x="198093" y="42117"/>
                    <a:pt x="190715" y="49495"/>
                    <a:pt x="181615" y="49495"/>
                  </a:cubicBezTo>
                  <a:lnTo>
                    <a:pt x="16479" y="49495"/>
                  </a:lnTo>
                  <a:cubicBezTo>
                    <a:pt x="7378" y="49495"/>
                    <a:pt x="0" y="42117"/>
                    <a:pt x="0" y="33016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16450423" y="6008687"/>
              <a:ext cx="231108" cy="148424"/>
            </a:xfrm>
            <a:custGeom>
              <a:rect b="b" l="l" r="r" t="t"/>
              <a:pathLst>
                <a:path extrusionOk="0" h="148424" w="231108">
                  <a:moveTo>
                    <a:pt x="165078" y="0"/>
                  </a:moveTo>
                  <a:lnTo>
                    <a:pt x="165078" y="16479"/>
                  </a:lnTo>
                  <a:lnTo>
                    <a:pt x="198093" y="16479"/>
                  </a:lnTo>
                  <a:cubicBezTo>
                    <a:pt x="207235" y="16479"/>
                    <a:pt x="214572" y="23874"/>
                    <a:pt x="214572" y="32957"/>
                  </a:cubicBezTo>
                  <a:lnTo>
                    <a:pt x="214572" y="49436"/>
                  </a:lnTo>
                  <a:cubicBezTo>
                    <a:pt x="214572" y="58578"/>
                    <a:pt x="207177" y="65915"/>
                    <a:pt x="198093" y="65915"/>
                  </a:cubicBezTo>
                  <a:lnTo>
                    <a:pt x="33016" y="65915"/>
                  </a:lnTo>
                  <a:cubicBezTo>
                    <a:pt x="14790" y="65915"/>
                    <a:pt x="0" y="80705"/>
                    <a:pt x="0" y="98930"/>
                  </a:cubicBezTo>
                  <a:lnTo>
                    <a:pt x="0" y="115409"/>
                  </a:lnTo>
                  <a:cubicBezTo>
                    <a:pt x="0" y="133634"/>
                    <a:pt x="14790" y="148424"/>
                    <a:pt x="33016" y="148424"/>
                  </a:cubicBezTo>
                  <a:lnTo>
                    <a:pt x="66031" y="148424"/>
                  </a:lnTo>
                  <a:lnTo>
                    <a:pt x="66031" y="131946"/>
                  </a:lnTo>
                  <a:lnTo>
                    <a:pt x="33016" y="131946"/>
                  </a:lnTo>
                  <a:cubicBezTo>
                    <a:pt x="23874" y="131946"/>
                    <a:pt x="16537" y="124551"/>
                    <a:pt x="16537" y="115467"/>
                  </a:cubicBezTo>
                  <a:lnTo>
                    <a:pt x="16537" y="98988"/>
                  </a:lnTo>
                  <a:cubicBezTo>
                    <a:pt x="16537" y="89847"/>
                    <a:pt x="23932" y="82510"/>
                    <a:pt x="33016" y="82510"/>
                  </a:cubicBezTo>
                  <a:lnTo>
                    <a:pt x="198093" y="82510"/>
                  </a:lnTo>
                  <a:cubicBezTo>
                    <a:pt x="216319" y="82510"/>
                    <a:pt x="231109" y="67720"/>
                    <a:pt x="231109" y="49494"/>
                  </a:cubicBezTo>
                  <a:lnTo>
                    <a:pt x="231109" y="33015"/>
                  </a:lnTo>
                  <a:cubicBezTo>
                    <a:pt x="231109" y="14790"/>
                    <a:pt x="216319" y="0"/>
                    <a:pt x="198093" y="0"/>
                  </a:cubicBezTo>
                  <a:lnTo>
                    <a:pt x="1650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16582485" y="6140749"/>
              <a:ext cx="231108" cy="148424"/>
            </a:xfrm>
            <a:custGeom>
              <a:rect b="b" l="l" r="r" t="t"/>
              <a:pathLst>
                <a:path extrusionOk="0" h="148424" w="231108">
                  <a:moveTo>
                    <a:pt x="165078" y="0"/>
                  </a:moveTo>
                  <a:lnTo>
                    <a:pt x="165078" y="16479"/>
                  </a:lnTo>
                  <a:lnTo>
                    <a:pt x="198093" y="16479"/>
                  </a:lnTo>
                  <a:cubicBezTo>
                    <a:pt x="207235" y="16479"/>
                    <a:pt x="214572" y="23874"/>
                    <a:pt x="214572" y="32958"/>
                  </a:cubicBezTo>
                  <a:lnTo>
                    <a:pt x="214572" y="49436"/>
                  </a:lnTo>
                  <a:cubicBezTo>
                    <a:pt x="214572" y="58578"/>
                    <a:pt x="207177" y="65915"/>
                    <a:pt x="198093" y="65915"/>
                  </a:cubicBezTo>
                  <a:lnTo>
                    <a:pt x="33016" y="65915"/>
                  </a:lnTo>
                  <a:cubicBezTo>
                    <a:pt x="14790" y="65915"/>
                    <a:pt x="0" y="80705"/>
                    <a:pt x="0" y="98930"/>
                  </a:cubicBezTo>
                  <a:lnTo>
                    <a:pt x="0" y="115409"/>
                  </a:lnTo>
                  <a:cubicBezTo>
                    <a:pt x="0" y="133634"/>
                    <a:pt x="14790" y="148424"/>
                    <a:pt x="33016" y="148424"/>
                  </a:cubicBezTo>
                  <a:lnTo>
                    <a:pt x="66031" y="148424"/>
                  </a:lnTo>
                  <a:lnTo>
                    <a:pt x="66031" y="131946"/>
                  </a:lnTo>
                  <a:lnTo>
                    <a:pt x="33016" y="131946"/>
                  </a:lnTo>
                  <a:cubicBezTo>
                    <a:pt x="23874" y="131946"/>
                    <a:pt x="16537" y="124551"/>
                    <a:pt x="16537" y="115467"/>
                  </a:cubicBezTo>
                  <a:lnTo>
                    <a:pt x="16537" y="98988"/>
                  </a:lnTo>
                  <a:cubicBezTo>
                    <a:pt x="16537" y="89847"/>
                    <a:pt x="23932" y="82510"/>
                    <a:pt x="33016" y="82510"/>
                  </a:cubicBezTo>
                  <a:lnTo>
                    <a:pt x="198093" y="82510"/>
                  </a:lnTo>
                  <a:cubicBezTo>
                    <a:pt x="216319" y="82510"/>
                    <a:pt x="231109" y="67720"/>
                    <a:pt x="231109" y="49494"/>
                  </a:cubicBezTo>
                  <a:lnTo>
                    <a:pt x="231109" y="33015"/>
                  </a:lnTo>
                  <a:cubicBezTo>
                    <a:pt x="231109" y="14790"/>
                    <a:pt x="216319" y="0"/>
                    <a:pt x="198093" y="0"/>
                  </a:cubicBezTo>
                  <a:lnTo>
                    <a:pt x="1650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p33"/>
          <p:cNvGrpSpPr/>
          <p:nvPr/>
        </p:nvGrpSpPr>
        <p:grpSpPr>
          <a:xfrm>
            <a:off x="8894339" y="7642972"/>
            <a:ext cx="528132" cy="396128"/>
            <a:chOff x="16367914" y="4374621"/>
            <a:chExt cx="528132" cy="396128"/>
          </a:xfrm>
        </p:grpSpPr>
        <p:sp>
          <p:nvSpPr>
            <p:cNvPr id="566" name="Google Shape;566;p33"/>
            <p:cNvSpPr/>
            <p:nvPr/>
          </p:nvSpPr>
          <p:spPr>
            <a:xfrm>
              <a:off x="16367914" y="4374621"/>
              <a:ext cx="528132" cy="396128"/>
            </a:xfrm>
            <a:custGeom>
              <a:rect b="b" l="l" r="r" t="t"/>
              <a:pathLst>
                <a:path extrusionOk="0" h="396128" w="528132">
                  <a:moveTo>
                    <a:pt x="511654" y="132062"/>
                  </a:moveTo>
                  <a:lnTo>
                    <a:pt x="495175" y="132062"/>
                  </a:lnTo>
                  <a:lnTo>
                    <a:pt x="495175" y="66031"/>
                  </a:lnTo>
                  <a:cubicBezTo>
                    <a:pt x="495175" y="29638"/>
                    <a:pt x="465537" y="0"/>
                    <a:pt x="429144" y="0"/>
                  </a:cubicBezTo>
                  <a:lnTo>
                    <a:pt x="66031" y="0"/>
                  </a:lnTo>
                  <a:cubicBezTo>
                    <a:pt x="29638" y="0"/>
                    <a:pt x="0" y="29638"/>
                    <a:pt x="0" y="66031"/>
                  </a:cubicBezTo>
                  <a:lnTo>
                    <a:pt x="0" y="330097"/>
                  </a:lnTo>
                  <a:cubicBezTo>
                    <a:pt x="0" y="366490"/>
                    <a:pt x="29638" y="396128"/>
                    <a:pt x="66031" y="396128"/>
                  </a:cubicBezTo>
                  <a:lnTo>
                    <a:pt x="429144" y="396128"/>
                  </a:lnTo>
                  <a:cubicBezTo>
                    <a:pt x="465537" y="396128"/>
                    <a:pt x="495175" y="366490"/>
                    <a:pt x="495175" y="330097"/>
                  </a:cubicBezTo>
                  <a:lnTo>
                    <a:pt x="495175" y="264066"/>
                  </a:lnTo>
                  <a:lnTo>
                    <a:pt x="511654" y="264066"/>
                  </a:lnTo>
                  <a:cubicBezTo>
                    <a:pt x="520795" y="264066"/>
                    <a:pt x="528132" y="256671"/>
                    <a:pt x="528132" y="247588"/>
                  </a:cubicBezTo>
                  <a:lnTo>
                    <a:pt x="528132" y="148541"/>
                  </a:lnTo>
                  <a:cubicBezTo>
                    <a:pt x="528132" y="139399"/>
                    <a:pt x="520737" y="132062"/>
                    <a:pt x="511654" y="132062"/>
                  </a:cubicBezTo>
                  <a:close/>
                  <a:moveTo>
                    <a:pt x="462159" y="330097"/>
                  </a:moveTo>
                  <a:cubicBezTo>
                    <a:pt x="462159" y="348323"/>
                    <a:pt x="447369" y="363113"/>
                    <a:pt x="429144" y="363113"/>
                  </a:cubicBezTo>
                  <a:lnTo>
                    <a:pt x="66031" y="363113"/>
                  </a:lnTo>
                  <a:cubicBezTo>
                    <a:pt x="47806" y="363113"/>
                    <a:pt x="33016" y="348323"/>
                    <a:pt x="33016" y="330097"/>
                  </a:cubicBezTo>
                  <a:lnTo>
                    <a:pt x="33016" y="66031"/>
                  </a:lnTo>
                  <a:cubicBezTo>
                    <a:pt x="33016" y="47806"/>
                    <a:pt x="47806" y="33016"/>
                    <a:pt x="66031" y="33016"/>
                  </a:cubicBezTo>
                  <a:lnTo>
                    <a:pt x="429144" y="33016"/>
                  </a:lnTo>
                  <a:cubicBezTo>
                    <a:pt x="447369" y="33016"/>
                    <a:pt x="462159" y="47806"/>
                    <a:pt x="462159" y="66031"/>
                  </a:cubicBezTo>
                  <a:lnTo>
                    <a:pt x="462159" y="330097"/>
                  </a:ln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6417408" y="4424116"/>
              <a:ext cx="297081" cy="297081"/>
            </a:xfrm>
            <a:custGeom>
              <a:rect b="b" l="l" r="r" t="t"/>
              <a:pathLst>
                <a:path extrusionOk="0" h="297081" w="297081">
                  <a:moveTo>
                    <a:pt x="280603" y="0"/>
                  </a:moveTo>
                  <a:cubicBezTo>
                    <a:pt x="289704" y="0"/>
                    <a:pt x="297082" y="7378"/>
                    <a:pt x="297082" y="16479"/>
                  </a:cubicBezTo>
                  <a:lnTo>
                    <a:pt x="297082" y="280603"/>
                  </a:lnTo>
                  <a:cubicBezTo>
                    <a:pt x="297082" y="289704"/>
                    <a:pt x="289704" y="297081"/>
                    <a:pt x="280603" y="297081"/>
                  </a:cubicBezTo>
                  <a:lnTo>
                    <a:pt x="16479" y="297081"/>
                  </a:lnTo>
                  <a:cubicBezTo>
                    <a:pt x="7378" y="297081"/>
                    <a:pt x="0" y="289704"/>
                    <a:pt x="0" y="280603"/>
                  </a:cubicBezTo>
                  <a:lnTo>
                    <a:pt x="0" y="16479"/>
                  </a:lnTo>
                  <a:cubicBezTo>
                    <a:pt x="0" y="7378"/>
                    <a:pt x="7378" y="0"/>
                    <a:pt x="16479" y="0"/>
                  </a:cubicBez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16499976" y="4440652"/>
              <a:ext cx="132003" cy="264066"/>
            </a:xfrm>
            <a:custGeom>
              <a:rect b="b" l="l" r="r" t="t"/>
              <a:pathLst>
                <a:path extrusionOk="0" h="264066" w="132003">
                  <a:moveTo>
                    <a:pt x="99047" y="0"/>
                  </a:moveTo>
                  <a:lnTo>
                    <a:pt x="0" y="148541"/>
                  </a:lnTo>
                  <a:lnTo>
                    <a:pt x="66031" y="148541"/>
                  </a:lnTo>
                  <a:lnTo>
                    <a:pt x="33016" y="264066"/>
                  </a:lnTo>
                  <a:lnTo>
                    <a:pt x="132004" y="115525"/>
                  </a:lnTo>
                  <a:lnTo>
                    <a:pt x="66031" y="115525"/>
                  </a:lnTo>
                  <a:lnTo>
                    <a:pt x="990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33"/>
          <p:cNvGrpSpPr/>
          <p:nvPr/>
        </p:nvGrpSpPr>
        <p:grpSpPr>
          <a:xfrm>
            <a:off x="8897521" y="6034350"/>
            <a:ext cx="521768" cy="396128"/>
            <a:chOff x="16367914" y="6437831"/>
            <a:chExt cx="521768" cy="396128"/>
          </a:xfrm>
        </p:grpSpPr>
        <p:sp>
          <p:nvSpPr>
            <p:cNvPr id="570" name="Google Shape;570;p33"/>
            <p:cNvSpPr/>
            <p:nvPr/>
          </p:nvSpPr>
          <p:spPr>
            <a:xfrm>
              <a:off x="16367914" y="6487383"/>
              <a:ext cx="462159" cy="278565"/>
            </a:xfrm>
            <a:custGeom>
              <a:rect b="b" l="l" r="r" t="t"/>
              <a:pathLst>
                <a:path extrusionOk="0" h="278565" w="462159">
                  <a:moveTo>
                    <a:pt x="20555" y="196288"/>
                  </a:moveTo>
                  <a:cubicBezTo>
                    <a:pt x="25155" y="177888"/>
                    <a:pt x="41633" y="165020"/>
                    <a:pt x="60616" y="165020"/>
                  </a:cubicBezTo>
                  <a:lnTo>
                    <a:pt x="200946" y="165020"/>
                  </a:lnTo>
                  <a:cubicBezTo>
                    <a:pt x="205372" y="165020"/>
                    <a:pt x="209506" y="163273"/>
                    <a:pt x="212592" y="160187"/>
                  </a:cubicBezTo>
                  <a:lnTo>
                    <a:pt x="226276" y="146503"/>
                  </a:lnTo>
                  <a:cubicBezTo>
                    <a:pt x="235651" y="137128"/>
                    <a:pt x="248053" y="132004"/>
                    <a:pt x="261271" y="132004"/>
                  </a:cubicBezTo>
                  <a:lnTo>
                    <a:pt x="462159" y="132004"/>
                  </a:lnTo>
                  <a:lnTo>
                    <a:pt x="462159" y="49495"/>
                  </a:lnTo>
                  <a:cubicBezTo>
                    <a:pt x="462159" y="40353"/>
                    <a:pt x="454764" y="33016"/>
                    <a:pt x="445681" y="33016"/>
                  </a:cubicBezTo>
                  <a:lnTo>
                    <a:pt x="181556" y="33016"/>
                  </a:lnTo>
                  <a:lnTo>
                    <a:pt x="148541" y="0"/>
                  </a:lnTo>
                  <a:lnTo>
                    <a:pt x="16479" y="0"/>
                  </a:lnTo>
                  <a:cubicBezTo>
                    <a:pt x="7395" y="-58"/>
                    <a:pt x="0" y="7337"/>
                    <a:pt x="0" y="16479"/>
                  </a:cubicBezTo>
                  <a:lnTo>
                    <a:pt x="0" y="278565"/>
                  </a:lnTo>
                  <a:lnTo>
                    <a:pt x="20555" y="196288"/>
                  </a:ln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16483497" y="6437831"/>
              <a:ext cx="230992" cy="214571"/>
            </a:xfrm>
            <a:custGeom>
              <a:rect b="b" l="l" r="r" t="t"/>
              <a:pathLst>
                <a:path extrusionOk="0" h="214571" w="230992">
                  <a:moveTo>
                    <a:pt x="85305" y="214572"/>
                  </a:moveTo>
                  <a:cubicBezTo>
                    <a:pt x="89730" y="214572"/>
                    <a:pt x="93864" y="212825"/>
                    <a:pt x="96950" y="209739"/>
                  </a:cubicBezTo>
                  <a:lnTo>
                    <a:pt x="110634" y="196055"/>
                  </a:lnTo>
                  <a:cubicBezTo>
                    <a:pt x="120009" y="186680"/>
                    <a:pt x="132412" y="181556"/>
                    <a:pt x="145629" y="181556"/>
                  </a:cubicBezTo>
                  <a:lnTo>
                    <a:pt x="230992" y="181556"/>
                  </a:lnTo>
                  <a:lnTo>
                    <a:pt x="230992" y="16479"/>
                  </a:lnTo>
                  <a:cubicBezTo>
                    <a:pt x="230992" y="7337"/>
                    <a:pt x="223597" y="0"/>
                    <a:pt x="214514" y="0"/>
                  </a:cubicBezTo>
                  <a:lnTo>
                    <a:pt x="16479" y="0"/>
                  </a:lnTo>
                  <a:cubicBezTo>
                    <a:pt x="7337" y="0"/>
                    <a:pt x="0" y="7395"/>
                    <a:pt x="0" y="16479"/>
                  </a:cubicBezTo>
                  <a:lnTo>
                    <a:pt x="0" y="214572"/>
                  </a:lnTo>
                  <a:lnTo>
                    <a:pt x="85363" y="214572"/>
                  </a:lnTo>
                  <a:close/>
                </a:path>
              </a:pathLst>
            </a:custGeom>
            <a:solidFill>
              <a:srgbClr val="0082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16372533" y="6635866"/>
              <a:ext cx="517149" cy="198093"/>
            </a:xfrm>
            <a:custGeom>
              <a:rect b="b" l="l" r="r" t="t"/>
              <a:pathLst>
                <a:path extrusionOk="0" h="198093" w="517149">
                  <a:moveTo>
                    <a:pt x="233302" y="9724"/>
                  </a:moveTo>
                  <a:lnTo>
                    <a:pt x="219618" y="23408"/>
                  </a:lnTo>
                  <a:cubicBezTo>
                    <a:pt x="213446" y="29580"/>
                    <a:pt x="205003" y="33074"/>
                    <a:pt x="196269" y="33074"/>
                  </a:cubicBezTo>
                  <a:lnTo>
                    <a:pt x="55996" y="33074"/>
                  </a:lnTo>
                  <a:cubicBezTo>
                    <a:pt x="44642" y="33074"/>
                    <a:pt x="34743" y="40818"/>
                    <a:pt x="31948" y="51823"/>
                  </a:cubicBezTo>
                  <a:lnTo>
                    <a:pt x="505" y="177597"/>
                  </a:lnTo>
                  <a:cubicBezTo>
                    <a:pt x="-2116" y="188020"/>
                    <a:pt x="5803" y="198093"/>
                    <a:pt x="16517" y="198093"/>
                  </a:cubicBezTo>
                  <a:lnTo>
                    <a:pt x="433724" y="198093"/>
                  </a:lnTo>
                  <a:cubicBezTo>
                    <a:pt x="447932" y="198093"/>
                    <a:pt x="460568" y="189009"/>
                    <a:pt x="465051" y="175500"/>
                  </a:cubicBezTo>
                  <a:lnTo>
                    <a:pt x="516292" y="21719"/>
                  </a:lnTo>
                  <a:cubicBezTo>
                    <a:pt x="519844" y="11005"/>
                    <a:pt x="511925" y="0"/>
                    <a:pt x="500629" y="0"/>
                  </a:cubicBezTo>
                  <a:lnTo>
                    <a:pt x="256593" y="0"/>
                  </a:lnTo>
                  <a:cubicBezTo>
                    <a:pt x="247859" y="0"/>
                    <a:pt x="239416" y="3494"/>
                    <a:pt x="233244" y="9666"/>
                  </a:cubicBezTo>
                  <a:close/>
                </a:path>
              </a:pathLst>
            </a:custGeom>
            <a:solidFill>
              <a:srgbClr val="2240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16532991" y="6487325"/>
              <a:ext cx="132062" cy="16478"/>
            </a:xfrm>
            <a:custGeom>
              <a:rect b="b" l="l" r="r" t="t"/>
              <a:pathLst>
                <a:path extrusionOk="0" h="16478" w="132062">
                  <a:moveTo>
                    <a:pt x="124260" y="0"/>
                  </a:moveTo>
                  <a:cubicBezTo>
                    <a:pt x="128569" y="0"/>
                    <a:pt x="132062" y="3493"/>
                    <a:pt x="132062" y="7803"/>
                  </a:cubicBezTo>
                  <a:lnTo>
                    <a:pt x="132062" y="8676"/>
                  </a:lnTo>
                  <a:cubicBezTo>
                    <a:pt x="132062" y="12986"/>
                    <a:pt x="128569" y="16479"/>
                    <a:pt x="124260" y="16479"/>
                  </a:cubicBezTo>
                  <a:lnTo>
                    <a:pt x="7803" y="16479"/>
                  </a:lnTo>
                  <a:cubicBezTo>
                    <a:pt x="3493" y="16479"/>
                    <a:pt x="0" y="12986"/>
                    <a:pt x="0" y="8676"/>
                  </a:cubicBezTo>
                  <a:lnTo>
                    <a:pt x="0" y="7803"/>
                  </a:lnTo>
                  <a:cubicBezTo>
                    <a:pt x="0" y="3494"/>
                    <a:pt x="3493" y="0"/>
                    <a:pt x="7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16532991" y="6520341"/>
              <a:ext cx="132062" cy="16478"/>
            </a:xfrm>
            <a:custGeom>
              <a:rect b="b" l="l" r="r" t="t"/>
              <a:pathLst>
                <a:path extrusionOk="0" h="16478" w="132062">
                  <a:moveTo>
                    <a:pt x="124260" y="0"/>
                  </a:moveTo>
                  <a:cubicBezTo>
                    <a:pt x="128569" y="0"/>
                    <a:pt x="132062" y="3493"/>
                    <a:pt x="132062" y="7803"/>
                  </a:cubicBezTo>
                  <a:lnTo>
                    <a:pt x="132062" y="8676"/>
                  </a:lnTo>
                  <a:cubicBezTo>
                    <a:pt x="132062" y="12986"/>
                    <a:pt x="128569" y="16479"/>
                    <a:pt x="124260" y="16479"/>
                  </a:cubicBezTo>
                  <a:lnTo>
                    <a:pt x="7803" y="16479"/>
                  </a:lnTo>
                  <a:cubicBezTo>
                    <a:pt x="3493" y="16479"/>
                    <a:pt x="0" y="12986"/>
                    <a:pt x="0" y="8676"/>
                  </a:cubicBezTo>
                  <a:lnTo>
                    <a:pt x="0" y="7803"/>
                  </a:lnTo>
                  <a:cubicBezTo>
                    <a:pt x="0" y="3494"/>
                    <a:pt x="3493" y="0"/>
                    <a:pt x="7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6532991" y="6553356"/>
              <a:ext cx="132062" cy="16478"/>
            </a:xfrm>
            <a:custGeom>
              <a:rect b="b" l="l" r="r" t="t"/>
              <a:pathLst>
                <a:path extrusionOk="0" h="16478" w="132062">
                  <a:moveTo>
                    <a:pt x="124260" y="0"/>
                  </a:moveTo>
                  <a:cubicBezTo>
                    <a:pt x="128569" y="0"/>
                    <a:pt x="132062" y="3493"/>
                    <a:pt x="132062" y="7803"/>
                  </a:cubicBezTo>
                  <a:lnTo>
                    <a:pt x="132062" y="8676"/>
                  </a:lnTo>
                  <a:cubicBezTo>
                    <a:pt x="132062" y="12985"/>
                    <a:pt x="128569" y="16479"/>
                    <a:pt x="124260" y="16479"/>
                  </a:cubicBezTo>
                  <a:lnTo>
                    <a:pt x="7803" y="16479"/>
                  </a:lnTo>
                  <a:cubicBezTo>
                    <a:pt x="3493" y="16479"/>
                    <a:pt x="0" y="12986"/>
                    <a:pt x="0" y="8676"/>
                  </a:cubicBezTo>
                  <a:lnTo>
                    <a:pt x="0" y="7803"/>
                  </a:lnTo>
                  <a:cubicBezTo>
                    <a:pt x="0" y="3493"/>
                    <a:pt x="3493" y="0"/>
                    <a:pt x="7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16532991" y="6586372"/>
              <a:ext cx="132062" cy="16478"/>
            </a:xfrm>
            <a:custGeom>
              <a:rect b="b" l="l" r="r" t="t"/>
              <a:pathLst>
                <a:path extrusionOk="0" h="16478" w="132062">
                  <a:moveTo>
                    <a:pt x="124260" y="0"/>
                  </a:moveTo>
                  <a:cubicBezTo>
                    <a:pt x="128569" y="0"/>
                    <a:pt x="132062" y="3493"/>
                    <a:pt x="132062" y="7803"/>
                  </a:cubicBezTo>
                  <a:lnTo>
                    <a:pt x="132062" y="8676"/>
                  </a:lnTo>
                  <a:cubicBezTo>
                    <a:pt x="132062" y="12986"/>
                    <a:pt x="128569" y="16479"/>
                    <a:pt x="124260" y="16479"/>
                  </a:cubicBezTo>
                  <a:lnTo>
                    <a:pt x="7803" y="16479"/>
                  </a:lnTo>
                  <a:cubicBezTo>
                    <a:pt x="3493" y="16479"/>
                    <a:pt x="0" y="12986"/>
                    <a:pt x="0" y="8676"/>
                  </a:cubicBezTo>
                  <a:lnTo>
                    <a:pt x="0" y="7803"/>
                  </a:lnTo>
                  <a:cubicBezTo>
                    <a:pt x="0" y="3494"/>
                    <a:pt x="3493" y="0"/>
                    <a:pt x="7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51"/>
                <a:buFont typeface="Calibri"/>
                <a:buNone/>
              </a:pPr>
              <a:r>
                <a:t/>
              </a:r>
              <a:endParaRPr b="0" i="0" spc="0" sz="255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/>
          <p:nvPr/>
        </p:nvSpPr>
        <p:spPr>
          <a:xfrm>
            <a:off x="1334434" y="1627510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8729970" y="1663699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12420011" y="1633132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5024475" y="1663699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334434" y="3888056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8729970" y="3924245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12420011" y="3893678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5024475" y="3924245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1334434" y="6148602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4"/>
          <p:cNvSpPr/>
          <p:nvPr/>
        </p:nvSpPr>
        <p:spPr>
          <a:xfrm>
            <a:off x="8729970" y="6184791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4"/>
          <p:cNvSpPr/>
          <p:nvPr/>
        </p:nvSpPr>
        <p:spPr>
          <a:xfrm>
            <a:off x="12420011" y="6154224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5024475" y="6184791"/>
            <a:ext cx="3525493" cy="2134793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1334434" y="8460171"/>
            <a:ext cx="14611072" cy="720008"/>
          </a:xfrm>
          <a:prstGeom prst="roundRect">
            <a:avLst>
              <a:gd fmla="val 13899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1673382" y="3218850"/>
            <a:ext cx="2891393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РАБОТА В БРАУЗЕРЕ</a:t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5394126" y="3218850"/>
            <a:ext cx="2880232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МОБИЛЬНЫЕ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ПРИЛОЖЕНИЯ</a:t>
            </a:r>
            <a:endParaRPr/>
          </a:p>
        </p:txBody>
      </p:sp>
      <p:sp>
        <p:nvSpPr>
          <p:cNvPr id="596" name="Google Shape;596;p34"/>
          <p:cNvSpPr txBox="1"/>
          <p:nvPr/>
        </p:nvSpPr>
        <p:spPr>
          <a:xfrm>
            <a:off x="1655408" y="5490138"/>
            <a:ext cx="2891395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ВИЗУАЛЬНЫЙ РЕДАКТОР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БИЗНЕС-ПРОЦЕССОВ</a:t>
            </a:r>
            <a:endParaRPr/>
          </a:p>
        </p:txBody>
      </p:sp>
      <p:sp>
        <p:nvSpPr>
          <p:cNvPr id="597" name="Google Shape;597;p34"/>
          <p:cNvSpPr txBox="1"/>
          <p:nvPr/>
        </p:nvSpPr>
        <p:spPr>
          <a:xfrm>
            <a:off x="12386733" y="3218850"/>
            <a:ext cx="3547533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ОТКРЫТЫЙ КОД И ИНСТРУМЕНТЫ РАЗРАБОТЧИКА</a:t>
            </a:r>
            <a:endParaRPr/>
          </a:p>
        </p:txBody>
      </p:sp>
      <p:sp>
        <p:nvSpPr>
          <p:cNvPr id="598" name="Google Shape;598;p34"/>
          <p:cNvSpPr txBox="1"/>
          <p:nvPr/>
        </p:nvSpPr>
        <p:spPr>
          <a:xfrm>
            <a:off x="5388546" y="5490138"/>
            <a:ext cx="2891395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ОПОВЕЩЕНИЯ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ПО E-MAIL, SMS И ОНЛАЙН</a:t>
            </a:r>
            <a:endParaRPr/>
          </a:p>
        </p:txBody>
      </p:sp>
      <p:sp>
        <p:nvSpPr>
          <p:cNvPr id="599" name="Google Shape;599;p34"/>
          <p:cNvSpPr txBox="1"/>
          <p:nvPr/>
        </p:nvSpPr>
        <p:spPr>
          <a:xfrm>
            <a:off x="8999998" y="3218850"/>
            <a:ext cx="2891393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ИНТЕГРАЦИЯ С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ДРУГИМИ СИСТЕМАМИ</a:t>
            </a:r>
            <a:endParaRPr/>
          </a:p>
        </p:txBody>
      </p:sp>
      <p:sp>
        <p:nvSpPr>
          <p:cNvPr id="600" name="Google Shape;600;p34"/>
          <p:cNvSpPr/>
          <p:nvPr/>
        </p:nvSpPr>
        <p:spPr>
          <a:xfrm>
            <a:off x="1334432" y="8459601"/>
            <a:ext cx="14611072" cy="732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Платформа системы содержит мощный набор сервисов, востребованных у корпоративных заказчиков</a:t>
            </a:r>
            <a:endParaRPr/>
          </a:p>
        </p:txBody>
      </p:sp>
      <p:sp>
        <p:nvSpPr>
          <p:cNvPr id="601" name="Google Shape;601;p34"/>
          <p:cNvSpPr txBox="1"/>
          <p:nvPr/>
        </p:nvSpPr>
        <p:spPr>
          <a:xfrm>
            <a:off x="12748861" y="5490138"/>
            <a:ext cx="2891395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ПРОЕКТНЫЕ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ИЗМЕНЕНИЯ</a:t>
            </a:r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8987847" y="5490138"/>
            <a:ext cx="2891392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АУДИТ ДЕЙСТВИЙ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ПОЛЬЗОВАТЕЛЯ</a:t>
            </a:r>
            <a:endParaRPr/>
          </a:p>
        </p:txBody>
      </p:sp>
      <p:sp>
        <p:nvSpPr>
          <p:cNvPr id="603" name="Google Shape;603;p34"/>
          <p:cNvSpPr txBox="1"/>
          <p:nvPr/>
        </p:nvSpPr>
        <p:spPr>
          <a:xfrm>
            <a:off x="1655408" y="7758315"/>
            <a:ext cx="2891395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УПРАВЛЕНИЕ ДОСТУПОМ</a:t>
            </a:r>
            <a:endParaRPr/>
          </a:p>
        </p:txBody>
      </p:sp>
      <p:sp>
        <p:nvSpPr>
          <p:cNvPr id="604" name="Google Shape;604;p34"/>
          <p:cNvSpPr txBox="1"/>
          <p:nvPr/>
        </p:nvSpPr>
        <p:spPr>
          <a:xfrm>
            <a:off x="4978400" y="7758315"/>
            <a:ext cx="3589867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МАШИННОЕ ОБУЧЕНИЕ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ИСКУССТВЕННЫЙ ИНТЕЛЛЕКТ</a:t>
            </a:r>
            <a:endParaRPr/>
          </a:p>
        </p:txBody>
      </p:sp>
      <p:sp>
        <p:nvSpPr>
          <p:cNvPr id="605" name="Google Shape;605;p34"/>
          <p:cNvSpPr txBox="1"/>
          <p:nvPr/>
        </p:nvSpPr>
        <p:spPr>
          <a:xfrm>
            <a:off x="12748861" y="7758315"/>
            <a:ext cx="2891395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ЭЛЕКТРОННАЯ ПОДПИСЬ</a:t>
            </a:r>
            <a:endParaRPr/>
          </a:p>
        </p:txBody>
      </p:sp>
      <p:sp>
        <p:nvSpPr>
          <p:cNvPr id="606" name="Google Shape;606;p34"/>
          <p:cNvSpPr txBox="1"/>
          <p:nvPr/>
        </p:nvSpPr>
        <p:spPr>
          <a:xfrm>
            <a:off x="8987847" y="7758315"/>
            <a:ext cx="2891392" cy="561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СРЕДСТВА МОНИТОРИНГА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РАБОТЫ СИСТЕМЫ</a:t>
            </a:r>
            <a:endParaRPr/>
          </a:p>
        </p:txBody>
      </p:sp>
      <p:pic>
        <p:nvPicPr>
          <p:cNvPr id="607" name="Google Shape;6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900" y="1865393"/>
            <a:ext cx="1242910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5766" y="1865393"/>
            <a:ext cx="1242910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3125" y="1865393"/>
            <a:ext cx="1242910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65017" y="1865393"/>
            <a:ext cx="1104809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8638" y="4267247"/>
            <a:ext cx="1277435" cy="966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5766" y="4129146"/>
            <a:ext cx="1242910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34067" y="4129146"/>
            <a:ext cx="966708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35900" y="6384020"/>
            <a:ext cx="1242910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65766" y="6392652"/>
            <a:ext cx="1242910" cy="1225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03125" y="6401283"/>
            <a:ext cx="1242910" cy="120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734067" y="6384020"/>
            <a:ext cx="966708" cy="124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937650" y="4267247"/>
            <a:ext cx="1173860" cy="966708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4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800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sz="2800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grpSp>
        <p:nvGrpSpPr>
          <p:cNvPr id="620" name="Google Shape;620;p34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621" name="Google Shape;621;p34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2" name="Google Shape;622;p3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3" name="Google Shape;623;p34"/>
            <p:cNvPicPr preferRelativeResize="0"/>
            <p:nvPr/>
          </p:nvPicPr>
          <p:blipFill rotWithShape="1">
            <a:blip r:embed="rId16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4" name="Google Shape;624;p3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4"/>
          <p:cNvSpPr txBox="1"/>
          <p:nvPr/>
        </p:nvSpPr>
        <p:spPr>
          <a:xfrm>
            <a:off x="1439170" y="0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Платформенные сервисы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"/>
          <p:cNvSpPr/>
          <p:nvPr/>
        </p:nvSpPr>
        <p:spPr>
          <a:xfrm>
            <a:off x="0" y="-1"/>
            <a:ext cx="17279938" cy="9720263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0686" y="-684485"/>
            <a:ext cx="18181310" cy="1087320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5"/>
          <p:cNvSpPr/>
          <p:nvPr/>
        </p:nvSpPr>
        <p:spPr>
          <a:xfrm>
            <a:off x="720125" y="4572099"/>
            <a:ext cx="15839690" cy="432048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5"/>
          <p:cNvSpPr/>
          <p:nvPr/>
        </p:nvSpPr>
        <p:spPr>
          <a:xfrm>
            <a:off x="11304178" y="6154766"/>
            <a:ext cx="5255636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global@global-system.ru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по вопросам приобретения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support@global-system.ru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по вопросам поддержки</a:t>
            </a:r>
            <a:endParaRPr/>
          </a:p>
        </p:txBody>
      </p:sp>
      <p:cxnSp>
        <p:nvCxnSpPr>
          <p:cNvPr id="634" name="Google Shape;634;p35"/>
          <p:cNvCxnSpPr/>
          <p:nvPr/>
        </p:nvCxnSpPr>
        <p:spPr>
          <a:xfrm>
            <a:off x="5975755" y="4572099"/>
            <a:ext cx="0" cy="432048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35" name="Google Shape;635;p35"/>
          <p:cNvCxnSpPr/>
          <p:nvPr/>
        </p:nvCxnSpPr>
        <p:spPr>
          <a:xfrm>
            <a:off x="11304183" y="4572099"/>
            <a:ext cx="0" cy="432048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6" name="Google Shape;636;p35"/>
          <p:cNvSpPr/>
          <p:nvPr/>
        </p:nvSpPr>
        <p:spPr>
          <a:xfrm>
            <a:off x="5975752" y="6154766"/>
            <a:ext cx="5328426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8(800) 505-08-35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бесплатный звонок из России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+7(812) 633-07-33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город Санкт-Петербург</a:t>
            </a:r>
            <a:endParaRPr/>
          </a:p>
        </p:txBody>
      </p:sp>
      <p:pic>
        <p:nvPicPr>
          <p:cNvPr id="637" name="Google Shape;63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9973" y="5148144"/>
            <a:ext cx="539984" cy="53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62004" y="5304140"/>
            <a:ext cx="539984" cy="38398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5"/>
          <p:cNvSpPr/>
          <p:nvPr/>
        </p:nvSpPr>
        <p:spPr>
          <a:xfrm>
            <a:off x="720124" y="6154766"/>
            <a:ext cx="5255628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global-system.ru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о Системе Global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global-eam.ru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о Системе Global-EAM</a:t>
            </a:r>
            <a:b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для ТОиР</a:t>
            </a:r>
            <a:endParaRPr/>
          </a:p>
        </p:txBody>
      </p:sp>
      <p:pic>
        <p:nvPicPr>
          <p:cNvPr id="640" name="Google Shape;64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77946" y="5200824"/>
            <a:ext cx="539984" cy="48730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5"/>
          <p:cNvSpPr txBox="1"/>
          <p:nvPr/>
        </p:nvSpPr>
        <p:spPr>
          <a:xfrm>
            <a:off x="720124" y="2476332"/>
            <a:ext cx="158396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Российская ERP-система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 бизнес-приложения для цифровизации бизнеса</a:t>
            </a:r>
            <a:endParaRPr/>
          </a:p>
        </p:txBody>
      </p:sp>
      <p:pic>
        <p:nvPicPr>
          <p:cNvPr id="642" name="Google Shape;64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3860" y="1306582"/>
            <a:ext cx="4532218" cy="689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